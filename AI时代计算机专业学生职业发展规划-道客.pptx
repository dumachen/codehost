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32"/>
  </p:notesMasterIdLst>
  <p:sldIdLst>
    <p:sldId id="256" r:id="rId3"/>
    <p:sldId id="286" r:id="rId4"/>
    <p:sldId id="258" r:id="rId5"/>
    <p:sldId id="298" r:id="rId6"/>
    <p:sldId id="262" r:id="rId7"/>
    <p:sldId id="287" r:id="rId8"/>
    <p:sldId id="289" r:id="rId9"/>
    <p:sldId id="260" r:id="rId10"/>
    <p:sldId id="288" r:id="rId11"/>
    <p:sldId id="264" r:id="rId12"/>
    <p:sldId id="261" r:id="rId13"/>
    <p:sldId id="299" r:id="rId14"/>
    <p:sldId id="303" r:id="rId15"/>
    <p:sldId id="292" r:id="rId16"/>
    <p:sldId id="300" r:id="rId17"/>
    <p:sldId id="259" r:id="rId18"/>
    <p:sldId id="293" r:id="rId19"/>
    <p:sldId id="294" r:id="rId20"/>
    <p:sldId id="305" r:id="rId21"/>
    <p:sldId id="295" r:id="rId22"/>
    <p:sldId id="263" r:id="rId23"/>
    <p:sldId id="301" r:id="rId24"/>
    <p:sldId id="296" r:id="rId25"/>
    <p:sldId id="265" r:id="rId26"/>
    <p:sldId id="266" r:id="rId27"/>
    <p:sldId id="297" r:id="rId28"/>
    <p:sldId id="268" r:id="rId29"/>
    <p:sldId id="304" r:id="rId30"/>
    <p:sldId id="285" r:id="rId3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15"/>
    <p:restoredTop sz="81467"/>
  </p:normalViewPr>
  <p:slideViewPr>
    <p:cSldViewPr snapToGrid="0">
      <p:cViewPr varScale="1">
        <p:scale>
          <a:sx n="88" d="100"/>
          <a:sy n="88" d="100"/>
        </p:scale>
        <p:origin x="1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ECC0E6-269C-FE4C-AF1E-FB5CAB7108E6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B9D6BB2-E5AA-0B45-8793-D04135A78E10}">
      <dgm:prSet/>
      <dgm:spPr/>
      <dgm:t>
        <a:bodyPr/>
        <a:lstStyle/>
        <a:p>
          <a:r>
            <a:rPr lang="zh-CN" dirty="0"/>
            <a:t>趋势判断</a:t>
          </a:r>
        </a:p>
      </dgm:t>
    </dgm:pt>
    <dgm:pt modelId="{714E5204-807D-4549-9908-97C47CDD4F0A}" type="parTrans" cxnId="{48E7A6BF-1F41-204D-9E0A-E1F4DC5EC041}">
      <dgm:prSet/>
      <dgm:spPr/>
      <dgm:t>
        <a:bodyPr/>
        <a:lstStyle/>
        <a:p>
          <a:endParaRPr lang="zh-CN" altLang="en-US"/>
        </a:p>
      </dgm:t>
    </dgm:pt>
    <dgm:pt modelId="{769A9A90-D146-7F4F-9EC1-975324FAA5EE}" type="sibTrans" cxnId="{48E7A6BF-1F41-204D-9E0A-E1F4DC5EC041}">
      <dgm:prSet/>
      <dgm:spPr/>
      <dgm:t>
        <a:bodyPr/>
        <a:lstStyle/>
        <a:p>
          <a:endParaRPr lang="zh-CN" altLang="en-US"/>
        </a:p>
      </dgm:t>
    </dgm:pt>
    <dgm:pt modelId="{D3F09AC9-6291-FF43-9A91-AF2E252320CF}">
      <dgm:prSet/>
      <dgm:spPr/>
      <dgm:t>
        <a:bodyPr/>
        <a:lstStyle/>
        <a:p>
          <a:r>
            <a:rPr lang="zh-CN" dirty="0"/>
            <a:t>方向选择  </a:t>
          </a:r>
          <a:endParaRPr lang="zh-CN" altLang="en-US" dirty="0"/>
        </a:p>
      </dgm:t>
    </dgm:pt>
    <dgm:pt modelId="{051AF1A1-1CD4-004F-A0E2-739E52CB52BC}" type="parTrans" cxnId="{F1560968-90EB-A348-99B2-CE8D2B3F9BD8}">
      <dgm:prSet/>
      <dgm:spPr/>
      <dgm:t>
        <a:bodyPr/>
        <a:lstStyle/>
        <a:p>
          <a:endParaRPr lang="zh-CN" altLang="en-US"/>
        </a:p>
      </dgm:t>
    </dgm:pt>
    <dgm:pt modelId="{32A45F34-9421-D641-A75C-B0D85F58D9B3}" type="sibTrans" cxnId="{F1560968-90EB-A348-99B2-CE8D2B3F9BD8}">
      <dgm:prSet/>
      <dgm:spPr/>
      <dgm:t>
        <a:bodyPr/>
        <a:lstStyle/>
        <a:p>
          <a:endParaRPr lang="zh-CN" altLang="en-US"/>
        </a:p>
      </dgm:t>
    </dgm:pt>
    <dgm:pt modelId="{C6BB8251-829F-BC41-886D-442085FAF733}">
      <dgm:prSet/>
      <dgm:spPr/>
      <dgm:t>
        <a:bodyPr/>
        <a:lstStyle/>
        <a:p>
          <a:r>
            <a:rPr lang="zh-CN" dirty="0"/>
            <a:t>实践验证</a:t>
          </a:r>
          <a:endParaRPr lang="zh-CN" altLang="en-US" dirty="0"/>
        </a:p>
      </dgm:t>
    </dgm:pt>
    <dgm:pt modelId="{234D9504-FC5C-0146-BE2E-1EEECE5162ED}" type="parTrans" cxnId="{C7686E73-1700-7B43-8502-EBBCD611FD74}">
      <dgm:prSet/>
      <dgm:spPr/>
      <dgm:t>
        <a:bodyPr/>
        <a:lstStyle/>
        <a:p>
          <a:endParaRPr lang="zh-CN" altLang="en-US"/>
        </a:p>
      </dgm:t>
    </dgm:pt>
    <dgm:pt modelId="{37412D4D-F50C-9B41-BE80-002C4FA3FB17}" type="sibTrans" cxnId="{C7686E73-1700-7B43-8502-EBBCD611FD74}">
      <dgm:prSet/>
      <dgm:spPr/>
      <dgm:t>
        <a:bodyPr/>
        <a:lstStyle/>
        <a:p>
          <a:endParaRPr lang="zh-CN" altLang="en-US"/>
        </a:p>
      </dgm:t>
    </dgm:pt>
    <dgm:pt modelId="{09EBA2AD-3A5E-7240-B9F4-E6FCB4AAE1E1}">
      <dgm:prSet/>
      <dgm:spPr/>
      <dgm:t>
        <a:bodyPr/>
        <a:lstStyle/>
        <a:p>
          <a:r>
            <a:rPr lang="zh-CN" dirty="0"/>
            <a:t>调整与成长</a:t>
          </a:r>
          <a:endParaRPr lang="zh-CN" altLang="en-US" dirty="0"/>
        </a:p>
      </dgm:t>
    </dgm:pt>
    <dgm:pt modelId="{F2D4C602-ADF5-654A-97B9-9BB665690836}" type="parTrans" cxnId="{47677630-06D9-9747-9800-DC12773F2D35}">
      <dgm:prSet/>
      <dgm:spPr/>
      <dgm:t>
        <a:bodyPr/>
        <a:lstStyle/>
        <a:p>
          <a:endParaRPr lang="zh-CN" altLang="en-US"/>
        </a:p>
      </dgm:t>
    </dgm:pt>
    <dgm:pt modelId="{7C9EEB65-EE5A-7F42-9F71-D8BDEC46B551}" type="sibTrans" cxnId="{47677630-06D9-9747-9800-DC12773F2D35}">
      <dgm:prSet/>
      <dgm:spPr/>
      <dgm:t>
        <a:bodyPr/>
        <a:lstStyle/>
        <a:p>
          <a:endParaRPr lang="zh-CN" altLang="en-US"/>
        </a:p>
      </dgm:t>
    </dgm:pt>
    <dgm:pt modelId="{A787CCE2-EBBF-C649-9565-BD0A2849D924}">
      <dgm:prSet/>
      <dgm:spPr/>
      <dgm:t>
        <a:bodyPr/>
        <a:lstStyle/>
        <a:p>
          <a:r>
            <a:rPr lang="zh-CN" dirty="0"/>
            <a:t>能力建设</a:t>
          </a:r>
          <a:endParaRPr lang="zh-CN" altLang="en-US" dirty="0"/>
        </a:p>
      </dgm:t>
    </dgm:pt>
    <dgm:pt modelId="{A0B0B415-6E1D-0D4A-81F2-CCAFF293326F}" type="parTrans" cxnId="{7808AEC0-9047-F04A-BE79-6FBE27BC43FC}">
      <dgm:prSet/>
      <dgm:spPr/>
      <dgm:t>
        <a:bodyPr/>
        <a:lstStyle/>
        <a:p>
          <a:endParaRPr lang="zh-CN" altLang="en-US"/>
        </a:p>
      </dgm:t>
    </dgm:pt>
    <dgm:pt modelId="{FEE8F769-44D3-6942-920D-68AE1F0FA01C}" type="sibTrans" cxnId="{7808AEC0-9047-F04A-BE79-6FBE27BC43FC}">
      <dgm:prSet/>
      <dgm:spPr/>
      <dgm:t>
        <a:bodyPr/>
        <a:lstStyle/>
        <a:p>
          <a:endParaRPr lang="zh-CN" altLang="en-US"/>
        </a:p>
      </dgm:t>
    </dgm:pt>
    <dgm:pt modelId="{FDDEE134-8898-C74D-9247-67CB82B12086}" type="pres">
      <dgm:prSet presAssocID="{8CECC0E6-269C-FE4C-AF1E-FB5CAB7108E6}" presName="cycle" presStyleCnt="0">
        <dgm:presLayoutVars>
          <dgm:dir/>
          <dgm:resizeHandles val="exact"/>
        </dgm:presLayoutVars>
      </dgm:prSet>
      <dgm:spPr/>
    </dgm:pt>
    <dgm:pt modelId="{4A5E0EFE-84F4-F74F-9CB0-4740562F6689}" type="pres">
      <dgm:prSet presAssocID="{5B9D6BB2-E5AA-0B45-8793-D04135A78E10}" presName="node" presStyleLbl="node1" presStyleIdx="0" presStyleCnt="5">
        <dgm:presLayoutVars>
          <dgm:bulletEnabled val="1"/>
        </dgm:presLayoutVars>
      </dgm:prSet>
      <dgm:spPr/>
    </dgm:pt>
    <dgm:pt modelId="{726CB93B-C611-9544-9AAA-5861FECE7ED9}" type="pres">
      <dgm:prSet presAssocID="{5B9D6BB2-E5AA-0B45-8793-D04135A78E10}" presName="spNode" presStyleCnt="0"/>
      <dgm:spPr/>
    </dgm:pt>
    <dgm:pt modelId="{42D5AD64-AAB5-8E4D-8181-CDB08CFA1DA3}" type="pres">
      <dgm:prSet presAssocID="{769A9A90-D146-7F4F-9EC1-975324FAA5EE}" presName="sibTrans" presStyleLbl="sibTrans1D1" presStyleIdx="0" presStyleCnt="5"/>
      <dgm:spPr/>
    </dgm:pt>
    <dgm:pt modelId="{F3CE140E-046F-C640-B134-764BBCA976B3}" type="pres">
      <dgm:prSet presAssocID="{D3F09AC9-6291-FF43-9A91-AF2E252320CF}" presName="node" presStyleLbl="node1" presStyleIdx="1" presStyleCnt="5">
        <dgm:presLayoutVars>
          <dgm:bulletEnabled val="1"/>
        </dgm:presLayoutVars>
      </dgm:prSet>
      <dgm:spPr/>
    </dgm:pt>
    <dgm:pt modelId="{8082A499-3B73-2D48-8777-59549730C035}" type="pres">
      <dgm:prSet presAssocID="{D3F09AC9-6291-FF43-9A91-AF2E252320CF}" presName="spNode" presStyleCnt="0"/>
      <dgm:spPr/>
    </dgm:pt>
    <dgm:pt modelId="{30331160-B041-7848-9504-D3B850B7916A}" type="pres">
      <dgm:prSet presAssocID="{32A45F34-9421-D641-A75C-B0D85F58D9B3}" presName="sibTrans" presStyleLbl="sibTrans1D1" presStyleIdx="1" presStyleCnt="5"/>
      <dgm:spPr/>
    </dgm:pt>
    <dgm:pt modelId="{69153213-C10A-394B-B82D-9CC3C7B9192B}" type="pres">
      <dgm:prSet presAssocID="{A787CCE2-EBBF-C649-9565-BD0A2849D924}" presName="node" presStyleLbl="node1" presStyleIdx="2" presStyleCnt="5">
        <dgm:presLayoutVars>
          <dgm:bulletEnabled val="1"/>
        </dgm:presLayoutVars>
      </dgm:prSet>
      <dgm:spPr/>
    </dgm:pt>
    <dgm:pt modelId="{DC24CCF6-C900-FD4D-893D-71CB5E42A98E}" type="pres">
      <dgm:prSet presAssocID="{A787CCE2-EBBF-C649-9565-BD0A2849D924}" presName="spNode" presStyleCnt="0"/>
      <dgm:spPr/>
    </dgm:pt>
    <dgm:pt modelId="{1E9105D0-D63D-B645-9D5C-CC6D92DE814A}" type="pres">
      <dgm:prSet presAssocID="{FEE8F769-44D3-6942-920D-68AE1F0FA01C}" presName="sibTrans" presStyleLbl="sibTrans1D1" presStyleIdx="2" presStyleCnt="5"/>
      <dgm:spPr/>
    </dgm:pt>
    <dgm:pt modelId="{BD06DD9B-AEB4-7F44-8A87-AAC27A610ABC}" type="pres">
      <dgm:prSet presAssocID="{C6BB8251-829F-BC41-886D-442085FAF733}" presName="node" presStyleLbl="node1" presStyleIdx="3" presStyleCnt="5">
        <dgm:presLayoutVars>
          <dgm:bulletEnabled val="1"/>
        </dgm:presLayoutVars>
      </dgm:prSet>
      <dgm:spPr/>
    </dgm:pt>
    <dgm:pt modelId="{E19DC164-096C-FF4E-AB3B-ED9CA6A7D875}" type="pres">
      <dgm:prSet presAssocID="{C6BB8251-829F-BC41-886D-442085FAF733}" presName="spNode" presStyleCnt="0"/>
      <dgm:spPr/>
    </dgm:pt>
    <dgm:pt modelId="{B438E578-E742-1044-8ACF-9F58F7BAD777}" type="pres">
      <dgm:prSet presAssocID="{37412D4D-F50C-9B41-BE80-002C4FA3FB17}" presName="sibTrans" presStyleLbl="sibTrans1D1" presStyleIdx="3" presStyleCnt="5"/>
      <dgm:spPr/>
    </dgm:pt>
    <dgm:pt modelId="{F412E33F-37C3-BE42-9222-0799BA80D98B}" type="pres">
      <dgm:prSet presAssocID="{09EBA2AD-3A5E-7240-B9F4-E6FCB4AAE1E1}" presName="node" presStyleLbl="node1" presStyleIdx="4" presStyleCnt="5">
        <dgm:presLayoutVars>
          <dgm:bulletEnabled val="1"/>
        </dgm:presLayoutVars>
      </dgm:prSet>
      <dgm:spPr/>
    </dgm:pt>
    <dgm:pt modelId="{4C6B0441-B158-5A41-B276-AA85ED560647}" type="pres">
      <dgm:prSet presAssocID="{09EBA2AD-3A5E-7240-B9F4-E6FCB4AAE1E1}" presName="spNode" presStyleCnt="0"/>
      <dgm:spPr/>
    </dgm:pt>
    <dgm:pt modelId="{67C2C5C9-4FB4-2042-9ACA-A489B48E5885}" type="pres">
      <dgm:prSet presAssocID="{7C9EEB65-EE5A-7F42-9F71-D8BDEC46B551}" presName="sibTrans" presStyleLbl="sibTrans1D1" presStyleIdx="4" presStyleCnt="5"/>
      <dgm:spPr/>
    </dgm:pt>
  </dgm:ptLst>
  <dgm:cxnLst>
    <dgm:cxn modelId="{515BA62B-7D13-8347-B481-C3FB8C0495BD}" type="presOf" srcId="{8CECC0E6-269C-FE4C-AF1E-FB5CAB7108E6}" destId="{FDDEE134-8898-C74D-9247-67CB82B12086}" srcOrd="0" destOrd="0" presId="urn:microsoft.com/office/officeart/2005/8/layout/cycle5"/>
    <dgm:cxn modelId="{47677630-06D9-9747-9800-DC12773F2D35}" srcId="{8CECC0E6-269C-FE4C-AF1E-FB5CAB7108E6}" destId="{09EBA2AD-3A5E-7240-B9F4-E6FCB4AAE1E1}" srcOrd="4" destOrd="0" parTransId="{F2D4C602-ADF5-654A-97B9-9BB665690836}" sibTransId="{7C9EEB65-EE5A-7F42-9F71-D8BDEC46B551}"/>
    <dgm:cxn modelId="{26A9B436-C042-094D-AF00-04A0C027CB30}" type="presOf" srcId="{D3F09AC9-6291-FF43-9A91-AF2E252320CF}" destId="{F3CE140E-046F-C640-B134-764BBCA976B3}" srcOrd="0" destOrd="0" presId="urn:microsoft.com/office/officeart/2005/8/layout/cycle5"/>
    <dgm:cxn modelId="{EC4B5456-4F3D-464A-BBF5-F75874AA46EC}" type="presOf" srcId="{A787CCE2-EBBF-C649-9565-BD0A2849D924}" destId="{69153213-C10A-394B-B82D-9CC3C7B9192B}" srcOrd="0" destOrd="0" presId="urn:microsoft.com/office/officeart/2005/8/layout/cycle5"/>
    <dgm:cxn modelId="{F1560968-90EB-A348-99B2-CE8D2B3F9BD8}" srcId="{8CECC0E6-269C-FE4C-AF1E-FB5CAB7108E6}" destId="{D3F09AC9-6291-FF43-9A91-AF2E252320CF}" srcOrd="1" destOrd="0" parTransId="{051AF1A1-1CD4-004F-A0E2-739E52CB52BC}" sibTransId="{32A45F34-9421-D641-A75C-B0D85F58D9B3}"/>
    <dgm:cxn modelId="{C7686E73-1700-7B43-8502-EBBCD611FD74}" srcId="{8CECC0E6-269C-FE4C-AF1E-FB5CAB7108E6}" destId="{C6BB8251-829F-BC41-886D-442085FAF733}" srcOrd="3" destOrd="0" parTransId="{234D9504-FC5C-0146-BE2E-1EEECE5162ED}" sibTransId="{37412D4D-F50C-9B41-BE80-002C4FA3FB17}"/>
    <dgm:cxn modelId="{E4FBE088-74E6-FB4A-BB59-9E57B053D7DC}" type="presOf" srcId="{32A45F34-9421-D641-A75C-B0D85F58D9B3}" destId="{30331160-B041-7848-9504-D3B850B7916A}" srcOrd="0" destOrd="0" presId="urn:microsoft.com/office/officeart/2005/8/layout/cycle5"/>
    <dgm:cxn modelId="{866AD39B-6E6A-D849-8C64-E6B1220F95DA}" type="presOf" srcId="{37412D4D-F50C-9B41-BE80-002C4FA3FB17}" destId="{B438E578-E742-1044-8ACF-9F58F7BAD777}" srcOrd="0" destOrd="0" presId="urn:microsoft.com/office/officeart/2005/8/layout/cycle5"/>
    <dgm:cxn modelId="{E58EC39F-15CB-EB46-BB44-654A273DD9A0}" type="presOf" srcId="{769A9A90-D146-7F4F-9EC1-975324FAA5EE}" destId="{42D5AD64-AAB5-8E4D-8181-CDB08CFA1DA3}" srcOrd="0" destOrd="0" presId="urn:microsoft.com/office/officeart/2005/8/layout/cycle5"/>
    <dgm:cxn modelId="{8FAF11A4-94A7-684B-8EB6-38CA47A38B93}" type="presOf" srcId="{5B9D6BB2-E5AA-0B45-8793-D04135A78E10}" destId="{4A5E0EFE-84F4-F74F-9CB0-4740562F6689}" srcOrd="0" destOrd="0" presId="urn:microsoft.com/office/officeart/2005/8/layout/cycle5"/>
    <dgm:cxn modelId="{5C3E2BBE-662D-C24D-BCA2-4D538A1C772B}" type="presOf" srcId="{09EBA2AD-3A5E-7240-B9F4-E6FCB4AAE1E1}" destId="{F412E33F-37C3-BE42-9222-0799BA80D98B}" srcOrd="0" destOrd="0" presId="urn:microsoft.com/office/officeart/2005/8/layout/cycle5"/>
    <dgm:cxn modelId="{48E7A6BF-1F41-204D-9E0A-E1F4DC5EC041}" srcId="{8CECC0E6-269C-FE4C-AF1E-FB5CAB7108E6}" destId="{5B9D6BB2-E5AA-0B45-8793-D04135A78E10}" srcOrd="0" destOrd="0" parTransId="{714E5204-807D-4549-9908-97C47CDD4F0A}" sibTransId="{769A9A90-D146-7F4F-9EC1-975324FAA5EE}"/>
    <dgm:cxn modelId="{7808AEC0-9047-F04A-BE79-6FBE27BC43FC}" srcId="{8CECC0E6-269C-FE4C-AF1E-FB5CAB7108E6}" destId="{A787CCE2-EBBF-C649-9565-BD0A2849D924}" srcOrd="2" destOrd="0" parTransId="{A0B0B415-6E1D-0D4A-81F2-CCAFF293326F}" sibTransId="{FEE8F769-44D3-6942-920D-68AE1F0FA01C}"/>
    <dgm:cxn modelId="{5C3A2BC6-97C8-DD48-AD58-2A1D6036D457}" type="presOf" srcId="{C6BB8251-829F-BC41-886D-442085FAF733}" destId="{BD06DD9B-AEB4-7F44-8A87-AAC27A610ABC}" srcOrd="0" destOrd="0" presId="urn:microsoft.com/office/officeart/2005/8/layout/cycle5"/>
    <dgm:cxn modelId="{816564C6-A166-A447-9AF2-87E24B93D6FF}" type="presOf" srcId="{FEE8F769-44D3-6942-920D-68AE1F0FA01C}" destId="{1E9105D0-D63D-B645-9D5C-CC6D92DE814A}" srcOrd="0" destOrd="0" presId="urn:microsoft.com/office/officeart/2005/8/layout/cycle5"/>
    <dgm:cxn modelId="{4463BAF7-C888-C041-B077-ED219A24D078}" type="presOf" srcId="{7C9EEB65-EE5A-7F42-9F71-D8BDEC46B551}" destId="{67C2C5C9-4FB4-2042-9ACA-A489B48E5885}" srcOrd="0" destOrd="0" presId="urn:microsoft.com/office/officeart/2005/8/layout/cycle5"/>
    <dgm:cxn modelId="{B25F0E83-DA90-C94E-A804-7253A1BD2D12}" type="presParOf" srcId="{FDDEE134-8898-C74D-9247-67CB82B12086}" destId="{4A5E0EFE-84F4-F74F-9CB0-4740562F6689}" srcOrd="0" destOrd="0" presId="urn:microsoft.com/office/officeart/2005/8/layout/cycle5"/>
    <dgm:cxn modelId="{F1DD4382-685B-994E-AB52-BB395F396587}" type="presParOf" srcId="{FDDEE134-8898-C74D-9247-67CB82B12086}" destId="{726CB93B-C611-9544-9AAA-5861FECE7ED9}" srcOrd="1" destOrd="0" presId="urn:microsoft.com/office/officeart/2005/8/layout/cycle5"/>
    <dgm:cxn modelId="{AB00C217-FB88-C844-88BF-CCDD3B878611}" type="presParOf" srcId="{FDDEE134-8898-C74D-9247-67CB82B12086}" destId="{42D5AD64-AAB5-8E4D-8181-CDB08CFA1DA3}" srcOrd="2" destOrd="0" presId="urn:microsoft.com/office/officeart/2005/8/layout/cycle5"/>
    <dgm:cxn modelId="{6A33E932-E387-7443-921A-65BE61D4701B}" type="presParOf" srcId="{FDDEE134-8898-C74D-9247-67CB82B12086}" destId="{F3CE140E-046F-C640-B134-764BBCA976B3}" srcOrd="3" destOrd="0" presId="urn:microsoft.com/office/officeart/2005/8/layout/cycle5"/>
    <dgm:cxn modelId="{B9DE33F8-54CC-1E4F-8353-A3132CE9C7AC}" type="presParOf" srcId="{FDDEE134-8898-C74D-9247-67CB82B12086}" destId="{8082A499-3B73-2D48-8777-59549730C035}" srcOrd="4" destOrd="0" presId="urn:microsoft.com/office/officeart/2005/8/layout/cycle5"/>
    <dgm:cxn modelId="{5B0EAF4E-6DD1-1E46-BA03-7153518AFBA2}" type="presParOf" srcId="{FDDEE134-8898-C74D-9247-67CB82B12086}" destId="{30331160-B041-7848-9504-D3B850B7916A}" srcOrd="5" destOrd="0" presId="urn:microsoft.com/office/officeart/2005/8/layout/cycle5"/>
    <dgm:cxn modelId="{F74C6761-151F-224B-A2BA-B443B154FCA8}" type="presParOf" srcId="{FDDEE134-8898-C74D-9247-67CB82B12086}" destId="{69153213-C10A-394B-B82D-9CC3C7B9192B}" srcOrd="6" destOrd="0" presId="urn:microsoft.com/office/officeart/2005/8/layout/cycle5"/>
    <dgm:cxn modelId="{F877C128-A087-4C49-8356-0652DBFC43BF}" type="presParOf" srcId="{FDDEE134-8898-C74D-9247-67CB82B12086}" destId="{DC24CCF6-C900-FD4D-893D-71CB5E42A98E}" srcOrd="7" destOrd="0" presId="urn:microsoft.com/office/officeart/2005/8/layout/cycle5"/>
    <dgm:cxn modelId="{EEA44BCE-CFF9-F842-BB9A-3B8E6A58455E}" type="presParOf" srcId="{FDDEE134-8898-C74D-9247-67CB82B12086}" destId="{1E9105D0-D63D-B645-9D5C-CC6D92DE814A}" srcOrd="8" destOrd="0" presId="urn:microsoft.com/office/officeart/2005/8/layout/cycle5"/>
    <dgm:cxn modelId="{0F404147-AF4C-6A4A-AB97-72AFCD7B7CAB}" type="presParOf" srcId="{FDDEE134-8898-C74D-9247-67CB82B12086}" destId="{BD06DD9B-AEB4-7F44-8A87-AAC27A610ABC}" srcOrd="9" destOrd="0" presId="urn:microsoft.com/office/officeart/2005/8/layout/cycle5"/>
    <dgm:cxn modelId="{8155AE9B-E485-694D-B8B1-B4837FD15747}" type="presParOf" srcId="{FDDEE134-8898-C74D-9247-67CB82B12086}" destId="{E19DC164-096C-FF4E-AB3B-ED9CA6A7D875}" srcOrd="10" destOrd="0" presId="urn:microsoft.com/office/officeart/2005/8/layout/cycle5"/>
    <dgm:cxn modelId="{56BDE29B-AB4C-5B4A-B155-DFCE762D4BC2}" type="presParOf" srcId="{FDDEE134-8898-C74D-9247-67CB82B12086}" destId="{B438E578-E742-1044-8ACF-9F58F7BAD777}" srcOrd="11" destOrd="0" presId="urn:microsoft.com/office/officeart/2005/8/layout/cycle5"/>
    <dgm:cxn modelId="{504BBA6D-DB62-304C-9897-BD2C5949F2E4}" type="presParOf" srcId="{FDDEE134-8898-C74D-9247-67CB82B12086}" destId="{F412E33F-37C3-BE42-9222-0799BA80D98B}" srcOrd="12" destOrd="0" presId="urn:microsoft.com/office/officeart/2005/8/layout/cycle5"/>
    <dgm:cxn modelId="{77453193-0F33-8347-B8A0-2148985BE668}" type="presParOf" srcId="{FDDEE134-8898-C74D-9247-67CB82B12086}" destId="{4C6B0441-B158-5A41-B276-AA85ED560647}" srcOrd="13" destOrd="0" presId="urn:microsoft.com/office/officeart/2005/8/layout/cycle5"/>
    <dgm:cxn modelId="{97857D4C-B9A1-8D40-B1EE-DE38215FBBC7}" type="presParOf" srcId="{FDDEE134-8898-C74D-9247-67CB82B12086}" destId="{67C2C5C9-4FB4-2042-9ACA-A489B48E5885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5E0EFE-84F4-F74F-9CB0-4740562F6689}">
      <dsp:nvSpPr>
        <dsp:cNvPr id="0" name=""/>
        <dsp:cNvSpPr/>
      </dsp:nvSpPr>
      <dsp:spPr>
        <a:xfrm>
          <a:off x="2558181" y="1834"/>
          <a:ext cx="1296312" cy="842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 dirty="0"/>
            <a:t>趋势判断</a:t>
          </a:r>
        </a:p>
      </dsp:txBody>
      <dsp:txXfrm>
        <a:off x="2599313" y="42966"/>
        <a:ext cx="1214048" cy="760338"/>
      </dsp:txXfrm>
    </dsp:sp>
    <dsp:sp modelId="{42D5AD64-AAB5-8E4D-8181-CDB08CFA1DA3}">
      <dsp:nvSpPr>
        <dsp:cNvPr id="0" name=""/>
        <dsp:cNvSpPr/>
      </dsp:nvSpPr>
      <dsp:spPr>
        <a:xfrm>
          <a:off x="1522328" y="423135"/>
          <a:ext cx="3368017" cy="3368017"/>
        </a:xfrm>
        <a:custGeom>
          <a:avLst/>
          <a:gdLst/>
          <a:ahLst/>
          <a:cxnLst/>
          <a:rect l="0" t="0" r="0" b="0"/>
          <a:pathLst>
            <a:path>
              <a:moveTo>
                <a:pt x="2505968" y="214223"/>
              </a:moveTo>
              <a:arcTo wR="1684008" hR="1684008" stAng="17952934" swAng="1212334"/>
            </a:path>
          </a:pathLst>
        </a:custGeom>
        <a:noFill/>
        <a:ln w="6350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CE140E-046F-C640-B134-764BBCA976B3}">
      <dsp:nvSpPr>
        <dsp:cNvPr id="0" name=""/>
        <dsp:cNvSpPr/>
      </dsp:nvSpPr>
      <dsp:spPr>
        <a:xfrm>
          <a:off x="4159768" y="1165455"/>
          <a:ext cx="1296312" cy="842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 dirty="0"/>
            <a:t>方向选择  </a:t>
          </a:r>
          <a:endParaRPr lang="zh-CN" altLang="en-US" sz="1700" kern="1200" dirty="0"/>
        </a:p>
      </dsp:txBody>
      <dsp:txXfrm>
        <a:off x="4200900" y="1206587"/>
        <a:ext cx="1214048" cy="760338"/>
      </dsp:txXfrm>
    </dsp:sp>
    <dsp:sp modelId="{30331160-B041-7848-9504-D3B850B7916A}">
      <dsp:nvSpPr>
        <dsp:cNvPr id="0" name=""/>
        <dsp:cNvSpPr/>
      </dsp:nvSpPr>
      <dsp:spPr>
        <a:xfrm>
          <a:off x="1522328" y="423135"/>
          <a:ext cx="3368017" cy="3368017"/>
        </a:xfrm>
        <a:custGeom>
          <a:avLst/>
          <a:gdLst/>
          <a:ahLst/>
          <a:cxnLst/>
          <a:rect l="0" t="0" r="0" b="0"/>
          <a:pathLst>
            <a:path>
              <a:moveTo>
                <a:pt x="3363986" y="1800453"/>
              </a:moveTo>
              <a:arcTo wR="1684008" hR="1684008" stAng="21837901" swAng="1360341"/>
            </a:path>
          </a:pathLst>
        </a:custGeom>
        <a:noFill/>
        <a:ln w="6350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153213-C10A-394B-B82D-9CC3C7B9192B}">
      <dsp:nvSpPr>
        <dsp:cNvPr id="0" name=""/>
        <dsp:cNvSpPr/>
      </dsp:nvSpPr>
      <dsp:spPr>
        <a:xfrm>
          <a:off x="3548016" y="3048234"/>
          <a:ext cx="1296312" cy="842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 dirty="0"/>
            <a:t>能力建设</a:t>
          </a:r>
          <a:endParaRPr lang="zh-CN" altLang="en-US" sz="1700" kern="1200" dirty="0"/>
        </a:p>
      </dsp:txBody>
      <dsp:txXfrm>
        <a:off x="3589148" y="3089366"/>
        <a:ext cx="1214048" cy="760338"/>
      </dsp:txXfrm>
    </dsp:sp>
    <dsp:sp modelId="{1E9105D0-D63D-B645-9D5C-CC6D92DE814A}">
      <dsp:nvSpPr>
        <dsp:cNvPr id="0" name=""/>
        <dsp:cNvSpPr/>
      </dsp:nvSpPr>
      <dsp:spPr>
        <a:xfrm>
          <a:off x="1522328" y="423135"/>
          <a:ext cx="3368017" cy="3368017"/>
        </a:xfrm>
        <a:custGeom>
          <a:avLst/>
          <a:gdLst/>
          <a:ahLst/>
          <a:cxnLst/>
          <a:rect l="0" t="0" r="0" b="0"/>
          <a:pathLst>
            <a:path>
              <a:moveTo>
                <a:pt x="1890881" y="3355262"/>
              </a:moveTo>
              <a:arcTo wR="1684008" hR="1684008" stAng="4976619" swAng="846761"/>
            </a:path>
          </a:pathLst>
        </a:custGeom>
        <a:noFill/>
        <a:ln w="6350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06DD9B-AEB4-7F44-8A87-AAC27A610ABC}">
      <dsp:nvSpPr>
        <dsp:cNvPr id="0" name=""/>
        <dsp:cNvSpPr/>
      </dsp:nvSpPr>
      <dsp:spPr>
        <a:xfrm>
          <a:off x="1568345" y="3048234"/>
          <a:ext cx="1296312" cy="842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 dirty="0"/>
            <a:t>实践验证</a:t>
          </a:r>
          <a:endParaRPr lang="zh-CN" altLang="en-US" sz="1700" kern="1200" dirty="0"/>
        </a:p>
      </dsp:txBody>
      <dsp:txXfrm>
        <a:off x="1609477" y="3089366"/>
        <a:ext cx="1214048" cy="760338"/>
      </dsp:txXfrm>
    </dsp:sp>
    <dsp:sp modelId="{B438E578-E742-1044-8ACF-9F58F7BAD777}">
      <dsp:nvSpPr>
        <dsp:cNvPr id="0" name=""/>
        <dsp:cNvSpPr/>
      </dsp:nvSpPr>
      <dsp:spPr>
        <a:xfrm>
          <a:off x="1522328" y="423135"/>
          <a:ext cx="3368017" cy="3368017"/>
        </a:xfrm>
        <a:custGeom>
          <a:avLst/>
          <a:gdLst/>
          <a:ahLst/>
          <a:cxnLst/>
          <a:rect l="0" t="0" r="0" b="0"/>
          <a:pathLst>
            <a:path>
              <a:moveTo>
                <a:pt x="178737" y="2439020"/>
              </a:moveTo>
              <a:arcTo wR="1684008" hR="1684008" stAng="9201758" swAng="1360341"/>
            </a:path>
          </a:pathLst>
        </a:custGeom>
        <a:noFill/>
        <a:ln w="6350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12E33F-37C3-BE42-9222-0799BA80D98B}">
      <dsp:nvSpPr>
        <dsp:cNvPr id="0" name=""/>
        <dsp:cNvSpPr/>
      </dsp:nvSpPr>
      <dsp:spPr>
        <a:xfrm>
          <a:off x="956593" y="1165455"/>
          <a:ext cx="1296312" cy="842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 dirty="0"/>
            <a:t>调整与成长</a:t>
          </a:r>
          <a:endParaRPr lang="zh-CN" altLang="en-US" sz="1700" kern="1200" dirty="0"/>
        </a:p>
      </dsp:txBody>
      <dsp:txXfrm>
        <a:off x="997725" y="1206587"/>
        <a:ext cx="1214048" cy="760338"/>
      </dsp:txXfrm>
    </dsp:sp>
    <dsp:sp modelId="{67C2C5C9-4FB4-2042-9ACA-A489B48E5885}">
      <dsp:nvSpPr>
        <dsp:cNvPr id="0" name=""/>
        <dsp:cNvSpPr/>
      </dsp:nvSpPr>
      <dsp:spPr>
        <a:xfrm>
          <a:off x="1522328" y="423135"/>
          <a:ext cx="3368017" cy="3368017"/>
        </a:xfrm>
        <a:custGeom>
          <a:avLst/>
          <a:gdLst/>
          <a:ahLst/>
          <a:cxnLst/>
          <a:rect l="0" t="0" r="0" b="0"/>
          <a:pathLst>
            <a:path>
              <a:moveTo>
                <a:pt x="404985" y="588571"/>
              </a:moveTo>
              <a:arcTo wR="1684008" hR="1684008" stAng="13234732" swAng="1212334"/>
            </a:path>
          </a:pathLst>
        </a:custGeom>
        <a:noFill/>
        <a:ln w="6350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各位同学大家好，我是</a:t>
            </a:r>
            <a:r>
              <a:rPr lang="zh-CN" altLang="en-US" dirty="0"/>
              <a:t>产研团队的</a:t>
            </a:r>
            <a:r>
              <a:rPr dirty="0"/>
              <a:t>HRBP</a:t>
            </a:r>
            <a:r>
              <a:rPr lang="en-US" altLang="zh-CN" dirty="0"/>
              <a:t>-</a:t>
            </a:r>
            <a:r>
              <a:rPr lang="zh-CN" altLang="en-US" dirty="0"/>
              <a:t>张晶</a:t>
            </a:r>
            <a:r>
              <a:rPr dirty="0"/>
              <a:t>。</a:t>
            </a:r>
            <a:r>
              <a:rPr lang="zh-CN" altLang="en-US" dirty="0"/>
              <a:t>今天这个分享  会</a:t>
            </a:r>
            <a:r>
              <a:rPr dirty="0" err="1"/>
              <a:t>从企业招聘和人才发展的角度，和大家聊聊计算机专业学生在AI时代应该</a:t>
            </a:r>
            <a:r>
              <a:rPr lang="zh-CN" altLang="en-US" dirty="0"/>
              <a:t>怎么样理解行业变化、认识岗位方向、建设自己的能力，并为实习、面试和未来就业提前做准备。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我们聊什么？今天的内容分成四部分。第一部分先看行业，解决“目前变成了什么样的”的问题；第二部分讲岗位，解决“可以往哪里走”；第三部分从企业角度讲清楚“企业看什么”；最后一部分讲大家最关心的实习、简历、面试和具体行动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首先给大家介绍一下我个人认为的职业发展的</a:t>
            </a:r>
            <a:r>
              <a:rPr lang="en-US" altLang="zh-CN" dirty="0"/>
              <a:t>5</a:t>
            </a:r>
            <a:r>
              <a:rPr lang="zh-CN" altLang="en-US" dirty="0"/>
              <a:t>步模型。</a:t>
            </a:r>
            <a:endParaRPr lang="en-US" altLang="zh-CN" dirty="0"/>
          </a:p>
          <a:p>
            <a:r>
              <a:rPr lang="zh-CN" altLang="en-US" dirty="0"/>
              <a:t>很多同学一听职业规划，会以为这是一个在某一个时刻就要决定将来</a:t>
            </a:r>
            <a:r>
              <a:rPr lang="en-US" altLang="zh-CN" dirty="0"/>
              <a:t>5</a:t>
            </a:r>
            <a:r>
              <a:rPr lang="zh-CN" altLang="en-US" dirty="0"/>
              <a:t>年，</a:t>
            </a:r>
            <a:r>
              <a:rPr lang="en-US" altLang="zh-CN" dirty="0"/>
              <a:t>10</a:t>
            </a:r>
            <a:r>
              <a:rPr lang="zh-CN" altLang="en-US" dirty="0"/>
              <a:t>年，甚至是更久时间的工作方向。其实不是，尤其技术行业变化很快。</a:t>
            </a:r>
          </a:p>
          <a:p>
            <a:r>
              <a:rPr lang="zh-CN" altLang="en-US" dirty="0"/>
              <a:t>职业规划更像一个循环：先判断趋势，选择一个方向，再围绕方向建设能力；通过项目、比赛、开源、实习和面试验证自己是否合适，最后根据实践反馈进行调整和成长。</a:t>
            </a:r>
          </a:p>
          <a:p>
            <a:r>
              <a:rPr lang="zh-CN" altLang="en-US" dirty="0"/>
              <a:t>所以职业规划不是想出来的，而是做出来的。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6103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过去十年，技术热点变化很快</a:t>
            </a:r>
            <a:r>
              <a:rPr dirty="0"/>
              <a:t>。</a:t>
            </a:r>
            <a:r>
              <a:rPr lang="zh-CN" altLang="en-US" dirty="0"/>
              <a:t>为了让大家更直观地理解行业变化，可以看几个典型产品。</a:t>
            </a:r>
          </a:p>
          <a:p>
            <a:endParaRPr lang="en-US" altLang="zh-CN" dirty="0"/>
          </a:p>
          <a:p>
            <a:r>
              <a:rPr lang="zh-CN" altLang="en-US" dirty="0"/>
              <a:t>表面上是热点在变，背后真正的变化是：技术工作的价值，正在从完成单个功能，转向建设系统、平台和</a:t>
            </a:r>
            <a:r>
              <a:rPr lang="en" altLang="zh-CN" dirty="0"/>
              <a:t>AI</a:t>
            </a:r>
            <a:r>
              <a:rPr lang="zh-CN" altLang="en-US" dirty="0"/>
              <a:t>落地能力。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国内“十五五”规划更关注未来产业，比如人工智能、具身智能、</a:t>
            </a:r>
            <a:r>
              <a:rPr lang="en-US" altLang="zh-CN" dirty="0"/>
              <a:t>6</a:t>
            </a:r>
            <a:r>
              <a:rPr lang="en" altLang="zh-CN" dirty="0"/>
              <a:t>G</a:t>
            </a:r>
            <a:r>
              <a:rPr lang="zh-CN" altLang="en" dirty="0"/>
              <a:t>、</a:t>
            </a:r>
            <a:r>
              <a:rPr lang="zh-CN" altLang="en-US" dirty="0"/>
              <a:t>基础软件、数据和算力基础设施。国际技术圈更常讲</a:t>
            </a:r>
            <a:r>
              <a:rPr lang="en" altLang="zh-CN" dirty="0"/>
              <a:t>AI Agent</a:t>
            </a:r>
            <a:r>
              <a:rPr lang="zh-CN" altLang="en" dirty="0"/>
              <a:t>、</a:t>
            </a:r>
            <a:r>
              <a:rPr lang="en" altLang="zh-CN" dirty="0"/>
              <a:t>AI Infra</a:t>
            </a:r>
            <a:r>
              <a:rPr lang="zh-CN" altLang="en" dirty="0"/>
              <a:t>、</a:t>
            </a:r>
            <a:r>
              <a:rPr lang="zh-CN" altLang="en-US" dirty="0"/>
              <a:t>多智能体、大模型推理和平台工程。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国内和国际的表述不同，但底层趋势非常一致。</a:t>
            </a:r>
          </a:p>
          <a:p>
            <a:r>
              <a:rPr lang="zh-CN" altLang="en-US" dirty="0"/>
              <a:t>这些方向表面上不同，但背后都需要软件、数据、算力、云平台和工程交付能力。</a:t>
            </a:r>
          </a:p>
          <a:p>
            <a:r>
              <a:rPr lang="en" altLang="zh-CN" dirty="0" err="1"/>
              <a:t>DaoCloud</a:t>
            </a:r>
            <a:r>
              <a:rPr lang="zh-CN" altLang="en-US" dirty="0"/>
              <a:t>不是直接训练一个大模型，也不是生产机器人，而是帮助企业把</a:t>
            </a:r>
            <a:r>
              <a:rPr lang="en" altLang="zh-CN" dirty="0"/>
              <a:t>AI</a:t>
            </a:r>
            <a:r>
              <a:rPr lang="zh-CN" altLang="en-US" dirty="0"/>
              <a:t>真正部署起来、运行起来、管理起来。可以理解为</a:t>
            </a:r>
            <a:r>
              <a:rPr lang="en" altLang="zh-CN" dirty="0"/>
              <a:t>AI</a:t>
            </a:r>
            <a:r>
              <a:rPr lang="zh-CN" altLang="en-US" dirty="0"/>
              <a:t>时代的底座能力。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2734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前面我们讲了国内“十五五”重点产业和国际技术圈的热点，那这些宏观趋势和在座同学的就业究竟有什么关系？从宏观的产业变化到岗位变化，最终是人才能力标准的变化。</a:t>
            </a:r>
          </a:p>
          <a:p>
            <a:r>
              <a:rPr lang="zh-CN" altLang="en-US" dirty="0"/>
              <a:t>首先，未来机会不会只集中在传统互联网公司，而是会扩展到</a:t>
            </a:r>
            <a:r>
              <a:rPr lang="en" altLang="zh-CN" dirty="0"/>
              <a:t>AI</a:t>
            </a:r>
            <a:r>
              <a:rPr lang="zh-CN" altLang="en" dirty="0"/>
              <a:t>、</a:t>
            </a:r>
            <a:r>
              <a:rPr lang="zh-CN" altLang="en-US" dirty="0"/>
              <a:t>基础设施、通信硬件，以及制造、能源、生物等产业现场。这些行业都需要大量的软件、平台、数据、测试和产品人才。</a:t>
            </a:r>
          </a:p>
          <a:p>
            <a:r>
              <a:rPr lang="zh-CN" altLang="en-US" dirty="0"/>
              <a:t>但同时，企业对人的要求也在变化。过去，会写代码、有学历、做过基础项目，就可能获得一个入门机会。现在企业会更关注真实项目、工程能力、</a:t>
            </a:r>
            <a:r>
              <a:rPr lang="en" altLang="zh-CN" dirty="0"/>
              <a:t>AI</a:t>
            </a:r>
            <a:r>
              <a:rPr lang="zh-CN" altLang="en-US" dirty="0"/>
              <a:t>素养，以及能不能解决实际问题。</a:t>
            </a:r>
          </a:p>
          <a:p>
            <a:r>
              <a:rPr lang="zh-CN" altLang="en-US" dirty="0"/>
              <a:t>所以机会并没有消失，而是发生了迁移；岗位也没有简单减少，而是在重新分层。低门槛、重复性的工作会减少，系统型、平台型和复合型岗位会增加。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1927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大家经常听到“</a:t>
            </a:r>
            <a:r>
              <a:rPr lang="en" dirty="0"/>
              <a:t>AI</a:t>
            </a:r>
            <a:r>
              <a:rPr lang="zh-CN" altLang="en-US" dirty="0"/>
              <a:t>会取代程序员”这样的言论，那大家觉得会吗？个人观点是不会的。有这么几个原因：真实工程比生成一段代码复杂得多。</a:t>
            </a:r>
            <a:r>
              <a:rPr lang="en" dirty="0"/>
              <a:t>AI</a:t>
            </a:r>
            <a:r>
              <a:rPr lang="zh-CN" altLang="en-US" dirty="0"/>
              <a:t>目前更擅长标准化的增删改查、演示代码；一旦进入复杂业务、分布式系统、高并发、性能、安全、历史技术债务和跨团队协作，它生成的代码仍需要工程师审核、重构、排错和长期维护。</a:t>
            </a:r>
            <a:endParaRPr dirty="0"/>
          </a:p>
          <a:p>
            <a:r>
              <a:rPr dirty="0"/>
              <a:t>企业考虑的也不只是代码生成速度，还包括模型和算力成本、需求沟通、线上事故责任、系统维护以及持续迭代。所以短期更现实的选择是人机协作，而不是简单地用AI替换整个研发团队。</a:t>
            </a:r>
          </a:p>
          <a:p>
            <a:r>
              <a:rPr lang="zh-CN" altLang="en-US" dirty="0"/>
              <a:t>未来真正容易被压缩的是只会复制粘贴、只会完成简单编码的人。更值钱的是能拆解问题、设计系统、验证</a:t>
            </a:r>
            <a:r>
              <a:rPr lang="en" altLang="zh-CN" dirty="0"/>
              <a:t>AI</a:t>
            </a:r>
            <a:r>
              <a:rPr lang="zh-CN" altLang="en-US" dirty="0"/>
              <a:t>输出，并对最终结果负责的人。</a:t>
            </a:r>
            <a:endParaRPr dirty="0"/>
          </a:p>
          <a:p>
            <a:r>
              <a:rPr dirty="0" err="1"/>
              <a:t>给同学们的建议是用AI处理重复工作，同时把时间投入计算机基础、工程实践、业务理解和问题解决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" altLang="zh-CN" b="0" dirty="0">
                <a:solidFill>
                  <a:srgbClr val="000000"/>
                </a:solidFill>
                <a:effectLst/>
                <a:latin typeface="ui-sans-serif"/>
              </a:rPr>
              <a:t>AI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加剧行业分层：简单初级程序员求职难度大幅上升；能直接投入工作、有实际经验的的技术人才依旧稀缺。</a:t>
            </a:r>
          </a:p>
          <a:p>
            <a:pPr algn="l">
              <a:buFont typeface="+mj-lt"/>
              <a:buAutoNum type="arabicPeriod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升学成为大量学生缓冲选择：包含考研、留学的综合落实率稳定在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87%-88%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区间，不少本科生通过读研延迟就业，缓解当下求职压力。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5369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这一页大家可以作为市场参考，不要简单理解成某个岗位一定是多少钱。以上海、北京、深圳这些一线城市来看，技术岗位整体仍然有回报，但分化非常明显。</a:t>
            </a:r>
            <a:endParaRPr lang="en-US" dirty="0"/>
          </a:p>
          <a:p>
            <a:r>
              <a:rPr lang="zh-CN" altLang="en-US" dirty="0"/>
              <a:t>这些都是公开招聘样本或官方行业统计，不代表具体企业、具体</a:t>
            </a:r>
            <a:r>
              <a:rPr lang="en" altLang="zh-CN" dirty="0"/>
              <a:t>Offer</a:t>
            </a:r>
            <a:r>
              <a:rPr lang="zh-CN" altLang="en-US" dirty="0"/>
              <a:t>或我司薪资标准。实际薪资会受到城市、公司类型、岗位方向、学历背景、技术能力和面试表现影响。所以大家不要只看薪资数字，也不要只追热门岗位名称。更重要的是看这个岗位背后需要什么能力，以及自己现在能不能通过课程、项目、开源和实习逐步靠近这些能力。</a:t>
            </a:r>
            <a:endParaRPr dirty="0"/>
          </a:p>
          <a:p>
            <a:r>
              <a:rPr dirty="0" err="1"/>
              <a:t>比如同样是计算机相关岗位，普通软件开发、后端开发、产品经理、测试开发、AI</a:t>
            </a:r>
            <a:r>
              <a:rPr dirty="0"/>
              <a:t> </a:t>
            </a:r>
            <a:r>
              <a:rPr dirty="0" err="1"/>
              <a:t>Infra平台开发之间，薪资差异背后其实是能力结构不同。企业愿意为稀缺能力付费</a:t>
            </a:r>
            <a:r>
              <a:rPr lang="zh-CN" altLang="en-US" dirty="0"/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从数据看，就业竞争确实存在。但从全球市场看，软件开发</a:t>
            </a:r>
            <a:r>
              <a:rPr dirty="0"/>
              <a:t>、</a:t>
            </a:r>
            <a:r>
              <a:rPr lang="zh-CN" altLang="en-US" dirty="0"/>
              <a:t>产品</a:t>
            </a:r>
            <a:r>
              <a:rPr dirty="0"/>
              <a:t>、测试等岗位仍然有长期需求。问题不是没有岗位，而是企业越来越清楚自己需要什么样的人。以前一个学生只要专业对口、基础还可以，就可能进入面试；现在企业会更关注你是否有真实项目、是否实习过、是否理解工程流程、是否能快速上手。</a:t>
            </a:r>
            <a:endParaRPr lang="en-US" dirty="0"/>
          </a:p>
          <a:p>
            <a:r>
              <a:rPr lang="zh-CN" altLang="en-US" dirty="0"/>
              <a:t>所以真正需要关注的不是一个笼统的就业率，而是自己能够进入哪一个岗位池。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刚才讲了一些大的趋势和就业的数据。接下来讲一下计算机专业的岗位。那大家觉得毕业后会做什么岗位？计算机专业毕业后可以做什么？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6610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很多同学一说计算机就业，第一反应就是程序员，但实际出口非常多</a:t>
            </a:r>
            <a:r>
              <a:rPr lang="zh-CN" altLang="en-US" dirty="0"/>
              <a:t>。软件企业里最典型的岗位，可以先概括为三类：</a:t>
            </a:r>
            <a:r>
              <a:rPr lang="zh-CN" altLang="en-US" b="1" dirty="0"/>
              <a:t>产品、开发、测试与质量。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选方向不能只问哪个岗位工资高，也不能因为某一门课成绩不好就否定自己。建议大家同时看四个维度：自己是否感兴趣、是否有能力基础、市场是否有需求，以及在真实项目或实习中的反馈怎么样。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前面我们介绍了产品、开发、测试三类岗位，也讲了可以从兴趣、能力这些方面，初步判断自己适合哪个方向。</a:t>
            </a:r>
          </a:p>
          <a:p>
            <a:r>
              <a:rPr lang="zh-CN" altLang="en-US" dirty="0"/>
              <a:t>但选择方向只是第一步。</a:t>
            </a:r>
          </a:p>
          <a:p>
            <a:r>
              <a:rPr lang="zh-CN" altLang="en-US" dirty="0"/>
              <a:t>你觉得自己喜欢开发，或者认为自己适合产品，并不代表企业就会认可。企业还会继续判断：</a:t>
            </a:r>
          </a:p>
          <a:p>
            <a:r>
              <a:rPr lang="zh-CN" altLang="en-US" b="1" dirty="0"/>
              <a:t>你是否已经具备这个岗位需要的能力？又拿什么证明？</a:t>
            </a:r>
            <a:endParaRPr lang="zh-CN" altLang="en-US" dirty="0"/>
          </a:p>
          <a:p>
            <a:r>
              <a:rPr lang="zh-CN" altLang="en-US" dirty="0"/>
              <a:t>所以接下来进入第三部分，我们从企业招聘和人才发展的角度，看一看企业到底需要什么样的人，以及不同岗位从学生阶段到职业阶段，能力要求是怎样变化的。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9818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无论最终选择产品、开发还是测试，企业首先都会看一些共同的底层能力。</a:t>
            </a:r>
            <a:endParaRPr lang="en-US" altLang="zh-CN" dirty="0"/>
          </a:p>
          <a:p>
            <a:r>
              <a:rPr lang="en-US" dirty="0" err="1"/>
              <a:t>大家觉得一份优秀的应届生简历是怎么样的</a:t>
            </a:r>
            <a:r>
              <a:rPr lang="zh-CN" altLang="en-US" dirty="0"/>
              <a:t>？是很多技术名词？是项目经验？名校标签？</a:t>
            </a:r>
            <a:endParaRPr lang="en-US" altLang="zh-CN" dirty="0"/>
          </a:p>
          <a:p>
            <a:r>
              <a:rPr lang="zh-CN" altLang="en-US" dirty="0"/>
              <a:t>企业真正关心的是：</a:t>
            </a:r>
          </a:p>
          <a:p>
            <a:r>
              <a:rPr lang="zh-CN" altLang="en-US" b="1" dirty="0"/>
              <a:t>你能不能把这些能力组合起来，最终完成一项真实工作。</a:t>
            </a:r>
            <a:endParaRPr lang="zh-CN" altLang="en-US" dirty="0"/>
          </a:p>
          <a:p>
            <a:r>
              <a:rPr lang="zh-CN" altLang="en-US" dirty="0"/>
              <a:t>你说自己学习能力强，企业会问你快速学会过什么；你说自己工程能力好，企业会问你解决过什么问题。企业看的是能力，更看能力背后的证据。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这些能力是所有岗位共同的基础，但放到不同岗位上，侧重点又不一样。我们先从产品岗位来看。</a:t>
            </a:r>
            <a:endParaRPr lang="en-US" altLang="zh-CN" dirty="0"/>
          </a:p>
          <a:p>
            <a:r>
              <a:rPr lang="zh-CN" altLang="en-US" dirty="0"/>
              <a:t>很多同学一听“产品经理”，会觉得就是写</a:t>
            </a:r>
            <a:r>
              <a:rPr lang="en" altLang="zh-CN" dirty="0"/>
              <a:t>PRD</a:t>
            </a:r>
            <a:r>
              <a:rPr lang="zh-CN" altLang="en" dirty="0"/>
              <a:t>、</a:t>
            </a:r>
            <a:r>
              <a:rPr lang="zh-CN" altLang="en-US" dirty="0"/>
              <a:t>画原型。其实这些只是表面工作。</a:t>
            </a:r>
          </a:p>
          <a:p>
            <a:r>
              <a:rPr lang="zh-CN" altLang="en-US" dirty="0"/>
              <a:t>对于实习生，企业主要看的是：你能不能快速理解产品、做好调研、整理用户反馈，并把事情推进下去。这个阶段，重点是</a:t>
            </a:r>
            <a:r>
              <a:rPr lang="zh-CN" altLang="en-US" b="1" dirty="0"/>
              <a:t>学习快、逻辑清楚、执行靠谱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但到了正式岗位，尤其是</a:t>
            </a:r>
            <a:r>
              <a:rPr lang="en" altLang="zh-CN" dirty="0"/>
              <a:t>AI Infra</a:t>
            </a:r>
            <a:r>
              <a:rPr lang="zh-CN" altLang="en-US" dirty="0"/>
              <a:t>产品经理，既要听懂客户需要什么，也要理解算力、模型服务、</a:t>
            </a:r>
            <a:r>
              <a:rPr lang="en" altLang="zh-CN" dirty="0"/>
              <a:t>Kubernetes</a:t>
            </a:r>
            <a:r>
              <a:rPr lang="zh-CN" altLang="en-US" dirty="0"/>
              <a:t>这些技术，还要判断哪些需求值得做、怎么做成可复用的平台能力。</a:t>
            </a:r>
          </a:p>
          <a:p>
            <a:r>
              <a:rPr lang="zh-CN" altLang="en-US" dirty="0"/>
              <a:t>所以，产品经理不是“不会写代码才去做的岗位”。技术产品经理不一定亲自写底层代码，但一定要</a:t>
            </a:r>
            <a:r>
              <a:rPr lang="zh-CN" altLang="en-US" b="1" dirty="0"/>
              <a:t>懂业务、懂技术、能判断、能推动落地。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产品岗位的成长，是从完成任务走向判断和负责；技术岗位也有类似的变化，但评价标准会更集中在能不能独立解决问题。</a:t>
            </a:r>
            <a:endParaRPr lang="en-US" altLang="zh-CN" dirty="0"/>
          </a:p>
          <a:p>
            <a:r>
              <a:rPr lang="zh-CN" altLang="en-US" dirty="0"/>
              <a:t>比如大模型推理引擎工程师，本质上就是让模型跑得</a:t>
            </a:r>
            <a:r>
              <a:rPr lang="zh-CN" altLang="en-US" b="1" dirty="0"/>
              <a:t>更快、更稳、更省</a:t>
            </a:r>
            <a:r>
              <a:rPr lang="zh-CN" altLang="en-US" dirty="0"/>
              <a:t>，涉及后端、分布式系统、</a:t>
            </a:r>
            <a:r>
              <a:rPr lang="en" altLang="zh-CN" dirty="0"/>
              <a:t>GPU/NPU</a:t>
            </a:r>
            <a:r>
              <a:rPr lang="zh-CN" altLang="en" dirty="0"/>
              <a:t>、</a:t>
            </a:r>
            <a:r>
              <a:rPr lang="zh-CN" altLang="en-US" dirty="0"/>
              <a:t>云原生等能力。</a:t>
            </a:r>
          </a:p>
          <a:p>
            <a:r>
              <a:rPr lang="zh-CN" altLang="en-US" dirty="0"/>
              <a:t>对同学们来说，不需要一步到位，可以先从项目、开源和实习开始积累。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看着要求很多，其实可以概括成几点：第一，计算机基础要扎实，比如操作系统、网络、并发和性能分析；第二，要有工程能力，能用写代码、读代码、定位问题；第三，要真正接触过大模型推理框架，比如 </a:t>
            </a:r>
            <a:r>
              <a:rPr lang="en" altLang="zh-CN" dirty="0" err="1"/>
              <a:t>vLLM</a:t>
            </a:r>
            <a:r>
              <a:rPr lang="zh-CN" altLang="en" dirty="0"/>
              <a:t>、</a:t>
            </a:r>
            <a:r>
              <a:rPr lang="en" altLang="zh-CN" dirty="0" err="1"/>
              <a:t>PyTorch</a:t>
            </a:r>
            <a:r>
              <a:rPr lang="zh-CN" altLang="en" dirty="0"/>
              <a:t>，</a:t>
            </a:r>
            <a:r>
              <a:rPr lang="zh-CN" altLang="en-US" dirty="0"/>
              <a:t>不只是听说过，最好能跑过、改过、做过优化；</a:t>
            </a:r>
            <a:endParaRPr lang="en-US" altLang="zh-CN" dirty="0"/>
          </a:p>
          <a:p>
            <a:r>
              <a:rPr lang="zh-CN" altLang="en-US" dirty="0"/>
              <a:t>对于应届生来说，企业不会要求你所有技术都会，但希望看到你方向明确、基础扎实，并且能通过项目、实习或开源证明自己真的做过。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6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系统做出来只是第一步，能不能稳定、可靠地交付，还需要测试和质量保障。</a:t>
            </a:r>
          </a:p>
          <a:p>
            <a:r>
              <a:rPr lang="en-US" dirty="0"/>
              <a:t>简单重复的手工测试会逐渐减少，但质量岗位不会消失。未来优秀测试人员需要懂业务、懂系统、会编程、会自动化，还要能够定位问题，而不仅仅是发现问题。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zh-CN" altLang="en-US" dirty="0"/>
            </a:br>
            <a:r>
              <a:rPr lang="zh-CN" altLang="en-US" dirty="0"/>
              <a:t>产品、开发和测试看起来工作不同，但在真实项目中，它们需要一起完成交付。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这一页主要是帮助学生把前面讲的岗位串起来</a:t>
            </a:r>
            <a:r>
              <a:rPr lang="en-US" dirty="0"/>
              <a:t>。</a:t>
            </a:r>
          </a:p>
          <a:p>
            <a:r>
              <a:rPr lang="zh-CN" altLang="en-US" dirty="0"/>
              <a:t>以</a:t>
            </a:r>
            <a:r>
              <a:rPr lang="en" altLang="zh-CN" dirty="0"/>
              <a:t>AI Infra</a:t>
            </a:r>
            <a:r>
              <a:rPr lang="zh-CN" altLang="en-US" dirty="0"/>
              <a:t>平台为例，产品经理负责定义平台要解决什么问题；推理引擎工程师负责让模型跑得更快、更稳、更省；平台开发负责部署、资源和运行环境；测试人员负责保障质量。</a:t>
            </a:r>
          </a:p>
          <a:p>
            <a:r>
              <a:rPr lang="zh-CN" altLang="en-US" dirty="0"/>
              <a:t>企业并不要求一个人什么都会，而是希望每个人有自己的核心能力，同时能和上下游有效协作。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前面讲了行业、岗位和企业要求，接下来进入最实际的部分：不同年级怎么准备、实习怎么找，以及简历和面试应该注意什么。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68914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把课堂知识转化成工作能力，最直接的方法之一就是实习。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企业看重实习，是因为实习能证明一个学生接触过真实环境。学校项目和企业项目最大的区别，是企业项目有真实用户、交付时间、团队协作和线上风险。</a:t>
            </a:r>
          </a:p>
          <a:p>
            <a:r>
              <a:rPr lang="en-US" dirty="0" err="1"/>
              <a:t>但不是所有实习都有价值</a:t>
            </a:r>
            <a:r>
              <a:rPr lang="zh-CN" altLang="en-US" dirty="0"/>
              <a:t>，</a:t>
            </a:r>
            <a:r>
              <a:rPr lang="en-US" dirty="0"/>
              <a:t>如果只能说“参与了某个项目”，</a:t>
            </a:r>
            <a:r>
              <a:rPr lang="en-US" dirty="0" err="1"/>
              <a:t>讲不清自己的贡献、问题和结果，这段实习的价值就很有限</a:t>
            </a:r>
            <a:r>
              <a:rPr lang="en-US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暂时没有实习并不代表没有机会。实验室、老师课题、开源项目、校园项目、竞赛和毕业设计都可以成为能力证据。但关键是真实。跟着教程完成一些模拟的项目，通常很难形成竞争力。你需要做过自己的修改，解决过真实问题，并且能清楚解释为什么这样设计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简历不是写得越满越好，而是让人一眼看清：你做过什么、亮点是什么、解决过什么问题。</a:t>
            </a:r>
          </a:p>
          <a:p>
            <a:r>
              <a:rPr lang="zh-CN" altLang="en" dirty="0"/>
              <a:t>简历</a:t>
            </a:r>
            <a:r>
              <a:rPr lang="zh-CN" altLang="en-US" dirty="0"/>
              <a:t>和面试采用</a:t>
            </a:r>
            <a:r>
              <a:rPr lang="en-US" altLang="zh-CN" dirty="0"/>
              <a:t>star</a:t>
            </a:r>
            <a:r>
              <a:rPr lang="zh-CN" altLang="en-US" dirty="0"/>
              <a:t>原则。</a:t>
            </a:r>
            <a:endParaRPr lang="en-US" altLang="zh-CN" dirty="0"/>
          </a:p>
          <a:p>
            <a:r>
              <a:rPr lang="en" altLang="zh-CN" dirty="0"/>
              <a:t>AI</a:t>
            </a:r>
            <a:r>
              <a:rPr lang="zh-CN" altLang="en-US" dirty="0"/>
              <a:t>可以帮助修改简历、模拟面试和学习技术，但不能替代真实经历和独立判断。</a:t>
            </a:r>
            <a:r>
              <a:rPr lang="en" altLang="zh-CN" dirty="0"/>
              <a:t>AI</a:t>
            </a:r>
            <a:r>
              <a:rPr lang="zh-CN" altLang="en-US" dirty="0"/>
              <a:t>能帮你提效，但最终还是要你自己经得起追问、对结果负责。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今天的内容可以总结成五步：</a:t>
            </a:r>
          </a:p>
          <a:p>
            <a:r>
              <a:rPr lang="zh-CN" altLang="en-US" dirty="0"/>
              <a:t>先看趋势，但不要盲目追热点；</a:t>
            </a:r>
            <a:br>
              <a:rPr lang="zh-CN" altLang="en-US" dirty="0"/>
            </a:br>
            <a:r>
              <a:rPr lang="zh-CN" altLang="en-US" dirty="0"/>
              <a:t>再选方向，找到自己愿意长期解决的问题；</a:t>
            </a:r>
            <a:br>
              <a:rPr lang="zh-CN" altLang="en-US" dirty="0"/>
            </a:br>
            <a:r>
              <a:rPr lang="zh-CN" altLang="en-US" dirty="0"/>
              <a:t>围绕方向建设基础、工程和项目能力；</a:t>
            </a:r>
            <a:br>
              <a:rPr lang="zh-CN" altLang="en-US" dirty="0"/>
            </a:br>
            <a:r>
              <a:rPr lang="zh-CN" altLang="en-US" dirty="0"/>
              <a:t>通过项目、开源、实习和面试不断验证；</a:t>
            </a:r>
            <a:br>
              <a:rPr lang="zh-CN" altLang="en-US" dirty="0"/>
            </a:br>
            <a:r>
              <a:rPr lang="zh-CN" altLang="en-US" dirty="0"/>
              <a:t>最后根据反馈持续调整。</a:t>
            </a:r>
          </a:p>
          <a:p>
            <a:r>
              <a:rPr lang="zh-CN" altLang="en-US" dirty="0"/>
              <a:t>职业规划不是一次决定，而是在行动中慢慢变清楚。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最后也简单介绍一下</a:t>
            </a:r>
            <a:r>
              <a:rPr lang="en" altLang="zh-CN" dirty="0" err="1"/>
              <a:t>DaoCloud</a:t>
            </a:r>
            <a:r>
              <a:rPr lang="zh-CN" altLang="en-US" dirty="0"/>
              <a:t>的实习机会。</a:t>
            </a:r>
          </a:p>
          <a:p>
            <a:r>
              <a:rPr lang="zh-CN" altLang="en-US" dirty="0"/>
              <a:t>对岗位感兴趣的同学，可以关注后续招聘信息。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64256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今天的分享就到这里</a:t>
            </a:r>
            <a:r>
              <a:rPr dirty="0"/>
              <a:t>。</a:t>
            </a:r>
            <a:r>
              <a:rPr lang="zh-CN" altLang="en-US" dirty="0"/>
              <a:t>我们从行业趋势讲到岗位方向，从企业能力要求讲到实习和求职准备。</a:t>
            </a:r>
          </a:p>
          <a:p>
            <a:r>
              <a:rPr dirty="0"/>
              <a:t>职业发展不是一次选择，而是一系列行动。大家现在不需要马上决定一辈子的方向，但需要开始看见趋势、选择方向、建设能力，并通过项目、实习和面试不断验证自己。希望大家都能在AI时代找到适合自己的职业路径。谢谢大家，接下来欢迎大家提问。</a:t>
            </a:r>
            <a:endParaRPr 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F0DCD54-378B-4B78-90AE-F5C61C3643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399" y="1532165"/>
            <a:ext cx="7882709" cy="2195189"/>
          </a:xfrm>
        </p:spPr>
        <p:txBody>
          <a:bodyPr vert="horz" lIns="91440" tIns="45720" rIns="91440" bIns="45720" anchor="b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r>
              <a:t>主标题 Click to edit </a:t>
            </a:r>
            <a:br/>
            <a:r>
              <a:t>Master title style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3843FE-FC24-49FE-8A8F-A82588219A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399" y="3966887"/>
            <a:ext cx="7882709" cy="535853"/>
          </a:xfrm>
        </p:spPr>
        <p:txBody>
          <a:bodyPr vert="horz" lIns="91440" tIns="45720" rIns="91440" bIns="45720" anchor="t"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marL="228600" indent="-228600">
              <a:buNone/>
            </a:pPr>
            <a:r>
              <a:t>副标题 Click to edit Master subtitle style</a:t>
            </a:r>
          </a:p>
        </p:txBody>
      </p:sp>
      <p:pic>
        <p:nvPicPr>
          <p:cNvPr id="4" name="图片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61595" y="245688"/>
            <a:ext cx="1831368" cy="586038"/>
          </a:xfrm>
          <a:prstGeom prst="rect">
            <a:avLst/>
          </a:prstGeom>
        </p:spPr>
      </p:pic>
      <p:pic>
        <p:nvPicPr>
          <p:cNvPr id="5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5D989AA-35A5-4C41-8E86-84199D58E835}"/>
              </a:ext>
            </a:extLst>
          </p:cNvPr>
          <p:cNvSpPr>
            <a:spLocks noGrp="1"/>
          </p:cNvSpPr>
          <p:nvPr/>
        </p:nvSpPr>
        <p:spPr>
          <a:xfrm>
            <a:off x="754992" y="4847177"/>
            <a:ext cx="1305035" cy="115613"/>
          </a:xfrm>
          <a:prstGeom prst="rect">
            <a:avLst/>
          </a:prstGeom>
          <a:gradFill rotWithShape="1">
            <a:gsLst>
              <a:gs pos="0">
                <a:srgbClr val="171A16"/>
              </a:gs>
              <a:gs pos="100000">
                <a:srgbClr val="11D05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A12C08B-8808-4A7C-B517-77A3C9BDB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页面标题 Click to edit Master title style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EFB5EEB-3AF8-49D9-8AE7-F5DA180EAE3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6750" y="1231900"/>
            <a:ext cx="10858500" cy="5003800"/>
          </a:xfrm>
        </p:spPr>
        <p:txBody>
          <a:bodyPr/>
          <a:lstStyle/>
          <a:p>
            <a:pPr>
              <a:buNone/>
            </a:pPr>
            <a:r>
              <a:t>一级段落内容 Click to edit Master text styles</a:t>
            </a:r>
          </a:p>
          <a:p>
            <a:pPr>
              <a:buNone/>
            </a:pPr>
            <a:r>
              <a:t>二级段落内容 Second level</a:t>
            </a:r>
          </a:p>
          <a:p>
            <a:pPr>
              <a:buNone/>
            </a:pPr>
            <a:r>
              <a:t>三级段落内容 Third level</a:t>
            </a:r>
          </a:p>
          <a:p>
            <a:pPr>
              <a:buNone/>
            </a:pPr>
            <a:r>
              <a:t>四级段落内容 Fourth level</a:t>
            </a:r>
          </a:p>
          <a:p>
            <a:pPr>
              <a:buNone/>
            </a:pPr>
            <a:r>
              <a:t>五级段落内容 Fifth level</a:t>
            </a:r>
          </a:p>
        </p:txBody>
      </p:sp>
      <p:pic>
        <p:nvPicPr>
          <p:cNvPr id="10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49C47C0-0F4B-4F43-AFAA-B1DAAC6B6C95}"/>
              </a:ext>
            </a:extLst>
          </p:cNvPr>
          <p:cNvSpPr>
            <a:spLocks noGrp="1"/>
          </p:cNvSpPr>
          <p:nvPr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ADBC214-09A5-46C0-BF70-B693D2FEA6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7018" y="2393577"/>
            <a:ext cx="5398007" cy="1290474"/>
          </a:xfr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 sz="3600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r>
              <a:t>章节标题 Click to edit Master title style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129144-996A-41BA-AEA2-1B532EB88E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7018" y="3818522"/>
            <a:ext cx="5398007" cy="50508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章节副标题 Click to edit Master text styles</a:t>
            </a:r>
          </a:p>
        </p:txBody>
      </p:sp>
      <p:pic>
        <p:nvPicPr>
          <p:cNvPr id="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5A4F4D9-89B1-416C-8B02-D9FA2B6C3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页面标题 Click to edit Master title style</a:t>
            </a:r>
          </a:p>
        </p:txBody>
      </p:sp>
      <p:pic>
        <p:nvPicPr>
          <p:cNvPr id="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26B7BC2-91EA-424E-8940-AD5114B47004}"/>
              </a:ext>
            </a:extLst>
          </p:cNvPr>
          <p:cNvSpPr>
            <a:spLocks noGrp="1"/>
          </p:cNvSpPr>
          <p:nvPr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CAB2D3-EDEC-44D4-8167-CD074D10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B2040-B377-4A1D-AD41-336025D2F264}"/>
              </a:ext>
            </a:extLst>
          </p:cNvPr>
          <p:cNvSpPr>
            <a:spLocks noGrp="1"/>
          </p:cNvSpPr>
          <p:nvPr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7" name="图片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82814" y="6388340"/>
            <a:ext cx="1439813" cy="2239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17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82814" y="6388340"/>
            <a:ext cx="1439813" cy="223971"/>
          </a:xfrm>
          <a:prstGeom prst="rect">
            <a:avLst/>
          </a:prstGeom>
        </p:spPr>
      </p:pic>
      <p:pic>
        <p:nvPicPr>
          <p:cNvPr id="2" name="图片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82814" y="6388340"/>
            <a:ext cx="1439813" cy="2239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DFEF182-8034-4F4C-97BD-094BCA98771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862667" y="2919764"/>
            <a:ext cx="8616146" cy="1018471"/>
          </a:xfrm>
        </p:spPr>
        <p:txBody>
          <a:bodyPr vert="horz" lIns="91440" tIns="45720" rIns="91440" bIns="4572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228600" indent="-228600">
              <a:spcBef>
                <a:spcPts val="0"/>
              </a:spcBef>
              <a:buNone/>
            </a:pPr>
            <a:r>
              <a:t>Thanks.</a:t>
            </a:r>
          </a:p>
        </p:txBody>
      </p:sp>
      <p:pic>
        <p:nvPicPr>
          <p:cNvPr id="8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01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1951" y="3282546"/>
            <a:ext cx="3279577" cy="644573"/>
          </a:xfrm>
        </p:spPr>
        <p:txBody>
          <a:bodyPr vert="horz" lIns="91440" tIns="45720" rIns="91440" bIns="45720" anchor="b">
            <a:noAutofit/>
          </a:bodyPr>
          <a:lstStyle>
            <a:lvl1pPr>
              <a:lnSpc>
                <a:spcPct val="100000"/>
              </a:lnSpc>
              <a:buNone/>
              <a:defRPr sz="4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更改目录名称</a:t>
            </a:r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7" name="文本占位符 2">
            <a:extLst>
              <a:ext uri="{FF2B5EF4-FFF2-40B4-BE49-F238E27FC236}">
                <a16:creationId xmlns:a16="http://schemas.microsoft.com/office/drawing/2014/main" id="{7BAEC6E4-FC2F-9045-BDCB-7F86AD87230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2011952" y="2384936"/>
            <a:ext cx="265984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sz="3600" b="1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Content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BE3385C4-B45A-934A-AAF2-FBC6E44FF7E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576888" y="211572"/>
            <a:ext cx="6310312" cy="6054291"/>
          </a:xfrm>
        </p:spPr>
        <p:txBody>
          <a:bodyPr anchor="ctr">
            <a:normAutofit/>
          </a:bodyPr>
          <a:lstStyle>
            <a:lvl1pPr marL="162900" indent="-540000">
              <a:lnSpc>
                <a:spcPct val="250000"/>
              </a:lnSpc>
              <a:buAutoNum type="arabicPeriod"/>
              <a:defRPr sz="2000" b="1">
                <a:latin typeface="+mj-lt"/>
                <a:ea typeface="+mj-lt"/>
                <a:cs typeface="+mj-lt"/>
              </a:defRPr>
            </a:lvl1pPr>
            <a:lvl2pPr marL="800100" indent="-342900">
              <a:buAutoNum type="arabicPeriod"/>
              <a:defRPr/>
            </a:lvl2pPr>
            <a:lvl3pPr marL="1257300" indent="-342900">
              <a:buAutoNum type="arabicPeriod"/>
              <a:defRPr/>
            </a:lvl3pPr>
            <a:lvl4pPr marL="1714500" indent="-342900">
              <a:buAutoNum type="arabicPeriod"/>
              <a:defRPr/>
            </a:lvl4pPr>
            <a:lvl5pPr marL="2171700" indent="-342900">
              <a:buAutoNum type="arabicPeriod"/>
              <a:defRPr/>
            </a:lvl5pPr>
          </a:lstStyle>
          <a:p>
            <a:pPr>
              <a:buNone/>
            </a:pPr>
            <a:r>
              <a:t>章节标题</a:t>
            </a:r>
          </a:p>
          <a:p>
            <a:pPr>
              <a:buNone/>
            </a:pPr>
            <a:r>
              <a:t>章节标题</a:t>
            </a:r>
          </a:p>
          <a:p>
            <a:pPr>
              <a:buNone/>
            </a:pPr>
            <a:r>
              <a:t>章节标题</a:t>
            </a:r>
          </a:p>
        </p:txBody>
      </p:sp>
    </p:spTree>
    <p:extLst>
      <p:ext uri="{BB962C8B-B14F-4D97-AF65-F5344CB8AC3E}">
        <p14:creationId xmlns:p14="http://schemas.microsoft.com/office/powerpoint/2010/main" val="2610468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311D1A3-04C7-4559-A1D6-E44CF3C64D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399" y="1532165"/>
            <a:ext cx="7882709" cy="2195189"/>
          </a:xfrm>
        </p:spPr>
        <p:txBody>
          <a:bodyPr vert="horz" lIns="91440" tIns="45720" rIns="91440" bIns="45720" anchor="b">
            <a:noAutofit/>
          </a:bodyPr>
          <a:lstStyle>
            <a:lvl1pPr>
              <a:lnSpc>
                <a:spcPct val="100000"/>
              </a:lnSpc>
              <a:buNone/>
              <a:defRPr sz="5000" b="1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r>
              <a:t>主标题 Click to edit </a:t>
            </a:r>
            <a:br/>
            <a:r>
              <a:t>Master title style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AFA5B6-90B2-4EDC-850D-09D8DFE210B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399" y="3966887"/>
            <a:ext cx="7882709" cy="535853"/>
          </a:xfrm>
        </p:spPr>
        <p:txBody>
          <a:bodyPr vert="horz" lIns="91440" tIns="45720" rIns="91440" bIns="45720" anchor="t"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marL="228600" indent="-228600">
              <a:buNone/>
            </a:pPr>
            <a:r>
              <a:t>副标题 Click to edit Master subtitle style</a:t>
            </a:r>
          </a:p>
        </p:txBody>
      </p:sp>
      <p:pic>
        <p:nvPicPr>
          <p:cNvPr id="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37D94B5-3DE9-4031-8D27-45C2BDAF4E0C}"/>
              </a:ext>
            </a:extLst>
          </p:cNvPr>
          <p:cNvSpPr>
            <a:spLocks noGrp="1"/>
          </p:cNvSpPr>
          <p:nvPr/>
        </p:nvSpPr>
        <p:spPr>
          <a:xfrm>
            <a:off x="754992" y="4847177"/>
            <a:ext cx="1305035" cy="115613"/>
          </a:xfrm>
          <a:prstGeom prst="rect">
            <a:avLst/>
          </a:prstGeom>
          <a:gradFill rotWithShape="1">
            <a:gsLst>
              <a:gs pos="0">
                <a:srgbClr val="171A16"/>
              </a:gs>
              <a:gs pos="100000">
                <a:srgbClr val="11D05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A03CA6FA-8F61-43CF-B61F-D41A582C1CA9}"/>
              </a:ext>
            </a:extLst>
          </p:cNvPr>
          <p:cNvSpPr>
            <a:spLocks noGrp="1"/>
          </p:cNvSpPr>
          <p:nvPr/>
        </p:nvSpPr>
        <p:spPr>
          <a:xfrm>
            <a:off x="660399" y="320097"/>
            <a:ext cx="4085772" cy="511629"/>
          </a:xfrm>
          <a:prstGeom prst="rect">
            <a:avLst/>
          </a:prstGeom>
          <a:solidFill>
            <a:srgbClr val="171A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3" name="图片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711" y="330983"/>
            <a:ext cx="1831368" cy="5860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E4850F4-3506-49EB-B2C6-4AA404205C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t>页面标题 Click to edit Master title style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FD238D6-415D-4DC2-891C-D7E9EBE4EB7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6750" y="1231900"/>
            <a:ext cx="10858500" cy="5003800"/>
          </a:xfrm>
        </p:spPr>
        <p:txBody>
          <a:bodyPr/>
          <a:lstStyle/>
          <a:p>
            <a:pPr>
              <a:buNone/>
            </a:pPr>
            <a:r>
              <a:t>一级段落内容 Click to edit Master text styles</a:t>
            </a:r>
          </a:p>
          <a:p>
            <a:pPr>
              <a:buNone/>
            </a:pPr>
            <a:r>
              <a:t>二级段落内容 Second level</a:t>
            </a:r>
          </a:p>
          <a:p>
            <a:pPr>
              <a:buNone/>
            </a:pPr>
            <a:r>
              <a:t>三级段落内容 Third level</a:t>
            </a:r>
          </a:p>
          <a:p>
            <a:pPr>
              <a:buNone/>
            </a:pPr>
            <a:r>
              <a:t>四级段落内容 Fourth level</a:t>
            </a:r>
          </a:p>
          <a:p>
            <a:pPr>
              <a:buNone/>
            </a:pPr>
            <a:r>
              <a:t>五级段落内容 Fifth level</a:t>
            </a:r>
          </a:p>
        </p:txBody>
      </p:sp>
      <p:pic>
        <p:nvPicPr>
          <p:cNvPr id="10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2D8A6CD-B56B-4E87-A545-DEC4D0ECD9F3}"/>
              </a:ext>
            </a:extLst>
          </p:cNvPr>
          <p:cNvSpPr>
            <a:spLocks noGrp="1"/>
          </p:cNvSpPr>
          <p:nvPr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5946400-26AF-4DBD-ADD8-12D43B6AE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7018" y="2393577"/>
            <a:ext cx="5398007" cy="1290474"/>
          </a:xfr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 sz="3600">
                <a:solidFill>
                  <a:schemeClr val="tx1"/>
                </a:solidFill>
              </a:defRPr>
            </a:lvl1pPr>
          </a:lstStyle>
          <a:p>
            <a:pPr>
              <a:buNone/>
            </a:pPr>
            <a:r>
              <a:t>章节标题 Click to edit Master title style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38C015-B476-47F7-B355-697F38A5486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7018" y="3818522"/>
            <a:ext cx="5398007" cy="50508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章节副标题 Click to edit Master text styles</a:t>
            </a:r>
          </a:p>
        </p:txBody>
      </p:sp>
      <p:pic>
        <p:nvPicPr>
          <p:cNvPr id="4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3F91B7B-95E4-461A-B969-F44C17A15B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页面标题 Click to edit Master title style</a:t>
            </a:r>
          </a:p>
        </p:txBody>
      </p:sp>
      <p:pic>
        <p:nvPicPr>
          <p:cNvPr id="3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E27C4FA-41D6-420F-B01D-B7ADE48FDA52}"/>
              </a:ext>
            </a:extLst>
          </p:cNvPr>
          <p:cNvSpPr>
            <a:spLocks noGrp="1"/>
          </p:cNvSpPr>
          <p:nvPr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1C02962-38AB-459F-8707-5EF726383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solidFill>
                  <a:schemeClr val="bg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F00F91-8DFE-4F4E-BA1E-3B69AE101FAD}"/>
              </a:ext>
            </a:extLst>
          </p:cNvPr>
          <p:cNvSpPr>
            <a:spLocks noGrp="1"/>
          </p:cNvSpPr>
          <p:nvPr/>
        </p:nvSpPr>
        <p:spPr>
          <a:xfrm>
            <a:off x="355599" y="663737"/>
            <a:ext cx="180623" cy="231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7" name="图片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82814" y="6388340"/>
            <a:ext cx="1439813" cy="2239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17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82814" y="6388340"/>
            <a:ext cx="1439813" cy="223971"/>
          </a:xfrm>
          <a:prstGeom prst="rect">
            <a:avLst/>
          </a:prstGeom>
        </p:spPr>
      </p:pic>
      <p:pic>
        <p:nvPicPr>
          <p:cNvPr id="2" name="图片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482814" y="6388340"/>
            <a:ext cx="1439813" cy="2239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C68EBDA-4F0F-4088-A002-CBD319825CF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862667" y="2919764"/>
            <a:ext cx="8616146" cy="1018471"/>
          </a:xfrm>
        </p:spPr>
        <p:txBody>
          <a:bodyPr vert="horz" lIns="91440" tIns="45720" rIns="91440" bIns="45720"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228600" indent="-228600">
              <a:spcBef>
                <a:spcPts val="0"/>
              </a:spcBef>
              <a:buNone/>
            </a:pPr>
            <a:r>
              <a:t>Thanks.</a:t>
            </a:r>
          </a:p>
        </p:txBody>
      </p:sp>
      <p:pic>
        <p:nvPicPr>
          <p:cNvPr id="8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813" y="6388340"/>
            <a:ext cx="1447815" cy="2239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99525-1CF4-4BAA-8E2C-FFC0790B5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074D6-6A0C-4297-A381-BBF123D92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830"/>
            <a:ext cx="10515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BDDCE-4DA9-4514-ABDF-E349299E1C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8D3E7B-5EA5-4736-BE2F-D18A5A393A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16948D-BBA2-4EC9-B875-ACB4E263F4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00C7662-4F6D-4B06-BB36-235FC06BF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11951" y="3282546"/>
            <a:ext cx="3279577" cy="644573"/>
          </a:xfrm>
        </p:spPr>
        <p:txBody>
          <a:bodyPr vert="horz" lIns="91440" tIns="45720" rIns="91440" bIns="45720" anchor="b">
            <a:noAutofit/>
          </a:bodyPr>
          <a:lstStyle>
            <a:lvl1pPr>
              <a:lnSpc>
                <a:spcPct val="100000"/>
              </a:lnSpc>
              <a:buNone/>
              <a:defRPr sz="40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buNone/>
            </a:pPr>
            <a:r>
              <a:t>更改目录名称</a:t>
            </a:r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90471" y="6430428"/>
            <a:ext cx="1396294" cy="216000"/>
          </a:xfrm>
          <a:prstGeom prst="rect">
            <a:avLst/>
          </a:prstGeom>
        </p:spPr>
      </p:pic>
      <p:sp>
        <p:nvSpPr>
          <p:cNvPr id="7" name="文本占位符 2">
            <a:extLst>
              <a:ext uri="{FF2B5EF4-FFF2-40B4-BE49-F238E27FC236}">
                <a16:creationId xmlns:a16="http://schemas.microsoft.com/office/drawing/2014/main" id="{7BAEC6E4-FC2F-9045-BDCB-7F86AD87230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2011952" y="2384936"/>
            <a:ext cx="2659847" cy="897610"/>
          </a:xfrm>
        </p:spPr>
        <p:txBody>
          <a:bodyPr>
            <a:noAutofit/>
          </a:bodyPr>
          <a:lstStyle>
            <a:lvl1pPr marL="0" indent="0">
              <a:lnSpc>
                <a:spcPct val="135000"/>
              </a:lnSpc>
              <a:spcBef>
                <a:spcPts val="1500"/>
              </a:spcBef>
              <a:buNone/>
              <a:defRPr sz="3600" b="1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Content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BE3385C4-B45A-934A-AAF2-FBC6E44FF7E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576888" y="211572"/>
            <a:ext cx="6310312" cy="6054291"/>
          </a:xfrm>
        </p:spPr>
        <p:txBody>
          <a:bodyPr anchor="ctr">
            <a:normAutofit/>
          </a:bodyPr>
          <a:lstStyle>
            <a:lvl1pPr marL="162900" indent="-540000">
              <a:lnSpc>
                <a:spcPct val="250000"/>
              </a:lnSpc>
              <a:buAutoNum type="arabicPeriod"/>
              <a:defRPr sz="2000" b="1">
                <a:latin typeface="+mj-lt"/>
                <a:ea typeface="+mj-lt"/>
                <a:cs typeface="+mj-lt"/>
              </a:defRPr>
            </a:lvl1pPr>
            <a:lvl2pPr marL="800100" indent="-342900">
              <a:buAutoNum type="arabicPeriod"/>
              <a:defRPr/>
            </a:lvl2pPr>
            <a:lvl3pPr marL="1257300" indent="-342900">
              <a:buAutoNum type="arabicPeriod"/>
              <a:defRPr/>
            </a:lvl3pPr>
            <a:lvl4pPr marL="1714500" indent="-342900">
              <a:buAutoNum type="arabicPeriod"/>
              <a:defRPr/>
            </a:lvl4pPr>
            <a:lvl5pPr marL="2171700" indent="-342900">
              <a:buAutoNum type="arabicPeriod"/>
              <a:defRPr/>
            </a:lvl5pPr>
          </a:lstStyle>
          <a:p>
            <a:pPr>
              <a:buNone/>
            </a:pPr>
            <a:r>
              <a:t>章节标题</a:t>
            </a:r>
          </a:p>
          <a:p>
            <a:pPr>
              <a:buNone/>
            </a:pPr>
            <a:r>
              <a:t>章节标题</a:t>
            </a:r>
          </a:p>
          <a:p>
            <a:pPr>
              <a:buNone/>
            </a:pPr>
            <a:r>
              <a:t>章节标题</a:t>
            </a:r>
          </a:p>
        </p:txBody>
      </p:sp>
    </p:spTree>
    <p:extLst>
      <p:ext uri="{BB962C8B-B14F-4D97-AF65-F5344CB8AC3E}">
        <p14:creationId xmlns:p14="http://schemas.microsoft.com/office/powerpoint/2010/main" val="330972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141B629-6EE6-47BD-B8D9-323E95CD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页面标题 Click to edit Master title style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A008B7-3FE1-4C1B-BC32-C78100AA9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一级段落内容 Click to edit Master text styles</a:t>
            </a:r>
          </a:p>
          <a:p>
            <a:pPr>
              <a:buNone/>
            </a:pPr>
            <a:r>
              <a:t>二级段落内容  Second level</a:t>
            </a:r>
          </a:p>
          <a:p>
            <a:pPr>
              <a:buNone/>
            </a:pPr>
            <a:r>
              <a:t>三级段落内容  Third level</a:t>
            </a:r>
          </a:p>
          <a:p>
            <a:pPr>
              <a:buNone/>
            </a:pPr>
            <a:r>
              <a:t>四级段落内容  Fourth level</a:t>
            </a:r>
          </a:p>
          <a:p>
            <a:pPr>
              <a:buNone/>
            </a:pPr>
            <a:r>
              <a:t>五级段落内容  Fifth level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0A6911-DDCA-4349-BF97-A06FD33A5FB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>
              <a:buNone/>
              <a:defRPr sz="1000" spc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为数字世界寻找全局最优解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89D641-7423-4849-B746-3524EA5A0CF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0817D8-61FD-44CA-9B5E-14522404875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pic>
        <p:nvPicPr>
          <p:cNvPr id="13" name="图片 6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852641" y="6438901"/>
            <a:ext cx="1652562" cy="255645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9" r:id="rId10"/>
  </p:sldLayoutIdLst>
  <p:hf hdr="0" ftr="0" dt="0"/>
  <p:txStyles>
    <p:titleStyle>
      <a:lvl1pPr algn="l">
        <a:lnSpc>
          <a:spcPct val="90000"/>
        </a:lnSpc>
        <a:buNone/>
        <a:defRPr sz="2800" b="1">
          <a:solidFill>
            <a:schemeClr val="tx1"/>
          </a:solidFill>
          <a:latin typeface="+mj-ea"/>
          <a:ea typeface="+mj-ea"/>
          <a:cs typeface="+mj-ea"/>
        </a:defRPr>
      </a:lvl1pPr>
    </p:titleStyle>
    <p:bodyStyle>
      <a:lvl1pPr marL="228600" indent="-228600" algn="l">
        <a:lnSpc>
          <a:spcPct val="150000"/>
        </a:lnSpc>
        <a:spcBef>
          <a:spcPts val="1000"/>
        </a:spcBef>
        <a:buChar char="•"/>
        <a:defRPr sz="1800">
          <a:solidFill>
            <a:schemeClr val="tx1"/>
          </a:solidFill>
          <a:latin typeface="+mn-ea"/>
          <a:ea typeface="+mn-ea"/>
          <a:cs typeface="+mn-ea"/>
        </a:defRPr>
      </a:lvl1pPr>
      <a:lvl2pPr marL="685800" indent="-228600" algn="l">
        <a:lnSpc>
          <a:spcPct val="150000"/>
        </a:lnSpc>
        <a:spcBef>
          <a:spcPts val="500"/>
        </a:spcBef>
        <a:buChar char="•"/>
        <a:defRPr sz="1600">
          <a:solidFill>
            <a:schemeClr val="tx1"/>
          </a:solidFill>
          <a:latin typeface="+mn-ea"/>
          <a:ea typeface="+mn-ea"/>
          <a:cs typeface="+mn-ea"/>
        </a:defRPr>
      </a:lvl2pPr>
      <a:lvl3pPr marL="1143000" indent="-228600" algn="l">
        <a:lnSpc>
          <a:spcPct val="150000"/>
        </a:lnSpc>
        <a:spcBef>
          <a:spcPts val="500"/>
        </a:spcBef>
        <a:buChar char="•"/>
        <a:defRPr sz="1400">
          <a:solidFill>
            <a:schemeClr val="tx1"/>
          </a:solidFill>
          <a:latin typeface="+mn-ea"/>
          <a:ea typeface="+mn-ea"/>
          <a:cs typeface="+mn-ea"/>
        </a:defRPr>
      </a:lvl3pPr>
      <a:lvl4pPr marL="1600200" indent="-228600" algn="l">
        <a:lnSpc>
          <a:spcPct val="150000"/>
        </a:lnSpc>
        <a:spcBef>
          <a:spcPts val="500"/>
        </a:spcBef>
        <a:buChar char="•"/>
        <a:defRPr sz="1200">
          <a:solidFill>
            <a:schemeClr val="tx1"/>
          </a:solidFill>
          <a:latin typeface="+mn-ea"/>
          <a:ea typeface="+mn-ea"/>
          <a:cs typeface="+mn-ea"/>
        </a:defRPr>
      </a:lvl4pPr>
      <a:lvl5pPr marL="2057400" indent="-228600" algn="l">
        <a:lnSpc>
          <a:spcPct val="150000"/>
        </a:lnSpc>
        <a:spcBef>
          <a:spcPts val="500"/>
        </a:spcBef>
        <a:buChar char="•"/>
        <a:defRPr sz="1200">
          <a:solidFill>
            <a:schemeClr val="tx1"/>
          </a:solidFill>
          <a:latin typeface="+mn-ea"/>
          <a:ea typeface="+mn-ea"/>
          <a:cs typeface="+mn-ea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A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7148C4-0E9A-4100-B780-11D935448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pPr>
              <a:buNone/>
            </a:pPr>
            <a:r>
              <a:t>页面标题 Click to edit Master title style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95E801-FA59-41CC-BCED-FF3C54C3D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一级段落内容 Click to edit Master text styles</a:t>
            </a:r>
          </a:p>
          <a:p>
            <a:pPr>
              <a:buNone/>
            </a:pPr>
            <a:r>
              <a:t>二级段落内容  Second level</a:t>
            </a:r>
          </a:p>
          <a:p>
            <a:pPr>
              <a:buNone/>
            </a:pPr>
            <a:r>
              <a:t>三级段落内容  Third level</a:t>
            </a:r>
          </a:p>
          <a:p>
            <a:pPr>
              <a:buNone/>
            </a:pPr>
            <a:r>
              <a:t>四级段落内容  Fourth level</a:t>
            </a:r>
          </a:p>
          <a:p>
            <a:pPr>
              <a:buNone/>
            </a:pPr>
            <a:r>
              <a:t>五级段落内容  Fifth level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24F876-CD67-42ED-8619-51A0BA9F43D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>
              <a:buNone/>
              <a:defRPr sz="1000" spc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为数字世界寻找全局最优解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F30BBB-3388-4D4D-A305-0D17F8651C7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BD0481-DE57-4F6E-BFBF-30E40A28F9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  <p:pic>
        <p:nvPicPr>
          <p:cNvPr id="13" name="图片 6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852641" y="6438901"/>
            <a:ext cx="1652562" cy="255645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p:hf hdr="0" ftr="0" dt="0"/>
  <p:txStyles>
    <p:titleStyle>
      <a:lvl1pPr algn="l">
        <a:lnSpc>
          <a:spcPct val="90000"/>
        </a:lnSpc>
        <a:buNone/>
        <a:defRPr sz="2800" b="1">
          <a:solidFill>
            <a:schemeClr val="tx1"/>
          </a:solidFill>
          <a:latin typeface="+mj-ea"/>
          <a:ea typeface="+mj-ea"/>
          <a:cs typeface="+mj-ea"/>
        </a:defRPr>
      </a:lvl1pPr>
    </p:titleStyle>
    <p:bodyStyle>
      <a:lvl1pPr marL="228600" indent="-228600" algn="l">
        <a:lnSpc>
          <a:spcPct val="150000"/>
        </a:lnSpc>
        <a:spcBef>
          <a:spcPts val="1000"/>
        </a:spcBef>
        <a:buChar char="•"/>
        <a:defRPr sz="1800">
          <a:solidFill>
            <a:schemeClr val="tx1"/>
          </a:solidFill>
          <a:latin typeface="+mn-ea"/>
          <a:ea typeface="+mn-ea"/>
          <a:cs typeface="+mn-ea"/>
        </a:defRPr>
      </a:lvl1pPr>
      <a:lvl2pPr marL="685800" indent="-228600" algn="l">
        <a:lnSpc>
          <a:spcPct val="150000"/>
        </a:lnSpc>
        <a:spcBef>
          <a:spcPts val="500"/>
        </a:spcBef>
        <a:buChar char="•"/>
        <a:defRPr sz="1600">
          <a:solidFill>
            <a:schemeClr val="tx1"/>
          </a:solidFill>
          <a:latin typeface="+mn-ea"/>
          <a:ea typeface="+mn-ea"/>
          <a:cs typeface="+mn-ea"/>
        </a:defRPr>
      </a:lvl2pPr>
      <a:lvl3pPr marL="1143000" indent="-228600" algn="l">
        <a:lnSpc>
          <a:spcPct val="150000"/>
        </a:lnSpc>
        <a:spcBef>
          <a:spcPts val="500"/>
        </a:spcBef>
        <a:buChar char="•"/>
        <a:defRPr sz="1400">
          <a:solidFill>
            <a:schemeClr val="tx1"/>
          </a:solidFill>
          <a:latin typeface="+mn-ea"/>
          <a:ea typeface="+mn-ea"/>
          <a:cs typeface="+mn-ea"/>
        </a:defRPr>
      </a:lvl3pPr>
      <a:lvl4pPr marL="1600200" indent="-228600" algn="l">
        <a:lnSpc>
          <a:spcPct val="150000"/>
        </a:lnSpc>
        <a:spcBef>
          <a:spcPts val="500"/>
        </a:spcBef>
        <a:buChar char="•"/>
        <a:defRPr sz="1200">
          <a:solidFill>
            <a:schemeClr val="tx1"/>
          </a:solidFill>
          <a:latin typeface="+mn-ea"/>
          <a:ea typeface="+mn-ea"/>
          <a:cs typeface="+mn-ea"/>
        </a:defRPr>
      </a:lvl4pPr>
      <a:lvl5pPr marL="2057400" indent="-228600" algn="l">
        <a:lnSpc>
          <a:spcPct val="150000"/>
        </a:lnSpc>
        <a:spcBef>
          <a:spcPts val="500"/>
        </a:spcBef>
        <a:buChar char="•"/>
        <a:defRPr sz="1200">
          <a:solidFill>
            <a:schemeClr val="tx1"/>
          </a:solidFill>
          <a:latin typeface="+mn-ea"/>
          <a:ea typeface="+mn-ea"/>
          <a:cs typeface="+mn-ea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61A7E-09B5-41D7-8392-19BDBFC75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403" y="1906033"/>
            <a:ext cx="7882890" cy="1049020"/>
          </a:xfrm>
        </p:spPr>
        <p:txBody>
          <a:bodyPr/>
          <a:lstStyle/>
          <a:p>
            <a:r>
              <a:rPr lang="en-US" altLang="zh-CN" sz="3600" dirty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lang="zh-CN" altLang="en-US" sz="3600" dirty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时代软件人才的</a:t>
            </a:r>
            <a:r>
              <a:rPr lang="zh-CN" altLang="en-US" sz="3600" dirty="0">
                <a:latin typeface="微软雅黑"/>
                <a:ea typeface="微软雅黑"/>
                <a:cs typeface="微软雅黑"/>
              </a:rPr>
              <a:t>职业发展</a:t>
            </a:r>
            <a:r>
              <a:rPr lang="zh-CN" altLang="en-US" sz="3600" dirty="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规划</a:t>
            </a:r>
            <a:endParaRPr sz="3600" dirty="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09B69B-2CF3-4E29-B3C8-B990331A6F3F}"/>
              </a:ext>
            </a:extLst>
          </p:cNvPr>
          <p:cNvSpPr>
            <a:spLocks noGrp="1"/>
          </p:cNvSpPr>
          <p:nvPr/>
        </p:nvSpPr>
        <p:spPr>
          <a:xfrm>
            <a:off x="549141" y="3718282"/>
            <a:ext cx="4937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HR</a:t>
            </a:r>
            <a:r>
              <a:rPr lang="zh-CN" altLang="en-US" dirty="0"/>
              <a:t>视角下的方向选择、能力建设与求职准备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8177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AB1638B-4F61-4C46-8BD2-0F6899EA5292}"/>
              </a:ext>
            </a:extLst>
          </p:cNvPr>
          <p:cNvSpPr>
            <a:spLocks noGrp="1"/>
          </p:cNvSpPr>
          <p:nvPr/>
        </p:nvSpPr>
        <p:spPr>
          <a:xfrm>
            <a:off x="831272" y="472431"/>
            <a:ext cx="5070763" cy="5714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D46A"/>
                </a:solidFill>
              </a:defRPr>
            </a:pPr>
            <a:r>
              <a:rPr sz="2000" b="1" dirty="0">
                <a:solidFill>
                  <a:srgbClr val="00D46A"/>
                </a:solidFill>
                <a:latin typeface="+mn-ea"/>
              </a:rPr>
              <a:t>Content / </a:t>
            </a:r>
            <a:r>
              <a:rPr sz="2000" b="1" dirty="0" err="1">
                <a:solidFill>
                  <a:srgbClr val="00D46A"/>
                </a:solidFill>
                <a:latin typeface="+mn-ea"/>
              </a:rPr>
              <a:t>目录</a:t>
            </a:r>
            <a:endParaRPr sz="2000" b="1" dirty="0">
              <a:solidFill>
                <a:srgbClr val="00D46A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D674CC-695F-4B8F-BE08-578FA15E40BE}"/>
              </a:ext>
            </a:extLst>
          </p:cNvPr>
          <p:cNvSpPr>
            <a:spLocks noGrp="1"/>
          </p:cNvSpPr>
          <p:nvPr/>
        </p:nvSpPr>
        <p:spPr>
          <a:xfrm>
            <a:off x="1425285" y="1106236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F4F7F5"/>
                </a:solidFill>
              </a:defRPr>
            </a:pPr>
            <a:r>
              <a:rPr sz="2250" b="1" dirty="0" err="1">
                <a:solidFill>
                  <a:srgbClr val="F4F7F5"/>
                </a:solidFill>
              </a:rPr>
              <a:t>今天</a:t>
            </a:r>
            <a:r>
              <a:rPr lang="zh-CN" altLang="en-US" sz="2250" b="1" dirty="0">
                <a:solidFill>
                  <a:srgbClr val="F4F7F5"/>
                </a:solidFill>
              </a:rPr>
              <a:t>聊什么？</a:t>
            </a:r>
            <a:endParaRPr sz="2250" b="1" dirty="0">
              <a:solidFill>
                <a:srgbClr val="F4F7F5"/>
              </a:solidFill>
            </a:endParaRP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E3F11747-2D09-40C1-AF8B-B1C6A5A10993}"/>
              </a:ext>
            </a:extLst>
          </p:cNvPr>
          <p:cNvSpPr>
            <a:spLocks noGrp="1"/>
          </p:cNvSpPr>
          <p:nvPr/>
        </p:nvSpPr>
        <p:spPr>
          <a:xfrm flipV="1">
            <a:off x="1547420" y="1691772"/>
            <a:ext cx="1513279" cy="2950"/>
          </a:xfrm>
          <a:prstGeom prst="line">
            <a:avLst/>
          </a:prstGeom>
          <a:noFill/>
          <a:ln w="38100">
            <a:solidFill>
              <a:srgbClr val="00D4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F792D4-67A9-4F4C-BE96-E91A984A02D4}"/>
              </a:ext>
            </a:extLst>
          </p:cNvPr>
          <p:cNvSpPr>
            <a:spLocks noGrp="1"/>
          </p:cNvSpPr>
          <p:nvPr/>
        </p:nvSpPr>
        <p:spPr>
          <a:xfrm>
            <a:off x="3617521" y="23274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rgbClr val="00D46A"/>
                </a:solidFill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C84BBF-B8A0-4085-BCCE-A3E85DCC81F2}"/>
              </a:ext>
            </a:extLst>
          </p:cNvPr>
          <p:cNvSpPr>
            <a:spLocks noGrp="1"/>
          </p:cNvSpPr>
          <p:nvPr/>
        </p:nvSpPr>
        <p:spPr>
          <a:xfrm>
            <a:off x="4417621" y="22703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7F5"/>
                </a:solidFill>
              </a:defRPr>
            </a:pPr>
            <a:r>
              <a:rPr lang="zh-CN" altLang="en-US" dirty="0"/>
              <a:t>看见变化：趋势与就业</a:t>
            </a:r>
            <a:endParaRPr sz="1800" b="1" dirty="0">
              <a:solidFill>
                <a:srgbClr val="F4F7F5"/>
              </a:solidFill>
            </a:endParaRP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0F0E8C8D-A7F1-49D6-9D61-FFACD0C6FD2D}"/>
              </a:ext>
            </a:extLst>
          </p:cNvPr>
          <p:cNvSpPr>
            <a:spLocks noGrp="1"/>
          </p:cNvSpPr>
          <p:nvPr/>
        </p:nvSpPr>
        <p:spPr>
          <a:xfrm>
            <a:off x="4417621" y="27275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79E6A9-7061-4521-8F7A-1D2BEC8B0FFA}"/>
              </a:ext>
            </a:extLst>
          </p:cNvPr>
          <p:cNvSpPr>
            <a:spLocks noGrp="1"/>
          </p:cNvSpPr>
          <p:nvPr/>
        </p:nvSpPr>
        <p:spPr>
          <a:xfrm>
            <a:off x="3617521" y="30513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rgbClr val="00D46A"/>
                </a:solidFill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620D95-FBC1-494F-ADE7-B8C02668E115}"/>
              </a:ext>
            </a:extLst>
          </p:cNvPr>
          <p:cNvSpPr>
            <a:spLocks noGrp="1"/>
          </p:cNvSpPr>
          <p:nvPr/>
        </p:nvSpPr>
        <p:spPr>
          <a:xfrm>
            <a:off x="4417621" y="29942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7F5"/>
                </a:solidFill>
              </a:defRPr>
            </a:pPr>
            <a:r>
              <a:rPr lang="zh-CN" altLang="en-US" dirty="0"/>
              <a:t>找到方向：职业与岗位</a:t>
            </a:r>
            <a:endParaRPr sz="1800" b="1" dirty="0">
              <a:solidFill>
                <a:srgbClr val="F4F7F5"/>
              </a:solidFill>
            </a:endParaRP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52ED2723-BEBD-45F3-88D5-323D375A1E70}"/>
              </a:ext>
            </a:extLst>
          </p:cNvPr>
          <p:cNvSpPr>
            <a:spLocks noGrp="1"/>
          </p:cNvSpPr>
          <p:nvPr/>
        </p:nvSpPr>
        <p:spPr>
          <a:xfrm>
            <a:off x="4417621" y="34514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B64C9C-5152-414C-8C7A-82A47CAB7E0F}"/>
              </a:ext>
            </a:extLst>
          </p:cNvPr>
          <p:cNvSpPr>
            <a:spLocks noGrp="1"/>
          </p:cNvSpPr>
          <p:nvPr/>
        </p:nvSpPr>
        <p:spPr>
          <a:xfrm>
            <a:off x="3617521" y="37752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rgbClr val="00D46A"/>
                </a:solidFill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5659C9-2AE2-43A9-B4F8-85C4D22FDCCD}"/>
              </a:ext>
            </a:extLst>
          </p:cNvPr>
          <p:cNvSpPr>
            <a:spLocks noGrp="1"/>
          </p:cNvSpPr>
          <p:nvPr/>
        </p:nvSpPr>
        <p:spPr>
          <a:xfrm>
            <a:off x="4417621" y="37181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F4F7F5"/>
                </a:solidFill>
              </a:defRPr>
            </a:pPr>
            <a:r>
              <a:rPr lang="zh-CN" altLang="en-US" sz="1800" b="1" dirty="0">
                <a:solidFill>
                  <a:srgbClr val="F4F7F5"/>
                </a:solidFill>
              </a:rPr>
              <a:t>理解企业：能力与成长</a:t>
            </a:r>
            <a:endParaRPr sz="1800" b="1" dirty="0">
              <a:solidFill>
                <a:srgbClr val="F4F7F5"/>
              </a:solidFill>
            </a:endParaRPr>
          </a:p>
        </p:txBody>
      </p:sp>
      <p:sp>
        <p:nvSpPr>
          <p:cNvPr id="12" name="直线连接符 11">
            <a:extLst>
              <a:ext uri="{FF2B5EF4-FFF2-40B4-BE49-F238E27FC236}">
                <a16:creationId xmlns:a16="http://schemas.microsoft.com/office/drawing/2014/main" id="{83106CB5-0B10-4D4D-BBDB-EBFAB3FA748A}"/>
              </a:ext>
            </a:extLst>
          </p:cNvPr>
          <p:cNvSpPr>
            <a:spLocks noGrp="1"/>
          </p:cNvSpPr>
          <p:nvPr/>
        </p:nvSpPr>
        <p:spPr>
          <a:xfrm>
            <a:off x="4417621" y="41753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61A9AB-0531-4859-8819-866C45B90B1F}"/>
              </a:ext>
            </a:extLst>
          </p:cNvPr>
          <p:cNvSpPr>
            <a:spLocks noGrp="1"/>
          </p:cNvSpPr>
          <p:nvPr/>
        </p:nvSpPr>
        <p:spPr>
          <a:xfrm>
            <a:off x="3617521" y="44991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rgbClr val="00D46A"/>
                </a:solidFill>
              </a:rPr>
              <a:t>04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0BBA15-D1F6-4930-9D45-1FF510EE3777}"/>
              </a:ext>
            </a:extLst>
          </p:cNvPr>
          <p:cNvSpPr>
            <a:spLocks noGrp="1"/>
          </p:cNvSpPr>
          <p:nvPr/>
        </p:nvSpPr>
        <p:spPr>
          <a:xfrm>
            <a:off x="4417621" y="44420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F4F7F5"/>
                </a:solidFill>
              </a:defRPr>
            </a:pPr>
            <a:r>
              <a:rPr lang="zh-CN" altLang="en-US" b="1" dirty="0">
                <a:solidFill>
                  <a:srgbClr val="F4F7F5"/>
                </a:solidFill>
              </a:rPr>
              <a:t>准备行动：求职与</a:t>
            </a:r>
            <a:r>
              <a:rPr lang="en-US" altLang="zh-CN" b="1" dirty="0">
                <a:solidFill>
                  <a:srgbClr val="F4F7F5"/>
                </a:solidFill>
              </a:rPr>
              <a:t>AI</a:t>
            </a:r>
            <a:endParaRPr sz="1800" b="1" dirty="0">
              <a:solidFill>
                <a:srgbClr val="F4F7F5"/>
              </a:solidFill>
            </a:endParaRPr>
          </a:p>
        </p:txBody>
      </p:sp>
      <p:sp>
        <p:nvSpPr>
          <p:cNvPr id="15" name="直线连接符 14">
            <a:extLst>
              <a:ext uri="{FF2B5EF4-FFF2-40B4-BE49-F238E27FC236}">
                <a16:creationId xmlns:a16="http://schemas.microsoft.com/office/drawing/2014/main" id="{47D582D5-9012-4A19-A35F-7212201E02FC}"/>
              </a:ext>
            </a:extLst>
          </p:cNvPr>
          <p:cNvSpPr>
            <a:spLocks noGrp="1"/>
          </p:cNvSpPr>
          <p:nvPr/>
        </p:nvSpPr>
        <p:spPr>
          <a:xfrm>
            <a:off x="4417621" y="48992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257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0F572-4028-48B4-B073-547CF2E65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2900"/>
            <a:ext cx="10668000" cy="685800"/>
          </a:xfrm>
        </p:spPr>
        <p:txBody>
          <a:bodyPr/>
          <a:lstStyle/>
          <a:p>
            <a:r>
              <a:rPr dirty="0" err="1"/>
              <a:t>职业规划不是选定终身岗位，而是</a:t>
            </a:r>
            <a:r>
              <a:rPr lang="zh-CN" altLang="en-US" dirty="0"/>
              <a:t>一系列行动</a:t>
            </a:r>
            <a:endParaRPr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4EAB73E-0961-4CD9-9A55-5DB1CF0B1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237" y="1159988"/>
            <a:ext cx="10858500" cy="5553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职业发展五步模型：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682011ED-8BA4-69FF-6752-C0C587603C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5325417"/>
              </p:ext>
            </p:extLst>
          </p:nvPr>
        </p:nvGraphicFramePr>
        <p:xfrm>
          <a:off x="882237" y="1715325"/>
          <a:ext cx="6412675" cy="3948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67896729-48A9-D4B1-CA47-31E17BBF0493}"/>
              </a:ext>
            </a:extLst>
          </p:cNvPr>
          <p:cNvSpPr txBox="1"/>
          <p:nvPr/>
        </p:nvSpPr>
        <p:spPr>
          <a:xfrm>
            <a:off x="6192734" y="4541641"/>
            <a:ext cx="60979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zh-CN" altLang="en-US" dirty="0"/>
            </a:br>
            <a:r>
              <a:rPr lang="zh-CN" altLang="en-US" dirty="0"/>
              <a:t>不要等“完全准备好了”才开始。</a:t>
            </a:r>
            <a:endParaRPr lang="en-US" altLang="zh-CN" dirty="0"/>
          </a:p>
          <a:p>
            <a:br>
              <a:rPr lang="zh-CN" altLang="en-US" dirty="0"/>
            </a:br>
            <a:r>
              <a:rPr lang="zh-CN" altLang="en-US" dirty="0"/>
              <a:t>很多能力是在真实项目、实习和面试反馈中建立起来的。</a:t>
            </a:r>
          </a:p>
        </p:txBody>
      </p:sp>
    </p:spTree>
    <p:extLst>
      <p:ext uri="{BB962C8B-B14F-4D97-AF65-F5344CB8AC3E}">
        <p14:creationId xmlns:p14="http://schemas.microsoft.com/office/powerpoint/2010/main" val="2012342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AB1638B-4F61-4C46-8BD2-0F6899EA5292}"/>
              </a:ext>
            </a:extLst>
          </p:cNvPr>
          <p:cNvSpPr>
            <a:spLocks noGrp="1"/>
          </p:cNvSpPr>
          <p:nvPr/>
        </p:nvSpPr>
        <p:spPr>
          <a:xfrm>
            <a:off x="831272" y="472431"/>
            <a:ext cx="5070763" cy="5714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D46A"/>
                </a:solidFill>
              </a:defRPr>
            </a:pPr>
            <a:r>
              <a:rPr sz="2000" b="1" dirty="0">
                <a:solidFill>
                  <a:srgbClr val="00D46A"/>
                </a:solidFill>
                <a:latin typeface="+mn-ea"/>
              </a:rPr>
              <a:t>Content / </a:t>
            </a:r>
            <a:r>
              <a:rPr sz="2000" b="1" dirty="0" err="1">
                <a:solidFill>
                  <a:srgbClr val="00D46A"/>
                </a:solidFill>
                <a:latin typeface="+mn-ea"/>
              </a:rPr>
              <a:t>目录</a:t>
            </a:r>
            <a:endParaRPr sz="2000" b="1" dirty="0">
              <a:solidFill>
                <a:srgbClr val="00D46A"/>
              </a:solidFill>
              <a:latin typeface="+mn-ea"/>
            </a:endParaRP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E3F11747-2D09-40C1-AF8B-B1C6A5A10993}"/>
              </a:ext>
            </a:extLst>
          </p:cNvPr>
          <p:cNvSpPr>
            <a:spLocks noGrp="1"/>
          </p:cNvSpPr>
          <p:nvPr/>
        </p:nvSpPr>
        <p:spPr>
          <a:xfrm flipV="1">
            <a:off x="1547420" y="1040964"/>
            <a:ext cx="1513279" cy="2950"/>
          </a:xfrm>
          <a:prstGeom prst="line">
            <a:avLst/>
          </a:prstGeom>
          <a:noFill/>
          <a:ln w="38100">
            <a:solidFill>
              <a:srgbClr val="00D4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F792D4-67A9-4F4C-BE96-E91A984A02D4}"/>
              </a:ext>
            </a:extLst>
          </p:cNvPr>
          <p:cNvSpPr>
            <a:spLocks noGrp="1"/>
          </p:cNvSpPr>
          <p:nvPr/>
        </p:nvSpPr>
        <p:spPr>
          <a:xfrm>
            <a:off x="3617521" y="23274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rgbClr val="00D46A"/>
                </a:solidFill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C84BBF-B8A0-4085-BCCE-A3E85DCC81F2}"/>
              </a:ext>
            </a:extLst>
          </p:cNvPr>
          <p:cNvSpPr>
            <a:spLocks noGrp="1"/>
          </p:cNvSpPr>
          <p:nvPr/>
        </p:nvSpPr>
        <p:spPr>
          <a:xfrm>
            <a:off x="4417621" y="22703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7F5"/>
                </a:solidFill>
              </a:defRPr>
            </a:pPr>
            <a:r>
              <a:rPr lang="zh-CN" altLang="en-US" dirty="0"/>
              <a:t>看见变化：趋势与就业</a:t>
            </a:r>
            <a:endParaRPr sz="1800" b="1" dirty="0">
              <a:solidFill>
                <a:srgbClr val="F4F7F5"/>
              </a:solidFill>
            </a:endParaRP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0F0E8C8D-A7F1-49D6-9D61-FFACD0C6FD2D}"/>
              </a:ext>
            </a:extLst>
          </p:cNvPr>
          <p:cNvSpPr>
            <a:spLocks noGrp="1"/>
          </p:cNvSpPr>
          <p:nvPr/>
        </p:nvSpPr>
        <p:spPr>
          <a:xfrm>
            <a:off x="4417621" y="27275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79E6A9-7061-4521-8F7A-1D2BEC8B0FFA}"/>
              </a:ext>
            </a:extLst>
          </p:cNvPr>
          <p:cNvSpPr>
            <a:spLocks noGrp="1"/>
          </p:cNvSpPr>
          <p:nvPr/>
        </p:nvSpPr>
        <p:spPr>
          <a:xfrm>
            <a:off x="3617521" y="30513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620D95-FBC1-494F-ADE7-B8C02668E115}"/>
              </a:ext>
            </a:extLst>
          </p:cNvPr>
          <p:cNvSpPr>
            <a:spLocks noGrp="1"/>
          </p:cNvSpPr>
          <p:nvPr/>
        </p:nvSpPr>
        <p:spPr>
          <a:xfrm>
            <a:off x="4417621" y="29942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7F5"/>
                </a:solidFill>
              </a:defRPr>
            </a:pPr>
            <a:r>
              <a:rPr lang="zh-CN" altLang="en-US" dirty="0">
                <a:solidFill>
                  <a:schemeClr val="bg1"/>
                </a:solidFill>
              </a:rPr>
              <a:t>找到方向：职业与岗位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52ED2723-BEBD-45F3-88D5-323D375A1E70}"/>
              </a:ext>
            </a:extLst>
          </p:cNvPr>
          <p:cNvSpPr>
            <a:spLocks noGrp="1"/>
          </p:cNvSpPr>
          <p:nvPr/>
        </p:nvSpPr>
        <p:spPr>
          <a:xfrm>
            <a:off x="4417621" y="34514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B64C9C-5152-414C-8C7A-82A47CAB7E0F}"/>
              </a:ext>
            </a:extLst>
          </p:cNvPr>
          <p:cNvSpPr>
            <a:spLocks noGrp="1"/>
          </p:cNvSpPr>
          <p:nvPr/>
        </p:nvSpPr>
        <p:spPr>
          <a:xfrm>
            <a:off x="3617521" y="37752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5659C9-2AE2-43A9-B4F8-85C4D22FDCCD}"/>
              </a:ext>
            </a:extLst>
          </p:cNvPr>
          <p:cNvSpPr>
            <a:spLocks noGrp="1"/>
          </p:cNvSpPr>
          <p:nvPr/>
        </p:nvSpPr>
        <p:spPr>
          <a:xfrm>
            <a:off x="4417621" y="37181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F4F7F5"/>
                </a:solidFill>
              </a:defRPr>
            </a:pPr>
            <a:r>
              <a:rPr lang="zh-CN" altLang="en-US" sz="1800" b="1" dirty="0">
                <a:solidFill>
                  <a:schemeClr val="bg1"/>
                </a:solidFill>
              </a:rPr>
              <a:t>理解企业：能力与成长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12" name="直线连接符 11">
            <a:extLst>
              <a:ext uri="{FF2B5EF4-FFF2-40B4-BE49-F238E27FC236}">
                <a16:creationId xmlns:a16="http://schemas.microsoft.com/office/drawing/2014/main" id="{83106CB5-0B10-4D4D-BBDB-EBFAB3FA748A}"/>
              </a:ext>
            </a:extLst>
          </p:cNvPr>
          <p:cNvSpPr>
            <a:spLocks noGrp="1"/>
          </p:cNvSpPr>
          <p:nvPr/>
        </p:nvSpPr>
        <p:spPr>
          <a:xfrm>
            <a:off x="4417621" y="41753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61A9AB-0531-4859-8819-866C45B90B1F}"/>
              </a:ext>
            </a:extLst>
          </p:cNvPr>
          <p:cNvSpPr>
            <a:spLocks noGrp="1"/>
          </p:cNvSpPr>
          <p:nvPr/>
        </p:nvSpPr>
        <p:spPr>
          <a:xfrm>
            <a:off x="3617521" y="44991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0BBA15-D1F6-4930-9D45-1FF510EE3777}"/>
              </a:ext>
            </a:extLst>
          </p:cNvPr>
          <p:cNvSpPr>
            <a:spLocks noGrp="1"/>
          </p:cNvSpPr>
          <p:nvPr/>
        </p:nvSpPr>
        <p:spPr>
          <a:xfrm>
            <a:off x="4417621" y="44420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F4F7F5"/>
                </a:solidFill>
              </a:defRPr>
            </a:pPr>
            <a:r>
              <a:rPr lang="zh-CN" altLang="en-US" b="1" dirty="0">
                <a:solidFill>
                  <a:schemeClr val="bg1"/>
                </a:solidFill>
              </a:rPr>
              <a:t>准备行动：求职与</a:t>
            </a:r>
            <a:r>
              <a:rPr lang="en-US" altLang="zh-CN" b="1" dirty="0">
                <a:solidFill>
                  <a:schemeClr val="bg1"/>
                </a:solidFill>
              </a:rPr>
              <a:t>AI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15" name="直线连接符 14">
            <a:extLst>
              <a:ext uri="{FF2B5EF4-FFF2-40B4-BE49-F238E27FC236}">
                <a16:creationId xmlns:a16="http://schemas.microsoft.com/office/drawing/2014/main" id="{47D582D5-9012-4A19-A35F-7212201E02FC}"/>
              </a:ext>
            </a:extLst>
          </p:cNvPr>
          <p:cNvSpPr>
            <a:spLocks noGrp="1"/>
          </p:cNvSpPr>
          <p:nvPr/>
        </p:nvSpPr>
        <p:spPr>
          <a:xfrm>
            <a:off x="4417621" y="48992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20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6E29A-2CA1-4922-8A1E-CF241393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2900"/>
            <a:ext cx="10668000" cy="685800"/>
          </a:xfrm>
        </p:spPr>
        <p:txBody>
          <a:bodyPr/>
          <a:lstStyle/>
          <a:p>
            <a:r>
              <a:rPr lang="en-US" altLang="zh-CN" b="1" dirty="0"/>
              <a:t>01 </a:t>
            </a:r>
            <a:r>
              <a:rPr lang="zh-CN" altLang="en-US" b="1" dirty="0"/>
              <a:t>看见变化：</a:t>
            </a:r>
            <a:r>
              <a:rPr dirty="0" err="1"/>
              <a:t>热点不断变化，技术价值正走向平台与系统</a:t>
            </a:r>
            <a:endParaRPr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9349DD-5712-4205-A707-1CC45B6A09F2}"/>
              </a:ext>
            </a:extLst>
          </p:cNvPr>
          <p:cNvSpPr>
            <a:spLocks noGrp="1"/>
          </p:cNvSpPr>
          <p:nvPr/>
        </p:nvSpPr>
        <p:spPr>
          <a:xfrm>
            <a:off x="788276" y="1427892"/>
            <a:ext cx="10432174" cy="540000"/>
          </a:xfrm>
          <a:prstGeom prst="rect">
            <a:avLst/>
          </a:prstGeom>
          <a:solidFill>
            <a:srgbClr val="11D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t>2016—2018｜移动互联网、App、小程序、大数据、云计算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E369BF-8B6D-4599-B2F3-9D759B09FDE0}"/>
              </a:ext>
            </a:extLst>
          </p:cNvPr>
          <p:cNvSpPr>
            <a:spLocks noGrp="1"/>
          </p:cNvSpPr>
          <p:nvPr/>
        </p:nvSpPr>
        <p:spPr>
          <a:xfrm>
            <a:off x="788276" y="2367084"/>
            <a:ext cx="9689224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t>2018—2020｜微服务、Kubernetes、DevOps、云原生、中台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6B5186-937E-4612-AF88-7810F44A3F36}"/>
              </a:ext>
            </a:extLst>
          </p:cNvPr>
          <p:cNvSpPr>
            <a:spLocks noGrp="1"/>
          </p:cNvSpPr>
          <p:nvPr/>
        </p:nvSpPr>
        <p:spPr>
          <a:xfrm>
            <a:off x="788276" y="3429001"/>
            <a:ext cx="8831974" cy="540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dirty="0"/>
              <a:t>2020—2022｜产业数字化、信创、工业互联网、安全、5G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CDDB13-A1A0-4974-AA46-7F0320E95464}"/>
              </a:ext>
            </a:extLst>
          </p:cNvPr>
          <p:cNvSpPr>
            <a:spLocks noGrp="1"/>
          </p:cNvSpPr>
          <p:nvPr/>
        </p:nvSpPr>
        <p:spPr>
          <a:xfrm>
            <a:off x="788276" y="4355225"/>
            <a:ext cx="7947162" cy="540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t>2022—2024｜AIGC、大模型、RAG、MLOps、向量数据库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D1D374-70F8-49D9-958D-1748B1FF81FD}"/>
              </a:ext>
            </a:extLst>
          </p:cNvPr>
          <p:cNvSpPr>
            <a:spLocks noGrp="1"/>
          </p:cNvSpPr>
          <p:nvPr/>
        </p:nvSpPr>
        <p:spPr>
          <a:xfrm>
            <a:off x="788276" y="5281449"/>
            <a:ext cx="7041274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dirty="0">
                <a:solidFill>
                  <a:schemeClr val="bg1"/>
                </a:solidFill>
              </a:rPr>
              <a:t>2024—2026｜AI </a:t>
            </a:r>
            <a:r>
              <a:rPr dirty="0" err="1">
                <a:solidFill>
                  <a:schemeClr val="bg1"/>
                </a:solidFill>
              </a:rPr>
              <a:t>Agent、AI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Infra、推理优化、具身智能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35E51B-1463-8C06-EAB5-A1A02F86D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0" y="1343161"/>
            <a:ext cx="973548" cy="973548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F5C0DD0-E0C7-9DFD-D3B1-F685130B8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501" y="2146853"/>
            <a:ext cx="1140999" cy="973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01C3F5E-5A9D-687F-6030-4C9105A68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1452" y="3093828"/>
            <a:ext cx="1067972" cy="97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6B2E832-69B8-AF6B-5724-C3A7429FE1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559" y="4104932"/>
            <a:ext cx="1129825" cy="10007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44D6C06-6012-ADF5-1080-B1D94B8862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9724" y="5226162"/>
            <a:ext cx="1129825" cy="85484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0DC8D03-1C9E-A728-A841-7F8B2E5EAC9A}"/>
              </a:ext>
            </a:extLst>
          </p:cNvPr>
          <p:cNvSpPr txBox="1"/>
          <p:nvPr/>
        </p:nvSpPr>
        <p:spPr>
          <a:xfrm>
            <a:off x="788276" y="6201461"/>
            <a:ext cx="11035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从做应用，走向做系统、做平台，再走向</a:t>
            </a:r>
            <a:r>
              <a:rPr lang="en" altLang="zh-CN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AI</a:t>
            </a: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工程化落地。</a:t>
            </a:r>
          </a:p>
        </p:txBody>
      </p:sp>
    </p:spTree>
    <p:extLst>
      <p:ext uri="{BB962C8B-B14F-4D97-AF65-F5344CB8AC3E}">
        <p14:creationId xmlns:p14="http://schemas.microsoft.com/office/powerpoint/2010/main" val="1008615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6E29A-2CA1-4922-8A1E-CF241393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2900"/>
            <a:ext cx="10668000" cy="685800"/>
          </a:xfrm>
        </p:spPr>
        <p:txBody>
          <a:bodyPr/>
          <a:lstStyle/>
          <a:p>
            <a:r>
              <a:rPr lang="en-US" altLang="zh-CN" b="1" dirty="0"/>
              <a:t>01 </a:t>
            </a:r>
            <a:r>
              <a:rPr lang="zh-CN" altLang="en-US" b="1" dirty="0"/>
              <a:t>看见变化：</a:t>
            </a:r>
            <a:r>
              <a:rPr lang="en" altLang="zh-CN" dirty="0"/>
              <a:t>AI</a:t>
            </a:r>
            <a:r>
              <a:rPr lang="zh-CN" altLang="en-US" dirty="0"/>
              <a:t>时代，技术行业正在往哪里走？</a:t>
            </a:r>
            <a:endParaRPr lang="zh-CN" altLang="en-US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F84AD4-565D-B277-A1D0-F571712FE8B8}"/>
              </a:ext>
            </a:extLst>
          </p:cNvPr>
          <p:cNvSpPr txBox="1"/>
          <p:nvPr/>
        </p:nvSpPr>
        <p:spPr>
          <a:xfrm>
            <a:off x="669472" y="1107666"/>
            <a:ext cx="4809877" cy="3587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国内趋势：十五五重点方向</a:t>
            </a:r>
          </a:p>
          <a:p>
            <a:pPr>
              <a:lnSpc>
                <a:spcPct val="200000"/>
              </a:lnSpc>
            </a:pPr>
            <a:r>
              <a:rPr lang="zh-CN" altLang="en-US" dirty="0"/>
              <a:t>“</a:t>
            </a:r>
            <a:r>
              <a:rPr lang="zh-CN" altLang="en-US" sz="1600" dirty="0"/>
              <a:t>十五五”强调前瞻布局未来产业，重点关注：</a:t>
            </a:r>
          </a:p>
          <a:p>
            <a:pPr>
              <a:lnSpc>
                <a:spcPct val="200000"/>
              </a:lnSpc>
            </a:pPr>
            <a:r>
              <a:rPr lang="zh-CN" altLang="en-US" sz="1600" b="1" dirty="0"/>
              <a:t>人工智能、</a:t>
            </a:r>
            <a:r>
              <a:rPr lang="zh-CN" altLang="en-US" sz="1600" dirty="0"/>
              <a:t>量子科技、脑机接口、具身智能、第六代移动通信、</a:t>
            </a:r>
            <a:r>
              <a:rPr lang="zh-CN" altLang="en-US" sz="1600" b="1" dirty="0"/>
              <a:t>基础软件</a:t>
            </a:r>
            <a:r>
              <a:rPr lang="zh-CN" altLang="en-US" sz="1600" dirty="0"/>
              <a:t>、</a:t>
            </a:r>
            <a:r>
              <a:rPr lang="zh-CN" altLang="en-US" sz="1600" b="1" dirty="0"/>
              <a:t>算力基础设施</a:t>
            </a:r>
            <a:r>
              <a:rPr lang="en-US" altLang="zh-CN" sz="1600" b="1" dirty="0"/>
              <a:t>…….</a:t>
            </a:r>
            <a:endParaRPr lang="zh-CN" altLang="en-US" sz="1600" dirty="0"/>
          </a:p>
          <a:p>
            <a:pPr>
              <a:lnSpc>
                <a:spcPct val="200000"/>
              </a:lnSpc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这些方向背后都离不开：</a:t>
            </a:r>
          </a:p>
          <a:p>
            <a:pPr>
              <a:lnSpc>
                <a:spcPct val="200000"/>
              </a:lnSpc>
            </a:pPr>
            <a:r>
              <a:rPr lang="zh-CN" altLang="en-US" sz="1600" dirty="0"/>
              <a:t>软件开发、云平台、</a:t>
            </a:r>
            <a:r>
              <a:rPr lang="en" altLang="zh-CN" sz="1600" dirty="0"/>
              <a:t>AI</a:t>
            </a:r>
            <a:r>
              <a:rPr lang="zh-CN" altLang="en-US" sz="1600" dirty="0"/>
              <a:t>基础设施、网络安全、测试质量、产品设计。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E182975-B4EE-D8E0-260F-2975B2AE20B4}"/>
              </a:ext>
            </a:extLst>
          </p:cNvPr>
          <p:cNvSpPr txBox="1"/>
          <p:nvPr/>
        </p:nvSpPr>
        <p:spPr>
          <a:xfrm>
            <a:off x="669472" y="5107473"/>
            <a:ext cx="10668000" cy="120802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     十五五看的是未来产业，</a:t>
            </a:r>
            <a:r>
              <a:rPr lang="en-US" altLang="zh-CN" dirty="0"/>
              <a:t>2026</a:t>
            </a:r>
            <a:r>
              <a:rPr lang="zh-CN" altLang="en-US" dirty="0"/>
              <a:t>技术圈热的是</a:t>
            </a:r>
            <a:r>
              <a:rPr lang="en" altLang="zh-CN" dirty="0"/>
              <a:t>AI</a:t>
            </a:r>
            <a:r>
              <a:rPr lang="zh-CN" altLang="en-US" dirty="0"/>
              <a:t>落地，而</a:t>
            </a:r>
            <a:r>
              <a:rPr lang="en" altLang="zh-CN" dirty="0" err="1"/>
              <a:t>DaoCloud</a:t>
            </a:r>
            <a:r>
              <a:rPr lang="zh-CN" altLang="en-US" dirty="0"/>
              <a:t>所在的位置，是</a:t>
            </a:r>
            <a:r>
              <a:rPr lang="en" altLang="zh-CN" dirty="0"/>
              <a:t>AI</a:t>
            </a:r>
            <a:r>
              <a:rPr lang="zh-CN" altLang="en-US" dirty="0"/>
              <a:t>落地背后的云原生与</a:t>
            </a:r>
            <a:r>
              <a:rPr lang="en" altLang="zh-CN" dirty="0"/>
              <a:t>AI</a:t>
            </a:r>
            <a:r>
              <a:rPr lang="zh-CN" altLang="en-US" dirty="0"/>
              <a:t>基础设施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2">
                    <a:lumMod val="25000"/>
                  </a:schemeClr>
                </a:solidFill>
              </a:rPr>
              <a:t>包括</a:t>
            </a:r>
            <a:r>
              <a:rPr lang="en" altLang="zh-CN" sz="1400" dirty="0">
                <a:solidFill>
                  <a:schemeClr val="tx2">
                    <a:lumMod val="25000"/>
                  </a:schemeClr>
                </a:solidFill>
              </a:rPr>
              <a:t>Kubernetes</a:t>
            </a:r>
            <a:r>
              <a:rPr lang="zh-CN" altLang="en" sz="1400" dirty="0">
                <a:solidFill>
                  <a:schemeClr val="tx2">
                    <a:lumMod val="25000"/>
                  </a:schemeClr>
                </a:solidFill>
              </a:rPr>
              <a:t>、</a:t>
            </a:r>
            <a:r>
              <a:rPr lang="en" altLang="zh-CN" sz="1400" dirty="0">
                <a:solidFill>
                  <a:schemeClr val="tx2">
                    <a:lumMod val="25000"/>
                  </a:schemeClr>
                </a:solidFill>
              </a:rPr>
              <a:t>AI</a:t>
            </a:r>
            <a:r>
              <a:rPr lang="zh-CN" altLang="en-US" sz="1400" dirty="0">
                <a:solidFill>
                  <a:schemeClr val="tx2">
                    <a:lumMod val="25000"/>
                  </a:schemeClr>
                </a:solidFill>
              </a:rPr>
              <a:t>算力平台、大模型推理平台、模型服务、</a:t>
            </a:r>
            <a:r>
              <a:rPr lang="en" altLang="zh-CN" sz="1400" dirty="0">
                <a:solidFill>
                  <a:schemeClr val="tx2">
                    <a:lumMod val="25000"/>
                  </a:schemeClr>
                </a:solidFill>
              </a:rPr>
              <a:t>GPU/NPU</a:t>
            </a:r>
            <a:r>
              <a:rPr lang="zh-CN" altLang="en-US" sz="1400" dirty="0">
                <a:solidFill>
                  <a:schemeClr val="tx2">
                    <a:lumMod val="25000"/>
                  </a:schemeClr>
                </a:solidFill>
              </a:rPr>
              <a:t>资源管理、企业级私有云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AD84D84-EA08-0373-CB94-AABB1FBD7178}"/>
              </a:ext>
            </a:extLst>
          </p:cNvPr>
          <p:cNvSpPr txBox="1"/>
          <p:nvPr/>
        </p:nvSpPr>
        <p:spPr>
          <a:xfrm>
            <a:off x="6235700" y="1388199"/>
            <a:ext cx="4710974" cy="289534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国际技术圈热点</a:t>
            </a:r>
          </a:p>
          <a:p>
            <a:pPr>
              <a:lnSpc>
                <a:spcPct val="200000"/>
              </a:lnSpc>
            </a:pPr>
            <a:r>
              <a:rPr lang="en-US" altLang="zh-CN" sz="1600" dirty="0"/>
              <a:t>2026</a:t>
            </a:r>
            <a:r>
              <a:rPr lang="zh-CN" altLang="en-US" sz="1600" dirty="0"/>
              <a:t>年全球技术热点集中在：</a:t>
            </a:r>
          </a:p>
          <a:p>
            <a:pPr>
              <a:lnSpc>
                <a:spcPct val="200000"/>
              </a:lnSpc>
            </a:pPr>
            <a:r>
              <a:rPr lang="en" altLang="zh-CN" sz="1600" b="1" dirty="0"/>
              <a:t>AI Agent</a:t>
            </a:r>
            <a:r>
              <a:rPr lang="zh-CN" altLang="en" sz="1600" b="1" dirty="0"/>
              <a:t>、</a:t>
            </a:r>
            <a:r>
              <a:rPr lang="en" altLang="zh-CN" sz="1600" b="1" dirty="0"/>
              <a:t>AI Infra</a:t>
            </a:r>
            <a:r>
              <a:rPr lang="zh-CN" altLang="en" sz="1600" b="1" dirty="0"/>
              <a:t>、</a:t>
            </a:r>
            <a:r>
              <a:rPr lang="zh-CN" altLang="en-US" sz="1600" b="1" dirty="0"/>
              <a:t>大模型推理、</a:t>
            </a:r>
            <a:r>
              <a:rPr lang="en" altLang="zh-CN" sz="1600" b="1" dirty="0"/>
              <a:t>GPU/NPU</a:t>
            </a:r>
            <a:r>
              <a:rPr lang="zh-CN" altLang="en" sz="1600" b="1" dirty="0"/>
              <a:t>、</a:t>
            </a:r>
            <a:r>
              <a:rPr lang="zh-CN" altLang="en-US" sz="1600" b="1" dirty="0"/>
              <a:t>云原生、</a:t>
            </a:r>
            <a:r>
              <a:rPr lang="en" altLang="zh-CN" sz="1600" b="1" dirty="0"/>
              <a:t>Kubernetes</a:t>
            </a:r>
            <a:r>
              <a:rPr lang="zh-CN" altLang="en" sz="1600" b="1" dirty="0"/>
              <a:t>、</a:t>
            </a:r>
            <a:r>
              <a:rPr lang="en" altLang="zh-CN" sz="1600" b="1" dirty="0"/>
              <a:t>Platform Engineering</a:t>
            </a:r>
            <a:r>
              <a:rPr lang="en-US" altLang="zh-CN" sz="1600" b="1" dirty="0"/>
              <a:t>…….</a:t>
            </a:r>
            <a:endParaRPr lang="zh-CN" altLang="en-US" sz="1600" dirty="0"/>
          </a:p>
          <a:p>
            <a:pPr>
              <a:lnSpc>
                <a:spcPct val="200000"/>
              </a:lnSpc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技术行业正在从：</a:t>
            </a:r>
          </a:p>
          <a:p>
            <a:pPr>
              <a:lnSpc>
                <a:spcPct val="200000"/>
              </a:lnSpc>
            </a:pPr>
            <a:r>
              <a:rPr lang="zh-CN" altLang="en-US" sz="1600" dirty="0"/>
              <a:t>写功能 → 做系统 → 做平台 → 做</a:t>
            </a:r>
            <a:r>
              <a:rPr lang="en" altLang="zh-CN" sz="1600" dirty="0"/>
              <a:t>AI</a:t>
            </a:r>
            <a:r>
              <a:rPr lang="zh-CN" altLang="en-US" sz="1600" dirty="0"/>
              <a:t>落地基础设施</a:t>
            </a:r>
          </a:p>
        </p:txBody>
      </p:sp>
    </p:spTree>
    <p:extLst>
      <p:ext uri="{BB962C8B-B14F-4D97-AF65-F5344CB8AC3E}">
        <p14:creationId xmlns:p14="http://schemas.microsoft.com/office/powerpoint/2010/main" val="980477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6E29A-2CA1-4922-8A1E-CF241393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2900"/>
            <a:ext cx="10668000" cy="685800"/>
          </a:xfrm>
        </p:spPr>
        <p:txBody>
          <a:bodyPr/>
          <a:lstStyle/>
          <a:p>
            <a:r>
              <a:rPr lang="en-US" altLang="zh-CN" b="1" dirty="0"/>
              <a:t>01 </a:t>
            </a:r>
            <a:r>
              <a:rPr lang="zh-CN" altLang="en-US" b="1" dirty="0"/>
              <a:t>看见变化：产业机会正在迁移，人才标准正在升级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6AC4280-3FB7-D311-A298-67957B15B86A}"/>
              </a:ext>
            </a:extLst>
          </p:cNvPr>
          <p:cNvSpPr/>
          <p:nvPr/>
        </p:nvSpPr>
        <p:spPr>
          <a:xfrm>
            <a:off x="901700" y="1164336"/>
            <a:ext cx="9875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7C4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从宏观趋势到个人就业：机会在变，企业判断人才的方式也在变</a:t>
            </a:r>
            <a:endParaRPr lang="en-US" sz="1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2EF899E-BC98-4F01-84C1-08B5A5B1819D}"/>
              </a:ext>
            </a:extLst>
          </p:cNvPr>
          <p:cNvSpPr/>
          <p:nvPr/>
        </p:nvSpPr>
        <p:spPr>
          <a:xfrm>
            <a:off x="2230120" y="1569595"/>
            <a:ext cx="6080760" cy="329184"/>
          </a:xfrm>
          <a:prstGeom prst="rect">
            <a:avLst/>
          </a:prstGeom>
          <a:solidFill>
            <a:srgbClr val="0E7D37">
              <a:alpha val="92000"/>
            </a:srgbClr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E9FF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产业变化  →  岗位变化  →  能力变化</a:t>
            </a:r>
            <a:endParaRPr lang="en-US" sz="175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F716B7-C769-D68F-72BA-86E8030DA438}"/>
              </a:ext>
            </a:extLst>
          </p:cNvPr>
          <p:cNvSpPr txBox="1"/>
          <p:nvPr/>
        </p:nvSpPr>
        <p:spPr>
          <a:xfrm>
            <a:off x="673100" y="2750220"/>
            <a:ext cx="4902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1600" b="1" dirty="0"/>
              <a:t>AI</a:t>
            </a:r>
            <a:r>
              <a:rPr lang="zh-CN" altLang="en-US" sz="1600" b="1" dirty="0"/>
              <a:t>与智能系统</a:t>
            </a:r>
            <a:br>
              <a:rPr lang="zh-CN" altLang="en-US" sz="1600" dirty="0"/>
            </a:br>
            <a:r>
              <a:rPr lang="zh-CN" altLang="en-US" sz="1600" dirty="0"/>
              <a:t>大模型、具身智能、脑机接口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基础软件与产业软件</a:t>
            </a:r>
            <a:br>
              <a:rPr lang="zh-CN" altLang="en-US" sz="1600" dirty="0"/>
            </a:br>
            <a:r>
              <a:rPr lang="zh-CN" altLang="en-US" sz="1600" dirty="0"/>
              <a:t>操作系统、数据库、中间件、工业软件</a:t>
            </a:r>
          </a:p>
          <a:p>
            <a:r>
              <a:rPr lang="zh-CN" altLang="en-US" sz="1600" b="1" dirty="0"/>
              <a:t>数字基础设施</a:t>
            </a:r>
            <a:br>
              <a:rPr lang="zh-CN" altLang="en-US" sz="1600" dirty="0"/>
            </a:br>
            <a:r>
              <a:rPr lang="zh-CN" altLang="en-US" sz="1600" dirty="0"/>
              <a:t>数据平台、算力平台、云原生与安全</a:t>
            </a:r>
          </a:p>
          <a:p>
            <a:r>
              <a:rPr lang="zh-CN" altLang="en-US" sz="1600" b="1" dirty="0"/>
              <a:t>新型通信与硬件</a:t>
            </a:r>
            <a:br>
              <a:rPr lang="zh-CN" altLang="en-US" sz="1600" dirty="0"/>
            </a:br>
            <a:r>
              <a:rPr lang="en-US" altLang="zh-CN" sz="1600" dirty="0"/>
              <a:t>6</a:t>
            </a:r>
            <a:r>
              <a:rPr lang="en" altLang="zh-CN" sz="1600" dirty="0"/>
              <a:t>G</a:t>
            </a:r>
            <a:r>
              <a:rPr lang="zh-CN" altLang="en" sz="1600" dirty="0"/>
              <a:t>、</a:t>
            </a:r>
            <a:r>
              <a:rPr lang="en" altLang="zh-CN" sz="1600" dirty="0"/>
              <a:t>GPU/NPU</a:t>
            </a:r>
            <a:r>
              <a:rPr lang="zh-CN" altLang="en" sz="1600" dirty="0"/>
              <a:t>、</a:t>
            </a:r>
            <a:r>
              <a:rPr lang="zh-CN" altLang="en-US" sz="1600" dirty="0"/>
              <a:t>边缘计算</a:t>
            </a:r>
          </a:p>
          <a:p>
            <a:r>
              <a:rPr lang="zh-CN" altLang="en-US" sz="1600" b="1" dirty="0"/>
              <a:t>产业融合场景</a:t>
            </a:r>
            <a:br>
              <a:rPr lang="zh-CN" altLang="en-US" sz="1600" dirty="0"/>
            </a:br>
            <a:r>
              <a:rPr lang="zh-CN" altLang="en-US" sz="1600" dirty="0"/>
              <a:t>智能制造、新能源、生物制造与行业软件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BDF9F8-F969-04C3-7897-E708B7FA004C}"/>
              </a:ext>
            </a:extLst>
          </p:cNvPr>
          <p:cNvSpPr txBox="1"/>
          <p:nvPr/>
        </p:nvSpPr>
        <p:spPr>
          <a:xfrm>
            <a:off x="6395720" y="2849117"/>
            <a:ext cx="50342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过去</a:t>
            </a:r>
            <a:br>
              <a:rPr lang="zh-CN" altLang="en-US" sz="1600" dirty="0"/>
            </a:br>
            <a:r>
              <a:rPr lang="zh-CN" altLang="en-US" sz="1600" dirty="0"/>
              <a:t>会写代码 </a:t>
            </a:r>
            <a:r>
              <a:rPr lang="en-US" altLang="zh-CN" sz="1600" dirty="0"/>
              <a:t>+ </a:t>
            </a:r>
            <a:r>
              <a:rPr lang="zh-CN" altLang="en-US" sz="1600" dirty="0"/>
              <a:t>学历 </a:t>
            </a:r>
            <a:r>
              <a:rPr lang="en-US" altLang="zh-CN" sz="1600" dirty="0"/>
              <a:t>+ </a:t>
            </a:r>
            <a:r>
              <a:rPr lang="zh-CN" altLang="en-US" sz="1600" dirty="0"/>
              <a:t>基础项目，就可能获得机会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现在</a:t>
            </a:r>
            <a:br>
              <a:rPr lang="zh-CN" altLang="en-US" sz="1600" dirty="0"/>
            </a:br>
            <a:r>
              <a:rPr lang="zh-CN" altLang="en-US" sz="1600" dirty="0"/>
              <a:t>真实项目、工程能力、</a:t>
            </a:r>
            <a:r>
              <a:rPr lang="en" altLang="zh-CN" sz="1600" dirty="0"/>
              <a:t>AI</a:t>
            </a:r>
            <a:r>
              <a:rPr lang="zh-CN" altLang="en-US" sz="1600" dirty="0"/>
              <a:t>素养与解决问题能力更重要</a:t>
            </a:r>
          </a:p>
          <a:p>
            <a:r>
              <a:rPr lang="zh-CN" altLang="en-US" sz="1600" b="1" dirty="0"/>
              <a:t>未来</a:t>
            </a:r>
            <a:br>
              <a:rPr lang="zh-CN" altLang="en-US" sz="1600" dirty="0"/>
            </a:br>
            <a:r>
              <a:rPr lang="zh-CN" altLang="en-US" sz="1600" dirty="0"/>
              <a:t>低门槛重复工作减少，复合型、系统型和平台型岗位增加</a:t>
            </a:r>
          </a:p>
          <a:p>
            <a:r>
              <a:rPr lang="zh-CN" altLang="en-US" sz="1600" b="1" dirty="0"/>
              <a:t>增长能力</a:t>
            </a:r>
            <a:br>
              <a:rPr lang="zh-CN" altLang="en-US" sz="1600" dirty="0"/>
            </a:br>
            <a:r>
              <a:rPr lang="en" altLang="zh-CN" sz="1600" dirty="0"/>
              <a:t>AI</a:t>
            </a:r>
            <a:r>
              <a:rPr lang="zh-CN" altLang="en-US" sz="1600" dirty="0"/>
              <a:t>与大数据、网络安全、技术素养、产业理解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20EF677-A20F-FE50-B6F2-6D30D6A41857}"/>
              </a:ext>
            </a:extLst>
          </p:cNvPr>
          <p:cNvSpPr/>
          <p:nvPr/>
        </p:nvSpPr>
        <p:spPr>
          <a:xfrm>
            <a:off x="673100" y="2227769"/>
            <a:ext cx="4343400" cy="365760"/>
          </a:xfrm>
          <a:prstGeom prst="rect">
            <a:avLst/>
          </a:prstGeom>
          <a:solidFill>
            <a:schemeClr val="accent1">
              <a:lumMod val="60000"/>
              <a:lumOff val="40000"/>
              <a:alpha val="92000"/>
            </a:schemeClr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/>
            <a:r>
              <a:rPr lang="en-US" sz="1750" b="1">
                <a:solidFill>
                  <a:schemeClr val="tx2">
                    <a:lumMod val="25000"/>
                  </a:schemeClr>
                </a:solidFill>
                <a:latin typeface="Microsoft YaHei" pitchFamily="34" charset="0"/>
                <a:ea typeface="Microsoft YaHei" pitchFamily="34" charset="-122"/>
              </a:rPr>
              <a:t>机会正在流向哪里？</a:t>
            </a:r>
            <a:endParaRPr lang="en-US" sz="1750" b="1" dirty="0">
              <a:solidFill>
                <a:schemeClr val="tx2">
                  <a:lumMod val="25000"/>
                </a:schemeClr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A98DF3B-7031-C0A2-C2EE-8ACA37B8FE01}"/>
              </a:ext>
            </a:extLst>
          </p:cNvPr>
          <p:cNvSpPr/>
          <p:nvPr/>
        </p:nvSpPr>
        <p:spPr>
          <a:xfrm>
            <a:off x="6304280" y="2227769"/>
            <a:ext cx="4013200" cy="365760"/>
          </a:xfrm>
          <a:prstGeom prst="rect">
            <a:avLst/>
          </a:prstGeom>
          <a:solidFill>
            <a:schemeClr val="accent1">
              <a:lumMod val="60000"/>
              <a:lumOff val="40000"/>
              <a:alpha val="92000"/>
            </a:schemeClr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/>
            <a:r>
              <a:rPr lang="en-US" sz="1750" b="1" dirty="0" err="1">
                <a:solidFill>
                  <a:schemeClr val="tx2">
                    <a:lumMod val="25000"/>
                  </a:schemeClr>
                </a:solidFill>
                <a:latin typeface="Microsoft YaHei" pitchFamily="34" charset="0"/>
                <a:ea typeface="Microsoft YaHei" pitchFamily="34" charset="-122"/>
              </a:rPr>
              <a:t>岗位要求正在怎样变化</a:t>
            </a:r>
            <a:r>
              <a:rPr lang="en-US" sz="1750" b="1" dirty="0">
                <a:solidFill>
                  <a:schemeClr val="tx2">
                    <a:lumMod val="25000"/>
                  </a:schemeClr>
                </a:solidFill>
                <a:latin typeface="Microsoft YaHei" pitchFamily="34" charset="0"/>
                <a:ea typeface="Microsoft YaHei" pitchFamily="34" charset="-122"/>
              </a:rPr>
              <a:t>？</a:t>
            </a:r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83E162C9-5A42-BBEB-17B8-A43147D07F1F}"/>
              </a:ext>
            </a:extLst>
          </p:cNvPr>
          <p:cNvSpPr/>
          <p:nvPr/>
        </p:nvSpPr>
        <p:spPr>
          <a:xfrm>
            <a:off x="673100" y="6147816"/>
            <a:ext cx="90043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1017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机会没有消失，而是在迁移；人才价值也正从“执行任务”走向“解决问题</a:t>
            </a:r>
            <a:r>
              <a:rPr lang="en-US" sz="2000" b="1" dirty="0">
                <a:solidFill>
                  <a:srgbClr val="1017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”。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19112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6E29A-2CA1-4922-8A1E-CF241393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2900"/>
            <a:ext cx="10668000" cy="685800"/>
          </a:xfrm>
        </p:spPr>
        <p:txBody>
          <a:bodyPr/>
          <a:lstStyle/>
          <a:p>
            <a:r>
              <a:rPr lang="en-US" altLang="zh-CN" dirty="0"/>
              <a:t>01.</a:t>
            </a:r>
            <a:r>
              <a:rPr dirty="0"/>
              <a:t>AI不会简单替代程序员，但会重写程序员的价值分工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9349DD-5712-4205-A707-1CC45B6A09F2}"/>
              </a:ext>
            </a:extLst>
          </p:cNvPr>
          <p:cNvSpPr>
            <a:spLocks noGrp="1"/>
          </p:cNvSpPr>
          <p:nvPr/>
        </p:nvSpPr>
        <p:spPr>
          <a:xfrm>
            <a:off x="788276" y="1590641"/>
            <a:ext cx="10432174" cy="540000"/>
          </a:xfrm>
          <a:prstGeom prst="rect">
            <a:avLst/>
          </a:prstGeom>
          <a:solidFill>
            <a:srgbClr val="11D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dirty="0" err="1"/>
              <a:t>AI擅长｜标准</a:t>
            </a:r>
            <a:r>
              <a:rPr lang="en-US" dirty="0" err="1"/>
              <a:t>代码</a:t>
            </a:r>
            <a:r>
              <a:rPr dirty="0" err="1"/>
              <a:t>、工具函数</a:t>
            </a:r>
            <a:r>
              <a:rPr lang="zh-CN" altLang="en-US" dirty="0"/>
              <a:t>和</a:t>
            </a:r>
            <a:r>
              <a:rPr lang="en" dirty="0"/>
              <a:t>Demo</a:t>
            </a:r>
            <a:r>
              <a:rPr lang="zh-CN" altLang="en-US" dirty="0"/>
              <a:t>、文档整理</a:t>
            </a:r>
            <a:r>
              <a:rPr dirty="0"/>
              <a:t>；</a:t>
            </a:r>
            <a:r>
              <a:rPr dirty="0" err="1"/>
              <a:t>复杂工程仍需人负责</a:t>
            </a:r>
            <a:endParaRPr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E369BF-8B6D-4599-B2F3-9D759B09FDE0}"/>
              </a:ext>
            </a:extLst>
          </p:cNvPr>
          <p:cNvSpPr>
            <a:spLocks noGrp="1"/>
          </p:cNvSpPr>
          <p:nvPr/>
        </p:nvSpPr>
        <p:spPr>
          <a:xfrm>
            <a:off x="788276" y="2502777"/>
            <a:ext cx="9689224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dirty="0" err="1"/>
              <a:t>工程短板｜业务耦合、并发、性能、安全与长期维护容易出错</a:t>
            </a:r>
            <a:endParaRPr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6B5186-937E-4612-AF88-7810F44A3F36}"/>
              </a:ext>
            </a:extLst>
          </p:cNvPr>
          <p:cNvSpPr>
            <a:spLocks noGrp="1"/>
          </p:cNvSpPr>
          <p:nvPr/>
        </p:nvSpPr>
        <p:spPr>
          <a:xfrm>
            <a:off x="788276" y="3429001"/>
            <a:ext cx="8831974" cy="540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t>企业选择｜成本、责任和线上兜底决定短期最优解是人机协作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CDDB13-A1A0-4974-AA46-7F0320E95464}"/>
              </a:ext>
            </a:extLst>
          </p:cNvPr>
          <p:cNvSpPr>
            <a:spLocks noGrp="1"/>
          </p:cNvSpPr>
          <p:nvPr/>
        </p:nvSpPr>
        <p:spPr>
          <a:xfrm>
            <a:off x="788276" y="4355225"/>
            <a:ext cx="7947162" cy="540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t>被压缩能力｜复制粘贴、基础编码、缺少业务与架构思考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D1D374-70F8-49D9-958D-1748B1FF81FD}"/>
              </a:ext>
            </a:extLst>
          </p:cNvPr>
          <p:cNvSpPr>
            <a:spLocks noGrp="1"/>
          </p:cNvSpPr>
          <p:nvPr/>
        </p:nvSpPr>
        <p:spPr>
          <a:xfrm>
            <a:off x="788276" y="5281449"/>
            <a:ext cx="7041274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>
                <a:solidFill>
                  <a:schemeClr val="bg1"/>
                </a:solidFill>
              </a:rPr>
              <a:t>更值钱能力｜需求拆解、架构设计、代码审核、稳定性与AI协作</a:t>
            </a:r>
          </a:p>
        </p:txBody>
      </p:sp>
    </p:spTree>
    <p:extLst>
      <p:ext uri="{BB962C8B-B14F-4D97-AF65-F5344CB8AC3E}">
        <p14:creationId xmlns:p14="http://schemas.microsoft.com/office/powerpoint/2010/main" val="1008615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6E29A-2CA1-4922-8A1E-CF241393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2900"/>
            <a:ext cx="10668000" cy="685800"/>
          </a:xfrm>
        </p:spPr>
        <p:txBody>
          <a:bodyPr/>
          <a:lstStyle/>
          <a:p>
            <a:r>
              <a:rPr lang="en-US" altLang="zh-CN" b="1" dirty="0"/>
              <a:t>01 </a:t>
            </a:r>
            <a:r>
              <a:rPr lang="zh-CN" altLang="en-US" b="1" dirty="0"/>
              <a:t>看见变化：</a:t>
            </a:r>
            <a:r>
              <a:rPr lang="zh-CN" altLang="en-US" dirty="0"/>
              <a:t>计算机大类毕业生 </a:t>
            </a:r>
            <a:r>
              <a:rPr lang="en-US" altLang="zh-CN" dirty="0"/>
              <a:t>&amp; </a:t>
            </a:r>
            <a:r>
              <a:rPr lang="zh-CN" altLang="en-US" dirty="0"/>
              <a:t>就业数据</a:t>
            </a:r>
            <a:endParaRPr lang="zh-CN" altLang="en-US" b="1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D5EBA05-ADC4-BB76-E260-A2C4DF4E9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983032"/>
              </p:ext>
            </p:extLst>
          </p:nvPr>
        </p:nvGraphicFramePr>
        <p:xfrm>
          <a:off x="807720" y="1485900"/>
          <a:ext cx="10195560" cy="4089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642167038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8223388"/>
                    </a:ext>
                  </a:extLst>
                </a:gridCol>
                <a:gridCol w="1567180">
                  <a:extLst>
                    <a:ext uri="{9D8B030D-6E8A-4147-A177-3AD203B41FA5}">
                      <a16:colId xmlns:a16="http://schemas.microsoft.com/office/drawing/2014/main" val="155829823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098620379"/>
                    </a:ext>
                  </a:extLst>
                </a:gridCol>
                <a:gridCol w="4008120">
                  <a:extLst>
                    <a:ext uri="{9D8B030D-6E8A-4147-A177-3AD203B41FA5}">
                      <a16:colId xmlns:a16="http://schemas.microsoft.com/office/drawing/2014/main" val="3661695116"/>
                    </a:ext>
                  </a:extLst>
                </a:gridCol>
              </a:tblGrid>
              <a:tr h="52699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毕业届数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本科毕业人数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毕业半年全职就业率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综合去向落实率（就业 </a:t>
                      </a:r>
                      <a:r>
                        <a:rPr lang="en-US" altLang="zh-CN" sz="1600" dirty="0">
                          <a:effectLst/>
                        </a:rPr>
                        <a:t>+ </a:t>
                      </a:r>
                      <a:r>
                        <a:rPr lang="zh-CN" altLang="en-US" sz="1600" dirty="0">
                          <a:effectLst/>
                        </a:rPr>
                        <a:t>升学）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市场核心特征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890580"/>
                  </a:ext>
                </a:extLst>
              </a:tr>
              <a:tr h="68871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2023 </a:t>
                      </a:r>
                      <a:r>
                        <a:rPr lang="zh-CN" altLang="en-US" sz="1600" dirty="0">
                          <a:effectLst/>
                        </a:rPr>
                        <a:t>届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35.2 </a:t>
                      </a:r>
                      <a:r>
                        <a:rPr lang="zh-CN" altLang="en-US" sz="1600">
                          <a:effectLst/>
                        </a:rPr>
                        <a:t>万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83.2%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87.5%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行业内卷初现，基础开发竞争加大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493013"/>
                  </a:ext>
                </a:extLst>
              </a:tr>
              <a:tr h="91142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2024 </a:t>
                      </a:r>
                      <a:r>
                        <a:rPr lang="zh-CN" altLang="en-US" sz="1600" dirty="0">
                          <a:effectLst/>
                        </a:rPr>
                        <a:t>届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36.5 </a:t>
                      </a:r>
                      <a:r>
                        <a:rPr lang="zh-CN" altLang="en-US" sz="1600" dirty="0">
                          <a:effectLst/>
                        </a:rPr>
                        <a:t>万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82.4%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88.2%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" sz="1600">
                          <a:effectLst/>
                        </a:rPr>
                        <a:t>AI </a:t>
                      </a:r>
                      <a:r>
                        <a:rPr lang="zh-CN" altLang="en-US" sz="1600">
                          <a:effectLst/>
                        </a:rPr>
                        <a:t>工具普及，初级编码岗位需求收缩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4886841"/>
                  </a:ext>
                </a:extLst>
              </a:tr>
              <a:tr h="107320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2025 </a:t>
                      </a:r>
                      <a:r>
                        <a:rPr lang="zh-CN" altLang="en-US" sz="1600" dirty="0">
                          <a:effectLst/>
                        </a:rPr>
                        <a:t>届（预估）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38.2 </a:t>
                      </a:r>
                      <a:r>
                        <a:rPr lang="zh-CN" altLang="en-US" sz="1600">
                          <a:effectLst/>
                        </a:rPr>
                        <a:t>万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82.1%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88.3%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传统前后端对口就业差，网安、</a:t>
                      </a:r>
                      <a:r>
                        <a:rPr lang="en" sz="1600">
                          <a:effectLst/>
                        </a:rPr>
                        <a:t>AI </a:t>
                      </a:r>
                      <a:r>
                        <a:rPr lang="zh-CN" altLang="en-US" sz="1600">
                          <a:effectLst/>
                        </a:rPr>
                        <a:t>方向紧缺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560429"/>
                  </a:ext>
                </a:extLst>
              </a:tr>
              <a:tr h="88905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2026 </a:t>
                      </a:r>
                      <a:r>
                        <a:rPr lang="zh-CN" altLang="en-US" sz="1600" dirty="0">
                          <a:effectLst/>
                        </a:rPr>
                        <a:t>届（预估）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41.0 </a:t>
                      </a:r>
                      <a:r>
                        <a:rPr lang="zh-CN" altLang="en-US" sz="1600">
                          <a:effectLst/>
                        </a:rPr>
                        <a:t>万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>
                          <a:effectLst/>
                        </a:rPr>
                        <a:t>81%~82%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effectLst/>
                        </a:rPr>
                        <a:t>87.5%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本科毕业生规模达顶峰，低端编码岗位受 </a:t>
                      </a:r>
                      <a:r>
                        <a:rPr lang="en" sz="1600" dirty="0">
                          <a:effectLst/>
                        </a:rPr>
                        <a:t>AI </a:t>
                      </a:r>
                      <a:r>
                        <a:rPr lang="zh-CN" altLang="en-US" sz="1600" dirty="0">
                          <a:effectLst/>
                        </a:rPr>
                        <a:t>持续挤压</a:t>
                      </a:r>
                    </a:p>
                  </a:txBody>
                  <a:tcPr marL="14981" marR="14981" marT="14981" marB="1498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99432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D56CF00-A125-F88D-D0FC-BAD7116D3456}"/>
              </a:ext>
            </a:extLst>
          </p:cNvPr>
          <p:cNvSpPr txBox="1"/>
          <p:nvPr/>
        </p:nvSpPr>
        <p:spPr>
          <a:xfrm>
            <a:off x="5532120" y="5875022"/>
            <a:ext cx="8976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计算机本科毕业生逐年增多，全职就业率持续微降。</a:t>
            </a:r>
          </a:p>
        </p:txBody>
      </p:sp>
    </p:spTree>
    <p:extLst>
      <p:ext uri="{BB962C8B-B14F-4D97-AF65-F5344CB8AC3E}">
        <p14:creationId xmlns:p14="http://schemas.microsoft.com/office/powerpoint/2010/main" val="213949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6E29A-2CA1-4922-8A1E-CF241393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2900"/>
            <a:ext cx="10668000" cy="685800"/>
          </a:xfrm>
        </p:spPr>
        <p:txBody>
          <a:bodyPr/>
          <a:lstStyle/>
          <a:p>
            <a:r>
              <a:t>研发与技术岗位薪资参考｜公开样本，仅作市场参考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9349DD-5712-4205-A707-1CC45B6A09F2}"/>
              </a:ext>
            </a:extLst>
          </p:cNvPr>
          <p:cNvSpPr>
            <a:spLocks noGrp="1"/>
          </p:cNvSpPr>
          <p:nvPr/>
        </p:nvSpPr>
        <p:spPr>
          <a:xfrm>
            <a:off x="788276" y="1590641"/>
            <a:ext cx="10432174" cy="540000"/>
          </a:xfrm>
          <a:prstGeom prst="rect">
            <a:avLst/>
          </a:prstGeom>
          <a:solidFill>
            <a:srgbClr val="11D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dirty="0"/>
              <a:t>上海｜开发10K–30K；AI类20–30K·15薪：分化明显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E369BF-8B6D-4599-B2F3-9D759B09FDE0}"/>
              </a:ext>
            </a:extLst>
          </p:cNvPr>
          <p:cNvSpPr>
            <a:spLocks noGrp="1"/>
          </p:cNvSpPr>
          <p:nvPr/>
        </p:nvSpPr>
        <p:spPr>
          <a:xfrm>
            <a:off x="788276" y="2502777"/>
            <a:ext cx="9689224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dirty="0"/>
              <a:t>北京｜后端12–30K；产品10–25K：平台与AI岗位上限较高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6B5186-937E-4612-AF88-7810F44A3F36}"/>
              </a:ext>
            </a:extLst>
          </p:cNvPr>
          <p:cNvSpPr>
            <a:spLocks noGrp="1"/>
          </p:cNvSpPr>
          <p:nvPr/>
        </p:nvSpPr>
        <p:spPr>
          <a:xfrm>
            <a:off x="788276" y="3429001"/>
            <a:ext cx="8831974" cy="540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dirty="0"/>
              <a:t>深圳｜后端18–50K；产品12–18K；测试7–12K：研发活跃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CDDB13-A1A0-4974-AA46-7F0320E95464}"/>
              </a:ext>
            </a:extLst>
          </p:cNvPr>
          <p:cNvSpPr>
            <a:spLocks noGrp="1"/>
          </p:cNvSpPr>
          <p:nvPr/>
        </p:nvSpPr>
        <p:spPr>
          <a:xfrm>
            <a:off x="788276" y="4355225"/>
            <a:ext cx="7947162" cy="540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t>美国｜开发13.3万美元/年；QA测试10.3万美元/年：门槛更高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D1D374-70F8-49D9-958D-1748B1FF81FD}"/>
              </a:ext>
            </a:extLst>
          </p:cNvPr>
          <p:cNvSpPr>
            <a:spLocks noGrp="1"/>
          </p:cNvSpPr>
          <p:nvPr/>
        </p:nvSpPr>
        <p:spPr>
          <a:xfrm>
            <a:off x="788276" y="5281449"/>
            <a:ext cx="7041274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>
                <a:solidFill>
                  <a:schemeClr val="bg1"/>
                </a:solidFill>
              </a:rPr>
              <a:t>中国行业｜非私营24.9万/年；私营12.8万/年：平均≠应届</a:t>
            </a:r>
          </a:p>
        </p:txBody>
      </p:sp>
    </p:spTree>
    <p:extLst>
      <p:ext uri="{BB962C8B-B14F-4D97-AF65-F5344CB8AC3E}">
        <p14:creationId xmlns:p14="http://schemas.microsoft.com/office/powerpoint/2010/main" val="1008615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6E29A-2CA1-4922-8A1E-CF241393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2900"/>
            <a:ext cx="10668000" cy="685800"/>
          </a:xfrm>
        </p:spPr>
        <p:txBody>
          <a:bodyPr/>
          <a:lstStyle/>
          <a:p>
            <a:r>
              <a:t>机会仍在，竞争从“专业对口”变成“证据匹配”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9349DD-5712-4205-A707-1CC45B6A09F2}"/>
              </a:ext>
            </a:extLst>
          </p:cNvPr>
          <p:cNvSpPr>
            <a:spLocks noGrp="1"/>
          </p:cNvSpPr>
          <p:nvPr/>
        </p:nvSpPr>
        <p:spPr>
          <a:xfrm>
            <a:off x="788276" y="1590641"/>
            <a:ext cx="10432174" cy="540000"/>
          </a:xfrm>
          <a:prstGeom prst="rect">
            <a:avLst/>
          </a:prstGeom>
          <a:solidFill>
            <a:srgbClr val="11D0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t>毕业生规模持续增加｜岗位竞争更充分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E369BF-8B6D-4599-B2F3-9D759B09FDE0}"/>
              </a:ext>
            </a:extLst>
          </p:cNvPr>
          <p:cNvSpPr>
            <a:spLocks noGrp="1"/>
          </p:cNvSpPr>
          <p:nvPr/>
        </p:nvSpPr>
        <p:spPr>
          <a:xfrm>
            <a:off x="788276" y="2502777"/>
            <a:ext cx="9689224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t>企业招聘更谨慎｜更关注入职后的上手速度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6B5186-937E-4612-AF88-7810F44A3F36}"/>
              </a:ext>
            </a:extLst>
          </p:cNvPr>
          <p:cNvSpPr>
            <a:spLocks noGrp="1"/>
          </p:cNvSpPr>
          <p:nvPr/>
        </p:nvSpPr>
        <p:spPr>
          <a:xfrm>
            <a:off x="788276" y="3429001"/>
            <a:ext cx="8831974" cy="540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t>岗位要求更具体｜方向不清会削弱简历可信度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CDDB13-A1A0-4974-AA46-7F0320E95464}"/>
              </a:ext>
            </a:extLst>
          </p:cNvPr>
          <p:cNvSpPr>
            <a:spLocks noGrp="1"/>
          </p:cNvSpPr>
          <p:nvPr/>
        </p:nvSpPr>
        <p:spPr>
          <a:xfrm>
            <a:off x="788276" y="4355225"/>
            <a:ext cx="7947162" cy="540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t>实习与项目更重要｜经历是能力的可验证证据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D1D374-70F8-49D9-958D-1748B1FF81FD}"/>
              </a:ext>
            </a:extLst>
          </p:cNvPr>
          <p:cNvSpPr>
            <a:spLocks noGrp="1"/>
          </p:cNvSpPr>
          <p:nvPr/>
        </p:nvSpPr>
        <p:spPr>
          <a:xfrm>
            <a:off x="788276" y="5281449"/>
            <a:ext cx="7041274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>
                <a:solidFill>
                  <a:schemeClr val="bg1"/>
                </a:solidFill>
              </a:rPr>
              <a:t>AI改变入门标准｜会用工具，更要能判断和负责</a:t>
            </a:r>
          </a:p>
        </p:txBody>
      </p:sp>
    </p:spTree>
    <p:extLst>
      <p:ext uri="{BB962C8B-B14F-4D97-AF65-F5344CB8AC3E}">
        <p14:creationId xmlns:p14="http://schemas.microsoft.com/office/powerpoint/2010/main" val="1008615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AB1638B-4F61-4C46-8BD2-0F6899EA5292}"/>
              </a:ext>
            </a:extLst>
          </p:cNvPr>
          <p:cNvSpPr>
            <a:spLocks noGrp="1"/>
          </p:cNvSpPr>
          <p:nvPr/>
        </p:nvSpPr>
        <p:spPr>
          <a:xfrm>
            <a:off x="831272" y="472431"/>
            <a:ext cx="5070763" cy="5714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D46A"/>
                </a:solidFill>
              </a:defRPr>
            </a:pPr>
            <a:r>
              <a:rPr sz="2000" b="1" dirty="0">
                <a:solidFill>
                  <a:srgbClr val="00D46A"/>
                </a:solidFill>
                <a:latin typeface="+mn-ea"/>
              </a:rPr>
              <a:t>Content / </a:t>
            </a:r>
            <a:r>
              <a:rPr sz="2000" b="1" dirty="0" err="1">
                <a:solidFill>
                  <a:srgbClr val="00D46A"/>
                </a:solidFill>
                <a:latin typeface="+mn-ea"/>
              </a:rPr>
              <a:t>目录</a:t>
            </a:r>
            <a:endParaRPr sz="2000" b="1" dirty="0">
              <a:solidFill>
                <a:srgbClr val="00D46A"/>
              </a:solidFill>
              <a:latin typeface="+mn-ea"/>
            </a:endParaRP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E3F11747-2D09-40C1-AF8B-B1C6A5A10993}"/>
              </a:ext>
            </a:extLst>
          </p:cNvPr>
          <p:cNvSpPr>
            <a:spLocks noGrp="1"/>
          </p:cNvSpPr>
          <p:nvPr/>
        </p:nvSpPr>
        <p:spPr>
          <a:xfrm flipV="1">
            <a:off x="1547420" y="1040964"/>
            <a:ext cx="1513279" cy="2950"/>
          </a:xfrm>
          <a:prstGeom prst="line">
            <a:avLst/>
          </a:prstGeom>
          <a:noFill/>
          <a:ln w="38100">
            <a:solidFill>
              <a:srgbClr val="00D4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273C37-137D-CF1C-7A71-E885F1E6E3C0}"/>
              </a:ext>
            </a:extLst>
          </p:cNvPr>
          <p:cNvSpPr>
            <a:spLocks noGrp="1"/>
          </p:cNvSpPr>
          <p:nvPr/>
        </p:nvSpPr>
        <p:spPr>
          <a:xfrm>
            <a:off x="3617521" y="23274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0985BB-6885-0B1F-6F88-A8A7E28BE815}"/>
              </a:ext>
            </a:extLst>
          </p:cNvPr>
          <p:cNvSpPr>
            <a:spLocks noGrp="1"/>
          </p:cNvSpPr>
          <p:nvPr/>
        </p:nvSpPr>
        <p:spPr>
          <a:xfrm>
            <a:off x="4417621" y="22703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7F5"/>
                </a:solidFill>
              </a:defRPr>
            </a:pPr>
            <a:r>
              <a:rPr lang="zh-CN" altLang="en-US" dirty="0">
                <a:solidFill>
                  <a:schemeClr val="bg1"/>
                </a:solidFill>
              </a:rPr>
              <a:t>看见变化：趋势与就业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18" name="直线连接符 17">
            <a:extLst>
              <a:ext uri="{FF2B5EF4-FFF2-40B4-BE49-F238E27FC236}">
                <a16:creationId xmlns:a16="http://schemas.microsoft.com/office/drawing/2014/main" id="{BB7B8F59-5AA1-D358-7B80-D37AD7BD9ECD}"/>
              </a:ext>
            </a:extLst>
          </p:cNvPr>
          <p:cNvSpPr>
            <a:spLocks noGrp="1"/>
          </p:cNvSpPr>
          <p:nvPr/>
        </p:nvSpPr>
        <p:spPr>
          <a:xfrm>
            <a:off x="4417621" y="27275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1430ABA-3F99-4BBD-10DE-1CD4845C3A49}"/>
              </a:ext>
            </a:extLst>
          </p:cNvPr>
          <p:cNvSpPr>
            <a:spLocks noGrp="1"/>
          </p:cNvSpPr>
          <p:nvPr/>
        </p:nvSpPr>
        <p:spPr>
          <a:xfrm>
            <a:off x="3617521" y="30513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rgbClr val="00D46A"/>
                </a:solidFill>
              </a:rPr>
              <a:t>02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059E73E-A397-E5A4-86EA-64332DCA727A}"/>
              </a:ext>
            </a:extLst>
          </p:cNvPr>
          <p:cNvSpPr>
            <a:spLocks noGrp="1"/>
          </p:cNvSpPr>
          <p:nvPr/>
        </p:nvSpPr>
        <p:spPr>
          <a:xfrm>
            <a:off x="4417621" y="29942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7F5"/>
                </a:solidFill>
              </a:defRPr>
            </a:pPr>
            <a:r>
              <a:rPr lang="zh-CN" altLang="en-US" dirty="0"/>
              <a:t>找到方向：职业与岗位</a:t>
            </a:r>
            <a:endParaRPr sz="1800" b="1" dirty="0">
              <a:solidFill>
                <a:srgbClr val="F4F7F5"/>
              </a:solidFill>
            </a:endParaRPr>
          </a:p>
        </p:txBody>
      </p:sp>
      <p:sp>
        <p:nvSpPr>
          <p:cNvPr id="21" name="直线连接符 20">
            <a:extLst>
              <a:ext uri="{FF2B5EF4-FFF2-40B4-BE49-F238E27FC236}">
                <a16:creationId xmlns:a16="http://schemas.microsoft.com/office/drawing/2014/main" id="{B3B892EB-86DB-E8B8-CF7E-E3E09205EE09}"/>
              </a:ext>
            </a:extLst>
          </p:cNvPr>
          <p:cNvSpPr>
            <a:spLocks noGrp="1"/>
          </p:cNvSpPr>
          <p:nvPr/>
        </p:nvSpPr>
        <p:spPr>
          <a:xfrm>
            <a:off x="4417621" y="34514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62CEFA9-1F74-3383-776A-905FBEC10CB4}"/>
              </a:ext>
            </a:extLst>
          </p:cNvPr>
          <p:cNvSpPr>
            <a:spLocks noGrp="1"/>
          </p:cNvSpPr>
          <p:nvPr/>
        </p:nvSpPr>
        <p:spPr>
          <a:xfrm>
            <a:off x="3617521" y="37752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D1C498-3579-65DE-25E2-0E8C480B09E4}"/>
              </a:ext>
            </a:extLst>
          </p:cNvPr>
          <p:cNvSpPr>
            <a:spLocks noGrp="1"/>
          </p:cNvSpPr>
          <p:nvPr/>
        </p:nvSpPr>
        <p:spPr>
          <a:xfrm>
            <a:off x="4417621" y="37181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F4F7F5"/>
                </a:solidFill>
              </a:defRPr>
            </a:pPr>
            <a:r>
              <a:rPr lang="zh-CN" altLang="en-US" sz="1800" b="1" dirty="0">
                <a:solidFill>
                  <a:schemeClr val="bg1"/>
                </a:solidFill>
              </a:rPr>
              <a:t>理解企业：能力与成长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24" name="直线连接符 23">
            <a:extLst>
              <a:ext uri="{FF2B5EF4-FFF2-40B4-BE49-F238E27FC236}">
                <a16:creationId xmlns:a16="http://schemas.microsoft.com/office/drawing/2014/main" id="{8F26DDF8-8848-FAE7-738F-347DA651A119}"/>
              </a:ext>
            </a:extLst>
          </p:cNvPr>
          <p:cNvSpPr>
            <a:spLocks noGrp="1"/>
          </p:cNvSpPr>
          <p:nvPr/>
        </p:nvSpPr>
        <p:spPr>
          <a:xfrm>
            <a:off x="4417621" y="41753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B8F485C-6311-A6D6-C47A-19294D8BB7A9}"/>
              </a:ext>
            </a:extLst>
          </p:cNvPr>
          <p:cNvSpPr>
            <a:spLocks noGrp="1"/>
          </p:cNvSpPr>
          <p:nvPr/>
        </p:nvSpPr>
        <p:spPr>
          <a:xfrm>
            <a:off x="3617521" y="44991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79B71A-A3E0-E831-8591-C9E4E45B2CBA}"/>
              </a:ext>
            </a:extLst>
          </p:cNvPr>
          <p:cNvSpPr>
            <a:spLocks noGrp="1"/>
          </p:cNvSpPr>
          <p:nvPr/>
        </p:nvSpPr>
        <p:spPr>
          <a:xfrm>
            <a:off x="4417621" y="44420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F4F7F5"/>
                </a:solidFill>
              </a:defRPr>
            </a:pPr>
            <a:r>
              <a:rPr lang="zh-CN" altLang="en-US" b="1" dirty="0">
                <a:solidFill>
                  <a:schemeClr val="bg1"/>
                </a:solidFill>
              </a:rPr>
              <a:t>准备行动：求职与</a:t>
            </a:r>
            <a:r>
              <a:rPr lang="en-US" altLang="zh-CN" b="1" dirty="0">
                <a:solidFill>
                  <a:schemeClr val="bg1"/>
                </a:solidFill>
              </a:rPr>
              <a:t>AI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27" name="直线连接符 26">
            <a:extLst>
              <a:ext uri="{FF2B5EF4-FFF2-40B4-BE49-F238E27FC236}">
                <a16:creationId xmlns:a16="http://schemas.microsoft.com/office/drawing/2014/main" id="{384364B7-337F-BFD4-68A0-548E5C583983}"/>
              </a:ext>
            </a:extLst>
          </p:cNvPr>
          <p:cNvSpPr>
            <a:spLocks noGrp="1"/>
          </p:cNvSpPr>
          <p:nvPr/>
        </p:nvSpPr>
        <p:spPr>
          <a:xfrm>
            <a:off x="4417621" y="48992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666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产品开发测试_可靠交付流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34340"/>
            <a:ext cx="182880" cy="274320"/>
          </a:xfrm>
          <a:prstGeom prst="rect">
            <a:avLst/>
          </a:prstGeom>
          <a:solidFill>
            <a:srgbClr val="16D65F"/>
          </a:solidFill>
          <a:ln w="12700">
            <a:solidFill>
              <a:srgbClr val="16D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49000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如何判断自己适合哪个方向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23900" y="1257300"/>
            <a:ext cx="3314700" cy="1752600"/>
          </a:xfrm>
          <a:prstGeom prst="roundRect">
            <a:avLst>
              <a:gd name="adj" fmla="val 3478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1060" y="1348740"/>
            <a:ext cx="3040380" cy="1615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更适合产品</a:t>
            </a:r>
            <a:endParaRPr lang="en-US" sz="1500" b="1" dirty="0">
              <a:solidFill>
                <a:srgbClr val="FFFFF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sz="1500" dirty="0"/>
          </a:p>
          <a:p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喜欢用户、业务、沟通、逻辑分析和推动协作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33900" y="1257300"/>
            <a:ext cx="3314700" cy="1752600"/>
          </a:xfrm>
          <a:prstGeom prst="roundRect">
            <a:avLst>
              <a:gd name="adj" fmla="val 3478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71060" y="1348740"/>
            <a:ext cx="3040380" cy="1615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更适合后端 / </a:t>
            </a:r>
            <a:r>
              <a:rPr lang="en-US" sz="15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1500" b="1" dirty="0">
              <a:solidFill>
                <a:srgbClr val="FFFFF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sz="1500" dirty="0"/>
          </a:p>
          <a:p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喜欢代码、系统原理、技术深度和持续解决复杂问题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43900" y="1257300"/>
            <a:ext cx="3314700" cy="1752600"/>
          </a:xfrm>
          <a:prstGeom prst="roundRect">
            <a:avLst>
              <a:gd name="adj" fmla="val 3478"/>
            </a:avLst>
          </a:prstGeom>
          <a:solidFill>
            <a:srgbClr val="0E8F43"/>
          </a:solidFill>
          <a:ln w="12700">
            <a:solidFill>
              <a:srgbClr val="0E8F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81060" y="1348740"/>
            <a:ext cx="3040380" cy="1615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更适合测试 / </a:t>
            </a:r>
            <a:r>
              <a:rPr lang="en-US" sz="15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500" b="1" dirty="0">
              <a:solidFill>
                <a:srgbClr val="FFFFF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sz="1500" dirty="0"/>
          </a:p>
          <a:p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喜欢发现问题、验证风险、分析边界和提升可靠性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3467100"/>
            <a:ext cx="10515600" cy="3429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833" b="1" dirty="0">
                <a:solidFill>
                  <a:srgbClr val="16D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选择方向，不只看热点，也要看自己的问题偏好</a:t>
            </a:r>
            <a:endParaRPr lang="en-US" sz="1833" dirty="0"/>
          </a:p>
        </p:txBody>
      </p:sp>
      <p:sp>
        <p:nvSpPr>
          <p:cNvPr id="11" name="Shape 9"/>
          <p:cNvSpPr/>
          <p:nvPr/>
        </p:nvSpPr>
        <p:spPr>
          <a:xfrm>
            <a:off x="1905000" y="4152900"/>
            <a:ext cx="1257300" cy="495300"/>
          </a:xfrm>
          <a:prstGeom prst="roundRect">
            <a:avLst>
              <a:gd name="adj" fmla="val 18462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6440" y="4198620"/>
            <a:ext cx="1074420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4700" y="4244340"/>
            <a:ext cx="304800" cy="2667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 lnSpcReduction="10000"/>
          </a:bodyPr>
          <a:lstStyle/>
          <a:p>
            <a:pPr algn="ctr"/>
            <a:r>
              <a:rPr lang="en-US" sz="1833" b="1" dirty="0">
                <a:solidFill>
                  <a:srgbClr val="C7D0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1833" dirty="0"/>
          </a:p>
        </p:txBody>
      </p:sp>
      <p:sp>
        <p:nvSpPr>
          <p:cNvPr id="14" name="Shape 12"/>
          <p:cNvSpPr/>
          <p:nvPr/>
        </p:nvSpPr>
        <p:spPr>
          <a:xfrm>
            <a:off x="4191000" y="4152900"/>
            <a:ext cx="1257300" cy="495300"/>
          </a:xfrm>
          <a:prstGeom prst="roundRect">
            <a:avLst>
              <a:gd name="adj" fmla="val 18462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2440" y="4198620"/>
            <a:ext cx="1074420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00700" y="4244340"/>
            <a:ext cx="304800" cy="2667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 lnSpcReduction="10000"/>
          </a:bodyPr>
          <a:lstStyle/>
          <a:p>
            <a:pPr algn="ctr"/>
            <a:r>
              <a:rPr lang="en-US" sz="1833" b="1" dirty="0">
                <a:solidFill>
                  <a:srgbClr val="C7D0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1833" dirty="0"/>
          </a:p>
        </p:txBody>
      </p:sp>
      <p:sp>
        <p:nvSpPr>
          <p:cNvPr id="17" name="Shape 15"/>
          <p:cNvSpPr/>
          <p:nvPr/>
        </p:nvSpPr>
        <p:spPr>
          <a:xfrm>
            <a:off x="6477000" y="4152900"/>
            <a:ext cx="1257300" cy="495300"/>
          </a:xfrm>
          <a:prstGeom prst="roundRect">
            <a:avLst>
              <a:gd name="adj" fmla="val 18462"/>
            </a:avLst>
          </a:prstGeom>
          <a:solidFill>
            <a:srgbClr val="0E8F43"/>
          </a:solidFill>
          <a:ln w="12700">
            <a:solidFill>
              <a:srgbClr val="0E8F4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8440" y="4198620"/>
            <a:ext cx="1074420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86700" y="4244340"/>
            <a:ext cx="304800" cy="2667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 lnSpcReduction="10000"/>
          </a:bodyPr>
          <a:lstStyle/>
          <a:p>
            <a:pPr algn="ctr"/>
            <a:r>
              <a:rPr lang="en-US" sz="1833" b="1" dirty="0">
                <a:solidFill>
                  <a:srgbClr val="C7D0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1833" dirty="0"/>
          </a:p>
        </p:txBody>
      </p:sp>
      <p:sp>
        <p:nvSpPr>
          <p:cNvPr id="20" name="Shape 18"/>
          <p:cNvSpPr/>
          <p:nvPr/>
        </p:nvSpPr>
        <p:spPr>
          <a:xfrm>
            <a:off x="8763000" y="4152900"/>
            <a:ext cx="1257300" cy="495300"/>
          </a:xfrm>
          <a:prstGeom prst="roundRect">
            <a:avLst>
              <a:gd name="adj" fmla="val 18462"/>
            </a:avLst>
          </a:prstGeom>
          <a:solidFill>
            <a:srgbClr val="F3F7F4"/>
          </a:solidFill>
          <a:ln w="12700">
            <a:solidFill>
              <a:srgbClr val="F3F7F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4440" y="4198620"/>
            <a:ext cx="1074420" cy="4191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实践反馈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38200" y="5600700"/>
            <a:ext cx="10515600" cy="480060"/>
          </a:xfrm>
          <a:prstGeom prst="rect">
            <a:avLst/>
          </a:prstGeom>
          <a:solidFill>
            <a:srgbClr val="F3F7F4"/>
          </a:solidFill>
          <a:ln w="12700">
            <a:solidFill>
              <a:srgbClr val="F3F7F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5360" y="5692140"/>
            <a:ext cx="10241280" cy="29718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algn="ctr"/>
            <a:r>
              <a:rPr lang="en-US" sz="1500" b="1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方向不是一次选定的，可以先选择一个入口，再通过项目、实习和面试反馈调整。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210800" y="6454140"/>
            <a:ext cx="14478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 by DaoCloud</a:t>
            </a:r>
            <a:endParaRPr lang="en-US" sz="66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AB1638B-4F61-4C46-8BD2-0F6899EA5292}"/>
              </a:ext>
            </a:extLst>
          </p:cNvPr>
          <p:cNvSpPr>
            <a:spLocks noGrp="1"/>
          </p:cNvSpPr>
          <p:nvPr/>
        </p:nvSpPr>
        <p:spPr>
          <a:xfrm>
            <a:off x="831272" y="472431"/>
            <a:ext cx="5070763" cy="5714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D46A"/>
                </a:solidFill>
              </a:defRPr>
            </a:pPr>
            <a:r>
              <a:rPr sz="2000" b="1" dirty="0">
                <a:solidFill>
                  <a:srgbClr val="00D46A"/>
                </a:solidFill>
                <a:latin typeface="+mn-ea"/>
              </a:rPr>
              <a:t>Content / </a:t>
            </a:r>
            <a:r>
              <a:rPr sz="2000" b="1" dirty="0" err="1">
                <a:solidFill>
                  <a:srgbClr val="00D46A"/>
                </a:solidFill>
                <a:latin typeface="+mn-ea"/>
              </a:rPr>
              <a:t>目录</a:t>
            </a:r>
            <a:endParaRPr sz="2000" b="1" dirty="0">
              <a:solidFill>
                <a:srgbClr val="00D46A"/>
              </a:solidFill>
              <a:latin typeface="+mn-ea"/>
            </a:endParaRP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E3F11747-2D09-40C1-AF8B-B1C6A5A10993}"/>
              </a:ext>
            </a:extLst>
          </p:cNvPr>
          <p:cNvSpPr>
            <a:spLocks noGrp="1"/>
          </p:cNvSpPr>
          <p:nvPr/>
        </p:nvSpPr>
        <p:spPr>
          <a:xfrm flipV="1">
            <a:off x="1547420" y="1043914"/>
            <a:ext cx="1513279" cy="2950"/>
          </a:xfrm>
          <a:prstGeom prst="line">
            <a:avLst/>
          </a:prstGeom>
          <a:noFill/>
          <a:ln w="38100">
            <a:solidFill>
              <a:srgbClr val="00D4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F792D4-67A9-4F4C-BE96-E91A984A02D4}"/>
              </a:ext>
            </a:extLst>
          </p:cNvPr>
          <p:cNvSpPr>
            <a:spLocks noGrp="1"/>
          </p:cNvSpPr>
          <p:nvPr/>
        </p:nvSpPr>
        <p:spPr>
          <a:xfrm>
            <a:off x="3617521" y="23274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C84BBF-B8A0-4085-BCCE-A3E85DCC81F2}"/>
              </a:ext>
            </a:extLst>
          </p:cNvPr>
          <p:cNvSpPr>
            <a:spLocks noGrp="1"/>
          </p:cNvSpPr>
          <p:nvPr/>
        </p:nvSpPr>
        <p:spPr>
          <a:xfrm>
            <a:off x="4417621" y="22703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7F5"/>
                </a:solidFill>
              </a:defRPr>
            </a:pPr>
            <a:r>
              <a:rPr lang="zh-CN" altLang="en-US" dirty="0">
                <a:solidFill>
                  <a:schemeClr val="bg1"/>
                </a:solidFill>
              </a:rPr>
              <a:t>看见变化：趋势与就业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0F0E8C8D-A7F1-49D6-9D61-FFACD0C6FD2D}"/>
              </a:ext>
            </a:extLst>
          </p:cNvPr>
          <p:cNvSpPr>
            <a:spLocks noGrp="1"/>
          </p:cNvSpPr>
          <p:nvPr/>
        </p:nvSpPr>
        <p:spPr>
          <a:xfrm>
            <a:off x="4417621" y="27275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79E6A9-7061-4521-8F7A-1D2BEC8B0FFA}"/>
              </a:ext>
            </a:extLst>
          </p:cNvPr>
          <p:cNvSpPr>
            <a:spLocks noGrp="1"/>
          </p:cNvSpPr>
          <p:nvPr/>
        </p:nvSpPr>
        <p:spPr>
          <a:xfrm>
            <a:off x="3617521" y="30513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620D95-FBC1-494F-ADE7-B8C02668E115}"/>
              </a:ext>
            </a:extLst>
          </p:cNvPr>
          <p:cNvSpPr>
            <a:spLocks noGrp="1"/>
          </p:cNvSpPr>
          <p:nvPr/>
        </p:nvSpPr>
        <p:spPr>
          <a:xfrm>
            <a:off x="4417621" y="29942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7F5"/>
                </a:solidFill>
              </a:defRPr>
            </a:pPr>
            <a:r>
              <a:rPr lang="zh-CN" altLang="en-US" dirty="0">
                <a:solidFill>
                  <a:schemeClr val="bg1"/>
                </a:solidFill>
              </a:rPr>
              <a:t>找到方向：职业与岗位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52ED2723-BEBD-45F3-88D5-323D375A1E70}"/>
              </a:ext>
            </a:extLst>
          </p:cNvPr>
          <p:cNvSpPr>
            <a:spLocks noGrp="1"/>
          </p:cNvSpPr>
          <p:nvPr/>
        </p:nvSpPr>
        <p:spPr>
          <a:xfrm>
            <a:off x="4417621" y="34514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B64C9C-5152-414C-8C7A-82A47CAB7E0F}"/>
              </a:ext>
            </a:extLst>
          </p:cNvPr>
          <p:cNvSpPr>
            <a:spLocks noGrp="1"/>
          </p:cNvSpPr>
          <p:nvPr/>
        </p:nvSpPr>
        <p:spPr>
          <a:xfrm>
            <a:off x="3617521" y="37752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rgbClr val="00D46A"/>
                </a:solidFill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5659C9-2AE2-43A9-B4F8-85C4D22FDCCD}"/>
              </a:ext>
            </a:extLst>
          </p:cNvPr>
          <p:cNvSpPr>
            <a:spLocks noGrp="1"/>
          </p:cNvSpPr>
          <p:nvPr/>
        </p:nvSpPr>
        <p:spPr>
          <a:xfrm>
            <a:off x="4417621" y="37181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F4F7F5"/>
                </a:solidFill>
              </a:defRPr>
            </a:pPr>
            <a:r>
              <a:rPr lang="zh-CN" altLang="en-US" sz="1800" b="1" dirty="0">
                <a:solidFill>
                  <a:srgbClr val="F4F7F5"/>
                </a:solidFill>
              </a:rPr>
              <a:t>理解企业：能力与成长</a:t>
            </a:r>
            <a:endParaRPr sz="1800" b="1" dirty="0">
              <a:solidFill>
                <a:srgbClr val="F4F7F5"/>
              </a:solidFill>
            </a:endParaRPr>
          </a:p>
        </p:txBody>
      </p:sp>
      <p:sp>
        <p:nvSpPr>
          <p:cNvPr id="12" name="直线连接符 11">
            <a:extLst>
              <a:ext uri="{FF2B5EF4-FFF2-40B4-BE49-F238E27FC236}">
                <a16:creationId xmlns:a16="http://schemas.microsoft.com/office/drawing/2014/main" id="{83106CB5-0B10-4D4D-BBDB-EBFAB3FA748A}"/>
              </a:ext>
            </a:extLst>
          </p:cNvPr>
          <p:cNvSpPr>
            <a:spLocks noGrp="1"/>
          </p:cNvSpPr>
          <p:nvPr/>
        </p:nvSpPr>
        <p:spPr>
          <a:xfrm>
            <a:off x="4417621" y="41753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61A9AB-0531-4859-8819-866C45B90B1F}"/>
              </a:ext>
            </a:extLst>
          </p:cNvPr>
          <p:cNvSpPr>
            <a:spLocks noGrp="1"/>
          </p:cNvSpPr>
          <p:nvPr/>
        </p:nvSpPr>
        <p:spPr>
          <a:xfrm>
            <a:off x="3617521" y="44991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0BBA15-D1F6-4930-9D45-1FF510EE3777}"/>
              </a:ext>
            </a:extLst>
          </p:cNvPr>
          <p:cNvSpPr>
            <a:spLocks noGrp="1"/>
          </p:cNvSpPr>
          <p:nvPr/>
        </p:nvSpPr>
        <p:spPr>
          <a:xfrm>
            <a:off x="4417621" y="44420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F4F7F5"/>
                </a:solidFill>
              </a:defRPr>
            </a:pPr>
            <a:r>
              <a:rPr lang="zh-CN" altLang="en-US" b="1" dirty="0">
                <a:solidFill>
                  <a:schemeClr val="bg1"/>
                </a:solidFill>
              </a:rPr>
              <a:t>准备行动：求职与</a:t>
            </a:r>
            <a:r>
              <a:rPr lang="en-US" altLang="zh-CN" b="1" dirty="0">
                <a:solidFill>
                  <a:schemeClr val="bg1"/>
                </a:solidFill>
              </a:rPr>
              <a:t>AI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15" name="直线连接符 14">
            <a:extLst>
              <a:ext uri="{FF2B5EF4-FFF2-40B4-BE49-F238E27FC236}">
                <a16:creationId xmlns:a16="http://schemas.microsoft.com/office/drawing/2014/main" id="{47D582D5-9012-4A19-A35F-7212201E02FC}"/>
              </a:ext>
            </a:extLst>
          </p:cNvPr>
          <p:cNvSpPr>
            <a:spLocks noGrp="1"/>
          </p:cNvSpPr>
          <p:nvPr/>
        </p:nvSpPr>
        <p:spPr>
          <a:xfrm>
            <a:off x="4417621" y="48992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560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34340"/>
            <a:ext cx="182880" cy="274320"/>
          </a:xfrm>
          <a:prstGeom prst="rect">
            <a:avLst/>
          </a:prstGeom>
          <a:solidFill>
            <a:srgbClr val="16D65F"/>
          </a:solidFill>
          <a:ln w="12700">
            <a:solidFill>
              <a:srgbClr val="16D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49000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企业需要的是能交付结果的能力组合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23900" y="1181100"/>
            <a:ext cx="1981200" cy="571500"/>
          </a:xfrm>
          <a:prstGeom prst="roundRect">
            <a:avLst>
              <a:gd name="adj" fmla="val 10667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1060" y="1272540"/>
            <a:ext cx="1706880" cy="4343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专业基础</a:t>
            </a:r>
            <a:endParaRPr lang="en-US" sz="1667" dirty="0"/>
          </a:p>
        </p:txBody>
      </p:sp>
      <p:sp>
        <p:nvSpPr>
          <p:cNvPr id="6" name="Shape 4"/>
          <p:cNvSpPr/>
          <p:nvPr/>
        </p:nvSpPr>
        <p:spPr>
          <a:xfrm>
            <a:off x="2933700" y="1181100"/>
            <a:ext cx="8382000" cy="571500"/>
          </a:xfrm>
          <a:prstGeom prst="roundRect">
            <a:avLst>
              <a:gd name="adj" fmla="val 10667"/>
            </a:avLst>
          </a:prstGeom>
          <a:solidFill>
            <a:srgbClr val="0E8F43"/>
          </a:solidFill>
          <a:ln w="12700">
            <a:solidFill>
              <a:srgbClr val="0E8F4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70860" y="1272540"/>
            <a:ext cx="8107680" cy="4343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语言、数据结构、操作系统、网络、数据库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3900" y="2065020"/>
            <a:ext cx="1981200" cy="571500"/>
          </a:xfrm>
          <a:prstGeom prst="roundRect">
            <a:avLst>
              <a:gd name="adj" fmla="val 10667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1060" y="2156460"/>
            <a:ext cx="1706880" cy="4343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工程能力</a:t>
            </a:r>
            <a:endParaRPr lang="en-US" sz="1667" dirty="0"/>
          </a:p>
        </p:txBody>
      </p:sp>
      <p:sp>
        <p:nvSpPr>
          <p:cNvPr id="10" name="Shape 8"/>
          <p:cNvSpPr/>
          <p:nvPr/>
        </p:nvSpPr>
        <p:spPr>
          <a:xfrm>
            <a:off x="2933700" y="2065020"/>
            <a:ext cx="8382000" cy="571500"/>
          </a:xfrm>
          <a:prstGeom prst="roundRect">
            <a:avLst>
              <a:gd name="adj" fmla="val 10667"/>
            </a:avLst>
          </a:prstGeom>
          <a:solidFill>
            <a:srgbClr val="0E8F43"/>
          </a:solidFill>
          <a:ln w="12700">
            <a:solidFill>
              <a:srgbClr val="0E8F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0860" y="2156460"/>
            <a:ext cx="8107680" cy="4343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Git、Linux、调试、测试、评审、文档、部署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3900" y="2948940"/>
            <a:ext cx="1981200" cy="571500"/>
          </a:xfrm>
          <a:prstGeom prst="roundRect">
            <a:avLst>
              <a:gd name="adj" fmla="val 10667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1060" y="3040380"/>
            <a:ext cx="1706880" cy="4343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项目证据</a:t>
            </a:r>
            <a:endParaRPr lang="en-US" sz="1667" dirty="0"/>
          </a:p>
        </p:txBody>
      </p:sp>
      <p:sp>
        <p:nvSpPr>
          <p:cNvPr id="14" name="Shape 12"/>
          <p:cNvSpPr/>
          <p:nvPr/>
        </p:nvSpPr>
        <p:spPr>
          <a:xfrm>
            <a:off x="2933700" y="2948940"/>
            <a:ext cx="8382000" cy="571500"/>
          </a:xfrm>
          <a:prstGeom prst="roundRect">
            <a:avLst>
              <a:gd name="adj" fmla="val 10667"/>
            </a:avLst>
          </a:prstGeom>
          <a:solidFill>
            <a:srgbClr val="064D9D"/>
          </a:solidFill>
          <a:ln w="12700">
            <a:solidFill>
              <a:srgbClr val="064D9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0860" y="3040380"/>
            <a:ext cx="8107680" cy="4343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能讲清背景、职责、问题、方案和结果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3900" y="3832860"/>
            <a:ext cx="1981200" cy="571500"/>
          </a:xfrm>
          <a:prstGeom prst="roundRect">
            <a:avLst>
              <a:gd name="adj" fmla="val 10667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1060" y="3924300"/>
            <a:ext cx="1706880" cy="4343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学习与协作</a:t>
            </a:r>
            <a:endParaRPr lang="en-US" sz="1667" dirty="0"/>
          </a:p>
        </p:txBody>
      </p:sp>
      <p:sp>
        <p:nvSpPr>
          <p:cNvPr id="18" name="Shape 16"/>
          <p:cNvSpPr/>
          <p:nvPr/>
        </p:nvSpPr>
        <p:spPr>
          <a:xfrm>
            <a:off x="2933700" y="3832860"/>
            <a:ext cx="8382000" cy="571500"/>
          </a:xfrm>
          <a:prstGeom prst="roundRect">
            <a:avLst>
              <a:gd name="adj" fmla="val 10667"/>
            </a:avLst>
          </a:prstGeom>
          <a:solidFill>
            <a:srgbClr val="064D9D"/>
          </a:solidFill>
          <a:ln w="12700">
            <a:solidFill>
              <a:srgbClr val="064D9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70860" y="3924300"/>
            <a:ext cx="8107680" cy="4343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查资料、读文档、同步进度、接受反馈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3900" y="4716780"/>
            <a:ext cx="1981200" cy="571500"/>
          </a:xfrm>
          <a:prstGeom prst="roundRect">
            <a:avLst>
              <a:gd name="adj" fmla="val 10667"/>
            </a:avLst>
          </a:prstGeom>
          <a:solidFill>
            <a:srgbClr val="F3F7F4"/>
          </a:solidFill>
          <a:ln w="12700">
            <a:solidFill>
              <a:srgbClr val="F3F7F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1060" y="4808220"/>
            <a:ext cx="1706880" cy="4343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AI素养</a:t>
            </a:r>
            <a:endParaRPr lang="en-US" sz="1667" dirty="0"/>
          </a:p>
        </p:txBody>
      </p:sp>
      <p:sp>
        <p:nvSpPr>
          <p:cNvPr id="22" name="Shape 20"/>
          <p:cNvSpPr/>
          <p:nvPr/>
        </p:nvSpPr>
        <p:spPr>
          <a:xfrm>
            <a:off x="2933700" y="4716780"/>
            <a:ext cx="8382000" cy="571500"/>
          </a:xfrm>
          <a:prstGeom prst="roundRect">
            <a:avLst>
              <a:gd name="adj" fmla="val 10667"/>
            </a:avLst>
          </a:prstGeom>
          <a:solidFill>
            <a:srgbClr val="E8EFEA"/>
          </a:solidFill>
          <a:ln w="12700">
            <a:solidFill>
              <a:srgbClr val="E8EFE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70860" y="4808220"/>
            <a:ext cx="8107680" cy="4343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会使用、能验证、不依赖，并对结果负责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8200" y="5829300"/>
            <a:ext cx="10515600" cy="441960"/>
          </a:xfrm>
          <a:prstGeom prst="rect">
            <a:avLst/>
          </a:prstGeom>
          <a:solidFill>
            <a:srgbClr val="F3F7F4"/>
          </a:solidFill>
          <a:ln w="12700">
            <a:solidFill>
              <a:srgbClr val="F3F7F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5360" y="5920740"/>
            <a:ext cx="10241280" cy="2590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5000" lnSpcReduction="20000"/>
          </a:bodyPr>
          <a:lstStyle/>
          <a:p>
            <a:r>
              <a:rPr lang="en-US" sz="1500" b="1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企业真正看的是能力证据，而不是简历上堆满技术名词。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10800" y="6454140"/>
            <a:ext cx="14478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 by DaoCloud</a:t>
            </a:r>
            <a:endParaRPr lang="en-US" sz="66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34340"/>
            <a:ext cx="182880" cy="274320"/>
          </a:xfrm>
          <a:prstGeom prst="rect">
            <a:avLst/>
          </a:prstGeom>
          <a:solidFill>
            <a:srgbClr val="16D65F"/>
          </a:solidFill>
          <a:ln w="12700">
            <a:solidFill>
              <a:srgbClr val="16D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49000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产品岗位：从执行任务到判断和负责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23900" y="1181100"/>
            <a:ext cx="4991100" cy="800100"/>
          </a:xfrm>
          <a:prstGeom prst="roundRect">
            <a:avLst>
              <a:gd name="adj" fmla="val 7619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1060" y="1272540"/>
            <a:ext cx="4716780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AI产品实习生</a:t>
            </a:r>
            <a:endParaRPr lang="en-US" sz="1667" dirty="0"/>
          </a:p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关键词：学习、调研、辅助、体验、执行</a:t>
            </a:r>
            <a:endParaRPr lang="en-US" sz="1667" dirty="0"/>
          </a:p>
        </p:txBody>
      </p:sp>
      <p:sp>
        <p:nvSpPr>
          <p:cNvPr id="6" name="Shape 4"/>
          <p:cNvSpPr/>
          <p:nvPr/>
        </p:nvSpPr>
        <p:spPr>
          <a:xfrm>
            <a:off x="6134100" y="1181100"/>
            <a:ext cx="5295900" cy="800100"/>
          </a:xfrm>
          <a:prstGeom prst="roundRect">
            <a:avLst>
              <a:gd name="adj" fmla="val 7619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71260" y="1272540"/>
            <a:ext cx="5021580" cy="662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Infra平台产品经理</a:t>
            </a:r>
            <a:endParaRPr lang="en-US" sz="1667" dirty="0"/>
          </a:p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关键词：判断、抽象、规划、推动、结果</a:t>
            </a:r>
            <a:endParaRPr lang="en-US" sz="1667" dirty="0"/>
          </a:p>
        </p:txBody>
      </p:sp>
      <p:sp>
        <p:nvSpPr>
          <p:cNvPr id="8" name="Text 6"/>
          <p:cNvSpPr/>
          <p:nvPr/>
        </p:nvSpPr>
        <p:spPr>
          <a:xfrm>
            <a:off x="876300" y="2247900"/>
            <a:ext cx="46863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产品体验、竞品调研
• 用户反馈、PRD初稿
• 原型与数据辅助
• 企业看逻辑、表达、学习速度和执行质量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6286500" y="2247900"/>
            <a:ext cx="49149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平台规划、算力管理、推理服务
• Kubernetes / MLOps / LLMOps
• 企业看客户场景、技术约束、能力抽象
• 复杂协作和结果负责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838200" y="5524500"/>
            <a:ext cx="10515600" cy="495300"/>
          </a:xfrm>
          <a:prstGeom prst="rect">
            <a:avLst/>
          </a:prstGeom>
          <a:solidFill>
            <a:srgbClr val="F3F7F4"/>
          </a:solidFill>
          <a:ln w="12700">
            <a:solidFill>
              <a:srgbClr val="F3F7F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" y="5615940"/>
            <a:ext cx="10241280" cy="3124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r>
              <a:rPr lang="en-US" sz="1500" b="1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产品经理不是“技术不行”的退路，技术产品尤其需要理解技术。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10800" y="6454140"/>
            <a:ext cx="14478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 by DaoCloud</a:t>
            </a:r>
            <a:endParaRPr lang="en-US" sz="667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34340"/>
            <a:ext cx="182880" cy="274320"/>
          </a:xfrm>
          <a:prstGeom prst="rect">
            <a:avLst/>
          </a:prstGeom>
          <a:solidFill>
            <a:srgbClr val="16D65F"/>
          </a:solidFill>
          <a:ln w="12700">
            <a:solidFill>
              <a:srgbClr val="16D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49000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技术岗位：从“我学过”到“我能解决问题”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23900" y="1104900"/>
            <a:ext cx="4724400" cy="548640"/>
          </a:xfrm>
          <a:prstGeom prst="roundRect">
            <a:avLst>
              <a:gd name="adj" fmla="val 11111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1060" y="1196340"/>
            <a:ext cx="4450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应届生阶段｜看潜力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210300" y="1104900"/>
            <a:ext cx="4724400" cy="548640"/>
          </a:xfrm>
          <a:prstGeom prst="roundRect">
            <a:avLst>
              <a:gd name="adj" fmla="val 11111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7460" y="1196340"/>
            <a:ext cx="4450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正式工程师阶段｜看结果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00100" y="1943100"/>
            <a:ext cx="4572000" cy="1524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计算机基础、编程语言
• 项目经历、动手能力
• 学习能力、开源兴趣
• 能把“学过”变成“做过”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6286500" y="1943100"/>
            <a:ext cx="4572000" cy="1524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独立开发、源码理解
• 性能优化、线上定位
• 系统设计、稳定性与成本
• 能对交付结果负责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800100" y="4076700"/>
            <a:ext cx="10134600" cy="838200"/>
          </a:xfrm>
          <a:prstGeom prst="roundRect">
            <a:avLst>
              <a:gd name="adj" fmla="val 10000"/>
            </a:avLst>
          </a:prstGeom>
          <a:solidFill>
            <a:srgbClr val="0E8F43"/>
          </a:solidFill>
          <a:ln w="12700">
            <a:solidFill>
              <a:srgbClr val="0E8F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7260" y="4168140"/>
            <a:ext cx="9822180" cy="4724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>
              <a:lnSpc>
                <a:spcPct val="170000"/>
              </a:lnSpc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前沿案例：大模型推理引擎工程师</a:t>
            </a:r>
            <a:endParaRPr lang="en-US" dirty="0"/>
          </a:p>
          <a:p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让模型跑得更快、更稳、更省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47750" y="5356860"/>
            <a:ext cx="9601200" cy="3048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58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vLLM / SGLang    GPU / NPU    推理优化    Kubernetes</a:t>
            </a:r>
            <a:endParaRPr lang="en-US" sz="1583" dirty="0"/>
          </a:p>
        </p:txBody>
      </p:sp>
      <p:sp>
        <p:nvSpPr>
          <p:cNvPr id="14" name="Text 12"/>
          <p:cNvSpPr/>
          <p:nvPr/>
        </p:nvSpPr>
        <p:spPr>
          <a:xfrm>
            <a:off x="10210800" y="6454140"/>
            <a:ext cx="14478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 by DaoCloud</a:t>
            </a:r>
            <a:endParaRPr lang="en-US" sz="66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34340"/>
            <a:ext cx="182880" cy="274320"/>
          </a:xfrm>
          <a:prstGeom prst="rect">
            <a:avLst/>
          </a:prstGeom>
          <a:solidFill>
            <a:srgbClr val="16D65F"/>
          </a:solidFill>
          <a:ln w="12700">
            <a:solidFill>
              <a:srgbClr val="16D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49000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</a:t>
            </a:r>
            <a:r>
              <a:rPr lang="en-US" sz="25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技术岗位</a:t>
            </a: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大模型推理引擎研发工程师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571500" y="6454140"/>
            <a:ext cx="4191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AI时代软件人才的职业发展规划  |  13</a:t>
            </a:r>
            <a:endParaRPr lang="en-US" sz="667" dirty="0"/>
          </a:p>
        </p:txBody>
      </p:sp>
      <p:sp>
        <p:nvSpPr>
          <p:cNvPr id="14" name="Text 12"/>
          <p:cNvSpPr/>
          <p:nvPr/>
        </p:nvSpPr>
        <p:spPr>
          <a:xfrm>
            <a:off x="10210800" y="6454140"/>
            <a:ext cx="14478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 by DaoCloud</a:t>
            </a:r>
            <a:endParaRPr lang="en-US" sz="667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5E5180-4498-52F4-D01F-3F6B93B46052}"/>
              </a:ext>
            </a:extLst>
          </p:cNvPr>
          <p:cNvSpPr txBox="1"/>
          <p:nvPr/>
        </p:nvSpPr>
        <p:spPr>
          <a:xfrm>
            <a:off x="190500" y="1126361"/>
            <a:ext cx="610035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【任职要求】</a:t>
            </a:r>
          </a:p>
          <a:p>
            <a:r>
              <a:rPr lang="zh-CN" altLang="en-US" sz="1600" dirty="0"/>
              <a:t>本科及以上学历，计算机、软件工程、电子信息、自动化、人工智能等相关专业；985/211、双一流或海外同等院校背景优先；</a:t>
            </a:r>
          </a:p>
          <a:p>
            <a:r>
              <a:rPr lang="zh-CN" altLang="en-US" sz="1600" dirty="0"/>
              <a:t>具备约 2 年左右后端开发、系统开发、AI Infra、机器学习系统或高性能计算相关经验；优秀应届/实习经历突出者也可考虑；</a:t>
            </a:r>
          </a:p>
          <a:p>
            <a:r>
              <a:rPr lang="zh-CN" altLang="en-US" sz="1600" dirty="0"/>
              <a:t>熟悉</a:t>
            </a:r>
            <a:r>
              <a:rPr lang="en-US" altLang="zh-CN" sz="1600" dirty="0"/>
              <a:t>Golang</a:t>
            </a:r>
            <a:r>
              <a:rPr lang="zh-CN" altLang="en-US" sz="1600" dirty="0"/>
              <a:t> / Python，具备良好的工程实现能力、代码阅读能力和问题定位能力；</a:t>
            </a:r>
          </a:p>
          <a:p>
            <a:r>
              <a:rPr lang="zh-CN" altLang="en-US" sz="1600" dirty="0"/>
              <a:t>具备扎实的计算机基础，了解操作系统、计算机体系结构、并发编程、网络通信、性能分析等基础知识；</a:t>
            </a:r>
          </a:p>
          <a:p>
            <a:r>
              <a:rPr lang="zh-CN" altLang="en-US" sz="1600" dirty="0"/>
              <a:t>熟悉大模型推理基本流程，了解 Transformer、Attention、KV Cache、Batching、量化、并行推理等基本概念；</a:t>
            </a:r>
          </a:p>
          <a:p>
            <a:r>
              <a:rPr lang="zh-CN" altLang="en-US" sz="1600" dirty="0"/>
              <a:t>熟悉或使用过 vLLM、SGLang、TensorRT-LLM、Megatron-LM、DeepSpeed、PyTorch 等框架中的一种或多种，有源码阅读、二次开发或性能优化经验者优先；</a:t>
            </a:r>
          </a:p>
          <a:p>
            <a:r>
              <a:rPr lang="zh-CN" altLang="en-US" sz="1600" dirty="0"/>
              <a:t>熟悉 GPU/NPU 相关开发者优先，包括 CUDA、Triton、CUTLASS、FlashAttention、FlashInfer、Ascend C、CANN、NCCL、MPI 等；</a:t>
            </a:r>
          </a:p>
          <a:p>
            <a:r>
              <a:rPr lang="zh-CN" altLang="en-US" sz="1600" dirty="0"/>
              <a:t>对开源项目有兴趣，具备良好的英文技术文档阅读能力、沟通能力和团队协作意识。</a:t>
            </a:r>
          </a:p>
          <a:p>
            <a:r>
              <a:rPr lang="zh-CN" altLang="en-US" sz="1600" dirty="0"/>
              <a:t>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978879-02A3-2382-19D6-236BF5634E3B}"/>
              </a:ext>
            </a:extLst>
          </p:cNvPr>
          <p:cNvSpPr txBox="1"/>
          <p:nvPr/>
        </p:nvSpPr>
        <p:spPr>
          <a:xfrm>
            <a:off x="6859088" y="1383719"/>
            <a:ext cx="479951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【加分项】</a:t>
            </a:r>
          </a:p>
          <a:p>
            <a:r>
              <a:rPr lang="zh-CN" altLang="en-US" sz="1600" dirty="0"/>
              <a:t>在 vLLM、SGLang、Triton、PyTorch、Kubernetes、CUDA 相关开源社区有 PR、Issue、Design Proposal、Reviewer 或 Maintainer 经验；</a:t>
            </a:r>
          </a:p>
          <a:p>
            <a:r>
              <a:rPr lang="zh-CN" altLang="en-US" sz="1600" dirty="0"/>
              <a:t>在 vLLM 开源社区已有一定知名度，或曾参与核心模块开发、性能优化、硬件适配、Benchmark、文档建设等工作；</a:t>
            </a:r>
          </a:p>
          <a:p>
            <a:r>
              <a:rPr lang="zh-CN" altLang="en-US" sz="1600" dirty="0"/>
              <a:t>有 GPU/NPU 算子开发、推理框架适配、国产芯片适配经验，如昇腾、寒武纪、天数智芯、沐曦、壁仞、海光、燧原等；</a:t>
            </a:r>
          </a:p>
          <a:p>
            <a:r>
              <a:rPr lang="zh-CN" altLang="en-US" sz="1600" dirty="0"/>
              <a:t>有大模型推理服务线上部署、压测、性能调优经验，熟悉 TTFT、TPOT、吞吐、显存占用、P99 延迟等指标；</a:t>
            </a:r>
          </a:p>
          <a:p>
            <a:r>
              <a:rPr lang="zh-CN" altLang="en-US" sz="1600" dirty="0"/>
              <a:t>有云原生、Kubernetes、容器、分布式系统、推理服务平台、模型服务平台相关经验；</a:t>
            </a:r>
          </a:p>
          <a:p>
            <a:r>
              <a:rPr lang="zh-CN" altLang="en-US" sz="1600" dirty="0"/>
              <a:t>有 AI Infra、云计算、智算平台、推理加速、模型服务平台等行业背景者优先</a:t>
            </a:r>
          </a:p>
        </p:txBody>
      </p:sp>
    </p:spTree>
    <p:extLst>
      <p:ext uri="{BB962C8B-B14F-4D97-AF65-F5344CB8AC3E}">
        <p14:creationId xmlns:p14="http://schemas.microsoft.com/office/powerpoint/2010/main" val="665409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34340"/>
            <a:ext cx="182880" cy="274320"/>
          </a:xfrm>
          <a:prstGeom prst="rect">
            <a:avLst/>
          </a:prstGeom>
          <a:solidFill>
            <a:srgbClr val="16D65F"/>
          </a:solidFill>
          <a:ln w="12700">
            <a:solidFill>
              <a:srgbClr val="16D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49000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测试不再是“点点点”，而是系统化质量工程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295400"/>
            <a:ext cx="1943100" cy="3657600"/>
          </a:xfrm>
          <a:prstGeom prst="roundRect">
            <a:avLst>
              <a:gd name="adj" fmla="val 4706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" y="1638300"/>
            <a:ext cx="1714500" cy="3429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58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583" dirty="0"/>
          </a:p>
        </p:txBody>
      </p:sp>
      <p:sp>
        <p:nvSpPr>
          <p:cNvPr id="6" name="Shape 4"/>
          <p:cNvSpPr/>
          <p:nvPr/>
        </p:nvSpPr>
        <p:spPr>
          <a:xfrm>
            <a:off x="876300" y="2286000"/>
            <a:ext cx="15621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2628900"/>
            <a:ext cx="1562100" cy="8382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ctr">
            <a:normAutofit/>
          </a:bodyPr>
          <a:lstStyle/>
          <a:p>
            <a:pPr algn="ctr"/>
            <a:r>
              <a:rPr lang="en-US" sz="1292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接口、流程、回归自动化</a:t>
            </a:r>
            <a:endParaRPr lang="en-US" sz="1292" dirty="0"/>
          </a:p>
        </p:txBody>
      </p:sp>
      <p:sp>
        <p:nvSpPr>
          <p:cNvPr id="8" name="Shape 6"/>
          <p:cNvSpPr/>
          <p:nvPr/>
        </p:nvSpPr>
        <p:spPr>
          <a:xfrm>
            <a:off x="2933700" y="1295400"/>
            <a:ext cx="1943100" cy="3657600"/>
          </a:xfrm>
          <a:prstGeom prst="roundRect">
            <a:avLst>
              <a:gd name="adj" fmla="val 4706"/>
            </a:avLst>
          </a:prstGeom>
          <a:solidFill>
            <a:srgbClr val="0E8F43"/>
          </a:solidFill>
          <a:ln w="12700">
            <a:solidFill>
              <a:srgbClr val="0E8F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8000" y="1638300"/>
            <a:ext cx="1714500" cy="3429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58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性能与稳定性</a:t>
            </a:r>
            <a:endParaRPr lang="en-US" sz="1583" dirty="0"/>
          </a:p>
        </p:txBody>
      </p:sp>
      <p:sp>
        <p:nvSpPr>
          <p:cNvPr id="10" name="Shape 8"/>
          <p:cNvSpPr/>
          <p:nvPr/>
        </p:nvSpPr>
        <p:spPr>
          <a:xfrm>
            <a:off x="3124200" y="2286000"/>
            <a:ext cx="15621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4200" y="2628900"/>
            <a:ext cx="1562100" cy="8382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ctr">
            <a:normAutofit/>
          </a:bodyPr>
          <a:lstStyle/>
          <a:p>
            <a:pPr algn="ctr"/>
            <a:r>
              <a:rPr lang="en-US" sz="1292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压测、容量、故障恢复</a:t>
            </a:r>
            <a:endParaRPr lang="en-US" sz="1292" dirty="0"/>
          </a:p>
        </p:txBody>
      </p:sp>
      <p:sp>
        <p:nvSpPr>
          <p:cNvPr id="12" name="Shape 10"/>
          <p:cNvSpPr/>
          <p:nvPr/>
        </p:nvSpPr>
        <p:spPr>
          <a:xfrm>
            <a:off x="5181600" y="1295400"/>
            <a:ext cx="1943100" cy="3657600"/>
          </a:xfrm>
          <a:prstGeom prst="roundRect">
            <a:avLst>
              <a:gd name="adj" fmla="val 4706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5900" y="1638300"/>
            <a:ext cx="1714500" cy="3429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58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安全与风险</a:t>
            </a:r>
            <a:endParaRPr lang="en-US" sz="1583" dirty="0"/>
          </a:p>
        </p:txBody>
      </p:sp>
      <p:sp>
        <p:nvSpPr>
          <p:cNvPr id="14" name="Shape 12"/>
          <p:cNvSpPr/>
          <p:nvPr/>
        </p:nvSpPr>
        <p:spPr>
          <a:xfrm>
            <a:off x="5372100" y="2286000"/>
            <a:ext cx="15621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2100" y="2628900"/>
            <a:ext cx="1562100" cy="8382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ctr">
            <a:normAutofit/>
          </a:bodyPr>
          <a:lstStyle/>
          <a:p>
            <a:pPr algn="ctr"/>
            <a:r>
              <a:rPr lang="en-US" sz="1292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边界场景、问题定位</a:t>
            </a:r>
            <a:endParaRPr lang="en-US" sz="1292" dirty="0"/>
          </a:p>
        </p:txBody>
      </p:sp>
      <p:sp>
        <p:nvSpPr>
          <p:cNvPr id="16" name="Shape 14"/>
          <p:cNvSpPr/>
          <p:nvPr/>
        </p:nvSpPr>
        <p:spPr>
          <a:xfrm>
            <a:off x="7429500" y="1295400"/>
            <a:ext cx="1943100" cy="3657600"/>
          </a:xfrm>
          <a:prstGeom prst="roundRect">
            <a:avLst>
              <a:gd name="adj" fmla="val 4706"/>
            </a:avLst>
          </a:prstGeom>
          <a:solidFill>
            <a:srgbClr val="064D9D"/>
          </a:solidFill>
          <a:ln w="12700">
            <a:solidFill>
              <a:srgbClr val="064D9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1638300"/>
            <a:ext cx="1714500" cy="3429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58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AI质量</a:t>
            </a:r>
            <a:endParaRPr lang="en-US" sz="1583" dirty="0"/>
          </a:p>
        </p:txBody>
      </p:sp>
      <p:sp>
        <p:nvSpPr>
          <p:cNvPr id="18" name="Shape 16"/>
          <p:cNvSpPr/>
          <p:nvPr/>
        </p:nvSpPr>
        <p:spPr>
          <a:xfrm>
            <a:off x="7620000" y="2286000"/>
            <a:ext cx="15621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0000" y="2628900"/>
            <a:ext cx="1562100" cy="8382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ctr">
            <a:normAutofit/>
          </a:bodyPr>
          <a:lstStyle/>
          <a:p>
            <a:pPr algn="ctr"/>
            <a:r>
              <a:rPr lang="en-US" sz="1292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模型效果、幻觉、鲁棒性</a:t>
            </a:r>
            <a:endParaRPr lang="en-US" sz="1292" dirty="0"/>
          </a:p>
        </p:txBody>
      </p:sp>
      <p:sp>
        <p:nvSpPr>
          <p:cNvPr id="20" name="Shape 18"/>
          <p:cNvSpPr/>
          <p:nvPr/>
        </p:nvSpPr>
        <p:spPr>
          <a:xfrm>
            <a:off x="9677400" y="1295400"/>
            <a:ext cx="1943100" cy="3657600"/>
          </a:xfrm>
          <a:prstGeom prst="roundRect">
            <a:avLst>
              <a:gd name="adj" fmla="val 4706"/>
            </a:avLst>
          </a:prstGeom>
          <a:solidFill>
            <a:srgbClr val="F3F7F4"/>
          </a:solidFill>
          <a:ln w="12700">
            <a:solidFill>
              <a:srgbClr val="F3F7F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91700" y="1638300"/>
            <a:ext cx="1714500" cy="3429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583" b="1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质量平台</a:t>
            </a:r>
            <a:endParaRPr lang="en-US" sz="1583" dirty="0"/>
          </a:p>
        </p:txBody>
      </p:sp>
      <p:sp>
        <p:nvSpPr>
          <p:cNvPr id="22" name="Shape 20"/>
          <p:cNvSpPr/>
          <p:nvPr/>
        </p:nvSpPr>
        <p:spPr>
          <a:xfrm>
            <a:off x="9867900" y="2286000"/>
            <a:ext cx="156210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67900" y="2628900"/>
            <a:ext cx="1562100" cy="8382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ctr">
            <a:normAutofit/>
          </a:bodyPr>
          <a:lstStyle/>
          <a:p>
            <a:pPr algn="ctr"/>
            <a:r>
              <a:rPr lang="en-US" sz="1292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工具建设、数据分析</a:t>
            </a:r>
            <a:endParaRPr lang="en-US" sz="1292" dirty="0"/>
          </a:p>
        </p:txBody>
      </p:sp>
      <p:sp>
        <p:nvSpPr>
          <p:cNvPr id="24" name="Shape 22"/>
          <p:cNvSpPr/>
          <p:nvPr/>
        </p:nvSpPr>
        <p:spPr>
          <a:xfrm>
            <a:off x="838200" y="5486400"/>
            <a:ext cx="10515600" cy="495300"/>
          </a:xfrm>
          <a:prstGeom prst="rect">
            <a:avLst/>
          </a:prstGeom>
          <a:solidFill>
            <a:srgbClr val="F3F7F4"/>
          </a:solidFill>
          <a:ln w="12700">
            <a:solidFill>
              <a:srgbClr val="F3F7F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5360" y="5577840"/>
            <a:ext cx="10241280" cy="3124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r>
              <a:rPr lang="en-US" sz="1500" b="1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系统越复杂，越需要质量保障；重复手工减少，质量工程能力更重要。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71500" y="6454140"/>
            <a:ext cx="4191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AI时代软件人才的职业发展规划  |  14</a:t>
            </a:r>
            <a:endParaRPr lang="en-US" sz="667" dirty="0"/>
          </a:p>
        </p:txBody>
      </p:sp>
      <p:sp>
        <p:nvSpPr>
          <p:cNvPr id="27" name="Text 25"/>
          <p:cNvSpPr/>
          <p:nvPr/>
        </p:nvSpPr>
        <p:spPr>
          <a:xfrm>
            <a:off x="10210800" y="6454140"/>
            <a:ext cx="14478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 by DaoCloud</a:t>
            </a:r>
            <a:endParaRPr lang="en-US" sz="66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34340"/>
            <a:ext cx="182880" cy="274320"/>
          </a:xfrm>
          <a:prstGeom prst="rect">
            <a:avLst/>
          </a:prstGeom>
          <a:solidFill>
            <a:srgbClr val="16D65F"/>
          </a:solidFill>
          <a:ln w="12700">
            <a:solidFill>
              <a:srgbClr val="16D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49000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同一个AI Infra平台，需要多类角色共同完成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838700" y="2118360"/>
            <a:ext cx="2514600" cy="2057400"/>
          </a:xfrm>
          <a:prstGeom prst="ellipse">
            <a:avLst/>
          </a:prstGeom>
          <a:solidFill>
            <a:srgbClr val="F3F7F4"/>
          </a:solidFill>
          <a:ln w="12700">
            <a:solidFill>
              <a:srgbClr val="F3F7F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67300" y="2842260"/>
            <a:ext cx="2057400" cy="6096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ctr">
            <a:normAutofit lnSpcReduction="10000"/>
          </a:bodyPr>
          <a:lstStyle/>
          <a:p>
            <a:pPr algn="ctr"/>
            <a:r>
              <a:rPr lang="en-US" sz="2000" b="1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Infra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1333500"/>
            <a:ext cx="3505200" cy="952500"/>
          </a:xfrm>
          <a:prstGeom prst="roundRect">
            <a:avLst>
              <a:gd name="adj" fmla="val 9600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47800"/>
            <a:ext cx="3200400" cy="2667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Infra产品经理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500" y="1851660"/>
            <a:ext cx="3124200" cy="1905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125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客户需要什么平台能力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7543800" y="1333500"/>
            <a:ext cx="3505200" cy="952500"/>
          </a:xfrm>
          <a:prstGeom prst="roundRect">
            <a:avLst>
              <a:gd name="adj" fmla="val 9600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96200" y="1447800"/>
            <a:ext cx="3200400" cy="2667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推理引擎工程师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34300" y="1851660"/>
            <a:ext cx="3124200" cy="1905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125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模型怎样跑得更快更稳更省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762000" y="4533900"/>
            <a:ext cx="3505200" cy="952500"/>
          </a:xfrm>
          <a:prstGeom prst="roundRect">
            <a:avLst>
              <a:gd name="adj" fmla="val 9600"/>
            </a:avLst>
          </a:prstGeom>
          <a:solidFill>
            <a:srgbClr val="0E8F43"/>
          </a:solidFill>
          <a:ln w="12700">
            <a:solidFill>
              <a:srgbClr val="0E8F4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48200"/>
            <a:ext cx="3200400" cy="2667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云原生AI平台开发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2500" y="5052060"/>
            <a:ext cx="3124200" cy="1905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125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AI应用怎样部署和运行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7543800" y="4533900"/>
            <a:ext cx="3505200" cy="952500"/>
          </a:xfrm>
          <a:prstGeom prst="roundRect">
            <a:avLst>
              <a:gd name="adj" fmla="val 9600"/>
            </a:avLst>
          </a:prstGeom>
          <a:solidFill>
            <a:srgbClr val="064D9D"/>
          </a:solidFill>
          <a:ln w="12700">
            <a:solidFill>
              <a:srgbClr val="064D9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6200" y="4648200"/>
            <a:ext cx="3200400" cy="2667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/ 质量工程师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34300" y="5052060"/>
            <a:ext cx="3124200" cy="1905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pPr algn="ctr"/>
            <a:r>
              <a:rPr lang="en-US" sz="1125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平台是否可靠、稳定、可交付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71500" y="6454140"/>
            <a:ext cx="4191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AI时代软件人才的职业发展规划  |  15</a:t>
            </a:r>
            <a:endParaRPr lang="en-US" sz="667" dirty="0"/>
          </a:p>
        </p:txBody>
      </p:sp>
      <p:sp>
        <p:nvSpPr>
          <p:cNvPr id="19" name="Text 17"/>
          <p:cNvSpPr/>
          <p:nvPr/>
        </p:nvSpPr>
        <p:spPr>
          <a:xfrm>
            <a:off x="10210800" y="6454140"/>
            <a:ext cx="14478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 by DaoCloud</a:t>
            </a:r>
            <a:endParaRPr lang="en-US" sz="667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AB1638B-4F61-4C46-8BD2-0F6899EA5292}"/>
              </a:ext>
            </a:extLst>
          </p:cNvPr>
          <p:cNvSpPr>
            <a:spLocks noGrp="1"/>
          </p:cNvSpPr>
          <p:nvPr/>
        </p:nvSpPr>
        <p:spPr>
          <a:xfrm>
            <a:off x="831272" y="472431"/>
            <a:ext cx="5070763" cy="5714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0D46A"/>
                </a:solidFill>
              </a:defRPr>
            </a:pPr>
            <a:r>
              <a:rPr sz="2000" b="1" dirty="0">
                <a:solidFill>
                  <a:srgbClr val="00D46A"/>
                </a:solidFill>
                <a:latin typeface="+mn-ea"/>
              </a:rPr>
              <a:t>Content / </a:t>
            </a:r>
            <a:r>
              <a:rPr sz="2000" b="1" dirty="0" err="1">
                <a:solidFill>
                  <a:srgbClr val="00D46A"/>
                </a:solidFill>
                <a:latin typeface="+mn-ea"/>
              </a:rPr>
              <a:t>目录</a:t>
            </a:r>
            <a:endParaRPr sz="2000" b="1" dirty="0">
              <a:solidFill>
                <a:srgbClr val="00D46A"/>
              </a:solidFill>
              <a:latin typeface="+mn-ea"/>
            </a:endParaRP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E3F11747-2D09-40C1-AF8B-B1C6A5A10993}"/>
              </a:ext>
            </a:extLst>
          </p:cNvPr>
          <p:cNvSpPr>
            <a:spLocks noGrp="1"/>
          </p:cNvSpPr>
          <p:nvPr/>
        </p:nvSpPr>
        <p:spPr>
          <a:xfrm flipV="1">
            <a:off x="1585520" y="1040964"/>
            <a:ext cx="1513279" cy="2950"/>
          </a:xfrm>
          <a:prstGeom prst="line">
            <a:avLst/>
          </a:prstGeom>
          <a:noFill/>
          <a:ln w="38100">
            <a:solidFill>
              <a:srgbClr val="00D46A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F792D4-67A9-4F4C-BE96-E91A984A02D4}"/>
              </a:ext>
            </a:extLst>
          </p:cNvPr>
          <p:cNvSpPr>
            <a:spLocks noGrp="1"/>
          </p:cNvSpPr>
          <p:nvPr/>
        </p:nvSpPr>
        <p:spPr>
          <a:xfrm>
            <a:off x="3617521" y="23274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C84BBF-B8A0-4085-BCCE-A3E85DCC81F2}"/>
              </a:ext>
            </a:extLst>
          </p:cNvPr>
          <p:cNvSpPr>
            <a:spLocks noGrp="1"/>
          </p:cNvSpPr>
          <p:nvPr/>
        </p:nvSpPr>
        <p:spPr>
          <a:xfrm>
            <a:off x="4417621" y="22703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7F5"/>
                </a:solidFill>
              </a:defRPr>
            </a:pPr>
            <a:r>
              <a:rPr lang="zh-CN" altLang="en-US" dirty="0">
                <a:solidFill>
                  <a:schemeClr val="bg1"/>
                </a:solidFill>
              </a:rPr>
              <a:t>看见变化：趋势与就业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0F0E8C8D-A7F1-49D6-9D61-FFACD0C6FD2D}"/>
              </a:ext>
            </a:extLst>
          </p:cNvPr>
          <p:cNvSpPr>
            <a:spLocks noGrp="1"/>
          </p:cNvSpPr>
          <p:nvPr/>
        </p:nvSpPr>
        <p:spPr>
          <a:xfrm>
            <a:off x="4417621" y="27275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79E6A9-7061-4521-8F7A-1D2BEC8B0FFA}"/>
              </a:ext>
            </a:extLst>
          </p:cNvPr>
          <p:cNvSpPr>
            <a:spLocks noGrp="1"/>
          </p:cNvSpPr>
          <p:nvPr/>
        </p:nvSpPr>
        <p:spPr>
          <a:xfrm>
            <a:off x="3617521" y="30513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620D95-FBC1-494F-ADE7-B8C02668E115}"/>
              </a:ext>
            </a:extLst>
          </p:cNvPr>
          <p:cNvSpPr>
            <a:spLocks noGrp="1"/>
          </p:cNvSpPr>
          <p:nvPr/>
        </p:nvSpPr>
        <p:spPr>
          <a:xfrm>
            <a:off x="4417621" y="29942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4F7F5"/>
                </a:solidFill>
              </a:defRPr>
            </a:pPr>
            <a:r>
              <a:rPr lang="zh-CN" altLang="en-US" dirty="0">
                <a:solidFill>
                  <a:schemeClr val="bg1"/>
                </a:solidFill>
              </a:rPr>
              <a:t>找到方向：职业与岗位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52ED2723-BEBD-45F3-88D5-323D375A1E70}"/>
              </a:ext>
            </a:extLst>
          </p:cNvPr>
          <p:cNvSpPr>
            <a:spLocks noGrp="1"/>
          </p:cNvSpPr>
          <p:nvPr/>
        </p:nvSpPr>
        <p:spPr>
          <a:xfrm>
            <a:off x="4417621" y="34514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B64C9C-5152-414C-8C7A-82A47CAB7E0F}"/>
              </a:ext>
            </a:extLst>
          </p:cNvPr>
          <p:cNvSpPr>
            <a:spLocks noGrp="1"/>
          </p:cNvSpPr>
          <p:nvPr/>
        </p:nvSpPr>
        <p:spPr>
          <a:xfrm>
            <a:off x="3617521" y="37752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5659C9-2AE2-43A9-B4F8-85C4D22FDCCD}"/>
              </a:ext>
            </a:extLst>
          </p:cNvPr>
          <p:cNvSpPr>
            <a:spLocks noGrp="1"/>
          </p:cNvSpPr>
          <p:nvPr/>
        </p:nvSpPr>
        <p:spPr>
          <a:xfrm>
            <a:off x="4417621" y="37181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F4F7F5"/>
                </a:solidFill>
              </a:defRPr>
            </a:pPr>
            <a:r>
              <a:rPr lang="zh-CN" altLang="en-US" sz="1800" b="1" dirty="0">
                <a:solidFill>
                  <a:schemeClr val="bg1"/>
                </a:solidFill>
              </a:rPr>
              <a:t>理解企业：能力与成长</a:t>
            </a:r>
            <a:endParaRPr sz="1800" b="1" dirty="0">
              <a:solidFill>
                <a:schemeClr val="bg1"/>
              </a:solidFill>
            </a:endParaRPr>
          </a:p>
        </p:txBody>
      </p:sp>
      <p:sp>
        <p:nvSpPr>
          <p:cNvPr id="12" name="直线连接符 11">
            <a:extLst>
              <a:ext uri="{FF2B5EF4-FFF2-40B4-BE49-F238E27FC236}">
                <a16:creationId xmlns:a16="http://schemas.microsoft.com/office/drawing/2014/main" id="{83106CB5-0B10-4D4D-BBDB-EBFAB3FA748A}"/>
              </a:ext>
            </a:extLst>
          </p:cNvPr>
          <p:cNvSpPr>
            <a:spLocks noGrp="1"/>
          </p:cNvSpPr>
          <p:nvPr/>
        </p:nvSpPr>
        <p:spPr>
          <a:xfrm>
            <a:off x="4417621" y="41753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61A9AB-0531-4859-8819-866C45B90B1F}"/>
              </a:ext>
            </a:extLst>
          </p:cNvPr>
          <p:cNvSpPr>
            <a:spLocks noGrp="1"/>
          </p:cNvSpPr>
          <p:nvPr/>
        </p:nvSpPr>
        <p:spPr>
          <a:xfrm>
            <a:off x="3617521" y="4499161"/>
            <a:ext cx="49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00D46A"/>
                </a:solidFill>
              </a:defRPr>
            </a:pPr>
            <a:r>
              <a:rPr sz="1350" b="1">
                <a:solidFill>
                  <a:srgbClr val="00D46A"/>
                </a:solidFill>
              </a:rPr>
              <a:t>04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0BBA15-D1F6-4930-9D45-1FF510EE3777}"/>
              </a:ext>
            </a:extLst>
          </p:cNvPr>
          <p:cNvSpPr>
            <a:spLocks noGrp="1"/>
          </p:cNvSpPr>
          <p:nvPr/>
        </p:nvSpPr>
        <p:spPr>
          <a:xfrm>
            <a:off x="4417621" y="4442011"/>
            <a:ext cx="704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0">
                <a:solidFill>
                  <a:srgbClr val="F4F7F5"/>
                </a:solidFill>
              </a:defRPr>
            </a:pPr>
            <a:r>
              <a:rPr lang="zh-CN" altLang="en-US" b="1" dirty="0">
                <a:solidFill>
                  <a:srgbClr val="F4F7F5"/>
                </a:solidFill>
              </a:rPr>
              <a:t>准备行动：求职与</a:t>
            </a:r>
            <a:r>
              <a:rPr lang="en-US" altLang="zh-CN" b="1" dirty="0">
                <a:solidFill>
                  <a:srgbClr val="F4F7F5"/>
                </a:solidFill>
              </a:rPr>
              <a:t>AI</a:t>
            </a:r>
            <a:endParaRPr sz="1800" b="1" dirty="0">
              <a:solidFill>
                <a:srgbClr val="F4F7F5"/>
              </a:solidFill>
            </a:endParaRPr>
          </a:p>
        </p:txBody>
      </p:sp>
      <p:sp>
        <p:nvSpPr>
          <p:cNvPr id="15" name="直线连接符 14">
            <a:extLst>
              <a:ext uri="{FF2B5EF4-FFF2-40B4-BE49-F238E27FC236}">
                <a16:creationId xmlns:a16="http://schemas.microsoft.com/office/drawing/2014/main" id="{47D582D5-9012-4A19-A35F-7212201E02FC}"/>
              </a:ext>
            </a:extLst>
          </p:cNvPr>
          <p:cNvSpPr>
            <a:spLocks noGrp="1"/>
          </p:cNvSpPr>
          <p:nvPr/>
        </p:nvSpPr>
        <p:spPr>
          <a:xfrm>
            <a:off x="4417621" y="4899211"/>
            <a:ext cx="6477000" cy="0"/>
          </a:xfrm>
          <a:prstGeom prst="line">
            <a:avLst/>
          </a:prstGeom>
          <a:noFill/>
          <a:ln w="9525">
            <a:solidFill>
              <a:srgbClr val="35413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319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34340"/>
            <a:ext cx="182880" cy="274320"/>
          </a:xfrm>
          <a:prstGeom prst="rect">
            <a:avLst/>
          </a:prstGeom>
          <a:solidFill>
            <a:srgbClr val="16D65F"/>
          </a:solidFill>
          <a:ln w="12700">
            <a:solidFill>
              <a:srgbClr val="16D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49000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不同阶段，重点不同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23900" y="1143000"/>
            <a:ext cx="5067300" cy="594360"/>
          </a:xfrm>
          <a:prstGeom prst="roundRect">
            <a:avLst>
              <a:gd name="adj" fmla="val 10256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1060" y="1234440"/>
            <a:ext cx="47929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大二升大三｜建立选择权</a:t>
            </a:r>
            <a:endParaRPr lang="en-US" sz="1833" dirty="0"/>
          </a:p>
        </p:txBody>
      </p:sp>
      <p:sp>
        <p:nvSpPr>
          <p:cNvPr id="6" name="Shape 4"/>
          <p:cNvSpPr/>
          <p:nvPr/>
        </p:nvSpPr>
        <p:spPr>
          <a:xfrm>
            <a:off x="6134100" y="1143000"/>
            <a:ext cx="5295900" cy="594360"/>
          </a:xfrm>
          <a:prstGeom prst="roundRect">
            <a:avLst>
              <a:gd name="adj" fmla="val 10256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71260" y="1234440"/>
            <a:ext cx="50215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33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大三升大四｜进入反馈循环</a:t>
            </a:r>
            <a:endParaRPr lang="en-US" sz="1833" dirty="0"/>
          </a:p>
        </p:txBody>
      </p:sp>
      <p:sp>
        <p:nvSpPr>
          <p:cNvPr id="8" name="Text 6"/>
          <p:cNvSpPr/>
          <p:nvPr/>
        </p:nvSpPr>
        <p:spPr>
          <a:xfrm>
            <a:off x="876300" y="2019300"/>
            <a:ext cx="4724400" cy="1981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确定一个主攻方向
• 学好一门主语言
• 补齐计算机基础
• 做一个能讲清楚的项目
• 尝试实验室、开源或实习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6286500" y="2019300"/>
            <a:ext cx="4914900" cy="1981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明确主投岗位
• 保留1—2个核心项目</a:t>
            </a:r>
            <a:r>
              <a:rPr lang="zh-CN" alt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：最好是实习经验、跨国项目</a:t>
            </a:r>
            <a:endParaRPr lang="en-US" sz="1333" dirty="0">
              <a:solidFill>
                <a:srgbClr val="FFFFFF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zh-CN" alt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保证有</a:t>
            </a:r>
            <a:r>
              <a:rPr lang="en-US" altLang="zh-CN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</a:t>
            </a:r>
            <a:r>
              <a:rPr lang="zh-CN" alt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个核心亮点：竞赛、开源、专利、论文</a:t>
            </a:r>
            <a:r>
              <a:rPr lang="en-US" altLang="zh-CN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sci</a:t>
            </a:r>
            <a:r>
              <a:rPr lang="zh-CN" alt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altLang="zh-CN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• 准备简历和项目表达
• 尽快参加投递和面试
• 根据反馈持续调整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838200" y="5524500"/>
            <a:ext cx="10515600" cy="495300"/>
          </a:xfrm>
          <a:prstGeom prst="rect">
            <a:avLst/>
          </a:prstGeom>
          <a:solidFill>
            <a:srgbClr val="F3F7F4"/>
          </a:solidFill>
          <a:ln w="12700">
            <a:solidFill>
              <a:srgbClr val="F3F7F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" y="5615940"/>
            <a:ext cx="10241280" cy="3124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r>
              <a:rPr lang="en-US" sz="1500" b="1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真实反馈比自己想象“准备得怎么样”更准确。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1500" y="6454140"/>
            <a:ext cx="4191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AI时代软件人才的职业发展规划  |  16</a:t>
            </a:r>
            <a:endParaRPr lang="en-US" sz="667" dirty="0"/>
          </a:p>
        </p:txBody>
      </p:sp>
      <p:sp>
        <p:nvSpPr>
          <p:cNvPr id="13" name="Text 11"/>
          <p:cNvSpPr/>
          <p:nvPr/>
        </p:nvSpPr>
        <p:spPr>
          <a:xfrm>
            <a:off x="10210800" y="6454140"/>
            <a:ext cx="14478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 by DaoCloud</a:t>
            </a:r>
            <a:endParaRPr lang="en-US" sz="667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34340"/>
            <a:ext cx="182880" cy="274320"/>
          </a:xfrm>
          <a:prstGeom prst="rect">
            <a:avLst/>
          </a:prstGeom>
          <a:solidFill>
            <a:srgbClr val="16D65F"/>
          </a:solidFill>
          <a:ln w="12700">
            <a:solidFill>
              <a:srgbClr val="16D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49000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实习的价值：把“我学过”变成“我做得到”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23900" y="1257300"/>
            <a:ext cx="2438400" cy="495300"/>
          </a:xfrm>
          <a:prstGeom prst="roundRect">
            <a:avLst>
              <a:gd name="adj" fmla="val 12308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1060" y="1348740"/>
            <a:ext cx="2164080" cy="3581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验证方向</a:t>
            </a:r>
            <a:endParaRPr lang="en-US" sz="1667" dirty="0"/>
          </a:p>
        </p:txBody>
      </p:sp>
      <p:sp>
        <p:nvSpPr>
          <p:cNvPr id="6" name="Text 4"/>
          <p:cNvSpPr/>
          <p:nvPr/>
        </p:nvSpPr>
        <p:spPr>
          <a:xfrm>
            <a:off x="838200" y="1943100"/>
            <a:ext cx="2209800" cy="7620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ctr">
            <a:normAutofit/>
          </a:bodyPr>
          <a:lstStyle/>
          <a:p>
            <a:pPr algn="ctr"/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知道自己是否真的适合岗位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81400" y="1257300"/>
            <a:ext cx="2438400" cy="495300"/>
          </a:xfrm>
          <a:prstGeom prst="roundRect">
            <a:avLst>
              <a:gd name="adj" fmla="val 12308"/>
            </a:avLst>
          </a:prstGeom>
          <a:solidFill>
            <a:srgbClr val="0E8F43"/>
          </a:solidFill>
          <a:ln w="12700">
            <a:solidFill>
              <a:srgbClr val="0E8F4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8560" y="1348740"/>
            <a:ext cx="2164080" cy="3581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工程认知</a:t>
            </a:r>
            <a:endParaRPr lang="en-US" sz="1667" dirty="0"/>
          </a:p>
        </p:txBody>
      </p:sp>
      <p:sp>
        <p:nvSpPr>
          <p:cNvPr id="9" name="Text 7"/>
          <p:cNvSpPr/>
          <p:nvPr/>
        </p:nvSpPr>
        <p:spPr>
          <a:xfrm>
            <a:off x="3695700" y="1943100"/>
            <a:ext cx="2209800" cy="7620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ctr">
            <a:normAutofit/>
          </a:bodyPr>
          <a:lstStyle/>
          <a:p>
            <a:pPr algn="ctr"/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流程、规范、协作、交付与线上风险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38900" y="1257300"/>
            <a:ext cx="2438400" cy="495300"/>
          </a:xfrm>
          <a:prstGeom prst="roundRect">
            <a:avLst>
              <a:gd name="adj" fmla="val 12308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6060" y="1348740"/>
            <a:ext cx="2164080" cy="3581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简历可信度</a:t>
            </a:r>
            <a:endParaRPr lang="en-US" sz="1667" dirty="0"/>
          </a:p>
        </p:txBody>
      </p:sp>
      <p:sp>
        <p:nvSpPr>
          <p:cNvPr id="12" name="Text 10"/>
          <p:cNvSpPr/>
          <p:nvPr/>
        </p:nvSpPr>
        <p:spPr>
          <a:xfrm>
            <a:off x="6553200" y="1943100"/>
            <a:ext cx="2209800" cy="7620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ctr">
            <a:normAutofit/>
          </a:bodyPr>
          <a:lstStyle/>
          <a:p>
            <a:pPr algn="ctr"/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证明你能更快上手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96400" y="1257300"/>
            <a:ext cx="2438400" cy="495300"/>
          </a:xfrm>
          <a:prstGeom prst="roundRect">
            <a:avLst>
              <a:gd name="adj" fmla="val 12308"/>
            </a:avLst>
          </a:prstGeom>
          <a:solidFill>
            <a:srgbClr val="064D9D"/>
          </a:solidFill>
          <a:ln w="12700">
            <a:solidFill>
              <a:srgbClr val="064D9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33560" y="1348740"/>
            <a:ext cx="2164080" cy="3581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下一次机会</a:t>
            </a:r>
            <a:endParaRPr lang="en-US" sz="1667" dirty="0"/>
          </a:p>
        </p:txBody>
      </p:sp>
      <p:sp>
        <p:nvSpPr>
          <p:cNvPr id="15" name="Text 13"/>
          <p:cNvSpPr/>
          <p:nvPr/>
        </p:nvSpPr>
        <p:spPr>
          <a:xfrm>
            <a:off x="9410700" y="1943100"/>
            <a:ext cx="2209800" cy="7620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ctr">
            <a:normAutofit/>
          </a:bodyPr>
          <a:lstStyle/>
          <a:p>
            <a:pPr algn="ctr"/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第一段经历撬动第二段经历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8200" y="3314700"/>
            <a:ext cx="10477500" cy="533400"/>
          </a:xfrm>
          <a:prstGeom prst="roundRect">
            <a:avLst>
              <a:gd name="adj" fmla="val 11429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60" y="3406140"/>
            <a:ext cx="10203180" cy="39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有价值的实习 = 真实任务 + 个人贡献 + 问题解决 + 可验证结果</a:t>
            </a:r>
            <a:endParaRPr lang="en-US" sz="1667" dirty="0"/>
          </a:p>
        </p:txBody>
      </p:sp>
      <p:sp>
        <p:nvSpPr>
          <p:cNvPr id="18" name="Text 16"/>
          <p:cNvSpPr/>
          <p:nvPr/>
        </p:nvSpPr>
        <p:spPr>
          <a:xfrm>
            <a:off x="861060" y="4358640"/>
            <a:ext cx="9220200" cy="9525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1417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项目解决什么问题？我负责哪一部分？
• 遇到什么困难？如何分析和解决？
• 最终结果如何验证？能否被继续追问？</a:t>
            </a:r>
            <a:endParaRPr lang="en-US" sz="1417" dirty="0"/>
          </a:p>
        </p:txBody>
      </p:sp>
      <p:sp>
        <p:nvSpPr>
          <p:cNvPr id="19" name="Text 17"/>
          <p:cNvSpPr/>
          <p:nvPr/>
        </p:nvSpPr>
        <p:spPr>
          <a:xfrm>
            <a:off x="571500" y="6454140"/>
            <a:ext cx="4191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AI时代软件人才的职业发展规划  |  17</a:t>
            </a:r>
            <a:endParaRPr lang="en-US" sz="667" dirty="0"/>
          </a:p>
        </p:txBody>
      </p:sp>
      <p:sp>
        <p:nvSpPr>
          <p:cNvPr id="20" name="Text 18"/>
          <p:cNvSpPr/>
          <p:nvPr/>
        </p:nvSpPr>
        <p:spPr>
          <a:xfrm>
            <a:off x="10210800" y="6454140"/>
            <a:ext cx="14478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 by DaoCloud</a:t>
            </a:r>
            <a:endParaRPr lang="en-US" sz="667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34340"/>
            <a:ext cx="182880" cy="274320"/>
          </a:xfrm>
          <a:prstGeom prst="rect">
            <a:avLst/>
          </a:prstGeom>
          <a:solidFill>
            <a:srgbClr val="16D65F"/>
          </a:solidFill>
          <a:ln w="12700">
            <a:solidFill>
              <a:srgbClr val="16D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49000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没有实习，也可以用真实实践建立可信度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38200" y="1333500"/>
            <a:ext cx="4648200" cy="495300"/>
          </a:xfrm>
          <a:prstGeom prst="roundRect">
            <a:avLst>
              <a:gd name="adj" fmla="val 12308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5360" y="1424940"/>
            <a:ext cx="4373880" cy="3581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科研与产学研</a:t>
            </a:r>
            <a:endParaRPr lang="en-US" sz="1667" dirty="0"/>
          </a:p>
        </p:txBody>
      </p:sp>
      <p:sp>
        <p:nvSpPr>
          <p:cNvPr id="6" name="Text 4"/>
          <p:cNvSpPr/>
          <p:nvPr/>
        </p:nvSpPr>
        <p:spPr>
          <a:xfrm>
            <a:off x="1028700" y="2057400"/>
            <a:ext cx="4267200" cy="3429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r>
              <a:rPr 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实验室、老师课题、企业联合项目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838200" y="2781300"/>
            <a:ext cx="4648200" cy="495300"/>
          </a:xfrm>
          <a:prstGeom prst="roundRect">
            <a:avLst>
              <a:gd name="adj" fmla="val 12308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" y="2872740"/>
            <a:ext cx="4373880" cy="3581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开放协作</a:t>
            </a:r>
            <a:endParaRPr lang="en-US" sz="1667" dirty="0"/>
          </a:p>
        </p:txBody>
      </p:sp>
      <p:sp>
        <p:nvSpPr>
          <p:cNvPr id="9" name="Text 7"/>
          <p:cNvSpPr/>
          <p:nvPr/>
        </p:nvSpPr>
        <p:spPr>
          <a:xfrm>
            <a:off x="1028700" y="3505200"/>
            <a:ext cx="4267200" cy="3429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r>
              <a:rPr 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开源社区、长期维护的GitHub项目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6172200" y="1333500"/>
            <a:ext cx="4648200" cy="495300"/>
          </a:xfrm>
          <a:prstGeom prst="roundRect">
            <a:avLst>
              <a:gd name="adj" fmla="val 12308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24940"/>
            <a:ext cx="4373880" cy="3581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真实用户</a:t>
            </a:r>
            <a:endParaRPr lang="en-US" sz="1667" dirty="0"/>
          </a:p>
        </p:txBody>
      </p:sp>
      <p:sp>
        <p:nvSpPr>
          <p:cNvPr id="12" name="Text 10"/>
          <p:cNvSpPr/>
          <p:nvPr/>
        </p:nvSpPr>
        <p:spPr>
          <a:xfrm>
            <a:off x="6362700" y="2057400"/>
            <a:ext cx="4267200" cy="3429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r>
              <a:rPr lang="en-US" sz="1333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校园信息化、个人产品、技术项目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6172200" y="2781300"/>
            <a:ext cx="4648200" cy="495300"/>
          </a:xfrm>
          <a:prstGeom prst="roundRect">
            <a:avLst>
              <a:gd name="adj" fmla="val 12308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872740"/>
            <a:ext cx="4373880" cy="3581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竞赛与毕业设计</a:t>
            </a:r>
            <a:endParaRPr lang="en-US" sz="1667" dirty="0"/>
          </a:p>
        </p:txBody>
      </p:sp>
      <p:sp>
        <p:nvSpPr>
          <p:cNvPr id="15" name="Text 13"/>
          <p:cNvSpPr/>
          <p:nvPr/>
        </p:nvSpPr>
        <p:spPr>
          <a:xfrm>
            <a:off x="6362700" y="3505200"/>
            <a:ext cx="4267200" cy="342900"/>
          </a:xfrm>
          <a:prstGeom prst="rect">
            <a:avLst/>
          </a:prstGeom>
          <a:noFill/>
          <a:ln/>
        </p:spPr>
        <p:txBody>
          <a:bodyPr wrap="square" lIns="212" tIns="212" rIns="212" bIns="212" rtlCol="0" anchor="t">
            <a:normAutofit/>
          </a:bodyPr>
          <a:lstStyle/>
          <a:p>
            <a:r>
              <a:rPr lang="en-US" sz="1333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围绕求职方向形成完整作品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838200" y="4838700"/>
            <a:ext cx="10515600" cy="533400"/>
          </a:xfrm>
          <a:prstGeom prst="rect">
            <a:avLst/>
          </a:prstGeom>
          <a:solidFill>
            <a:srgbClr val="F3F7F4"/>
          </a:solidFill>
          <a:ln w="12700">
            <a:solidFill>
              <a:srgbClr val="F3F7F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60" y="4930140"/>
            <a:ext cx="10241280" cy="350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避免伪项目：不照搬教程，不堆名词，要有自己的设计与结果。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1500" y="6454140"/>
            <a:ext cx="4191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AI时代软件人才的职业发展规划  |  18</a:t>
            </a:r>
            <a:endParaRPr lang="en-US" sz="667" dirty="0"/>
          </a:p>
        </p:txBody>
      </p:sp>
      <p:sp>
        <p:nvSpPr>
          <p:cNvPr id="19" name="Text 17"/>
          <p:cNvSpPr/>
          <p:nvPr/>
        </p:nvSpPr>
        <p:spPr>
          <a:xfrm>
            <a:off x="10210800" y="6454140"/>
            <a:ext cx="14478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 by DaoCloud</a:t>
            </a:r>
            <a:endParaRPr lang="en-US" sz="667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34340"/>
            <a:ext cx="182880" cy="274320"/>
          </a:xfrm>
          <a:prstGeom prst="rect">
            <a:avLst/>
          </a:prstGeom>
          <a:solidFill>
            <a:srgbClr val="16D65F"/>
          </a:solidFill>
          <a:ln w="12700">
            <a:solidFill>
              <a:srgbClr val="16D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49000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简历、面试和AI工具：证明你能胜任岗位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23900" y="1143000"/>
            <a:ext cx="3581400" cy="533400"/>
          </a:xfrm>
          <a:prstGeom prst="roundRect">
            <a:avLst>
              <a:gd name="adj" fmla="val 11429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1060" y="1234440"/>
            <a:ext cx="3307080" cy="39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简历｜写清楚，不是写满</a:t>
            </a:r>
            <a:endParaRPr lang="en-US" sz="1667" dirty="0"/>
          </a:p>
        </p:txBody>
      </p:sp>
      <p:sp>
        <p:nvSpPr>
          <p:cNvPr id="6" name="Text 4"/>
          <p:cNvSpPr/>
          <p:nvPr/>
        </p:nvSpPr>
        <p:spPr>
          <a:xfrm>
            <a:off x="876300" y="1943100"/>
            <a:ext cx="3238500" cy="1981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背景：解决什么问题
• 职责：我负责什么
• 方案：用了什么方法
• 难点：如何解决挑战
• 结果：实现什么效果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1500" y="1143000"/>
            <a:ext cx="3581400" cy="533400"/>
          </a:xfrm>
          <a:prstGeom prst="roundRect">
            <a:avLst>
              <a:gd name="adj" fmla="val 11429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18660" y="1234440"/>
            <a:ext cx="3307080" cy="39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面试｜做过、讲清、可追问</a:t>
            </a:r>
            <a:endParaRPr lang="en-US" sz="1667" dirty="0"/>
          </a:p>
        </p:txBody>
      </p:sp>
      <p:sp>
        <p:nvSpPr>
          <p:cNvPr id="9" name="Text 7"/>
          <p:cNvSpPr/>
          <p:nvPr/>
        </p:nvSpPr>
        <p:spPr>
          <a:xfrm>
            <a:off x="4533900" y="1943100"/>
            <a:ext cx="3238500" cy="1981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是否真正做过
• 是否能讲清楚
• 是否经得起追问
• 是否有成长潜力
• 是否能复盘和协作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39100" y="1143000"/>
            <a:ext cx="3581400" cy="533400"/>
          </a:xfrm>
          <a:prstGeom prst="roundRect">
            <a:avLst>
              <a:gd name="adj" fmla="val 11429"/>
            </a:avLst>
          </a:prstGeom>
          <a:solidFill>
            <a:srgbClr val="0E8F43"/>
          </a:solidFill>
          <a:ln w="12700">
            <a:solidFill>
              <a:srgbClr val="0E8F4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6260" y="1234440"/>
            <a:ext cx="3307080" cy="39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67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AI工具｜提效，但不替代负责</a:t>
            </a:r>
            <a:endParaRPr lang="en-US" sz="1667" dirty="0"/>
          </a:p>
        </p:txBody>
      </p:sp>
      <p:sp>
        <p:nvSpPr>
          <p:cNvPr id="12" name="Text 10"/>
          <p:cNvSpPr/>
          <p:nvPr/>
        </p:nvSpPr>
        <p:spPr>
          <a:xfrm>
            <a:off x="8191500" y="1943100"/>
            <a:ext cx="3238500" cy="1981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辅助学习、代码、测试
• 辅助文档与复盘
• 不能替代基础理解
• 不能替代独立判断
• 最终仍要对结果负责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5852091"/>
            <a:ext cx="10515600" cy="495300"/>
          </a:xfrm>
          <a:prstGeom prst="rect">
            <a:avLst/>
          </a:prstGeom>
          <a:solidFill>
            <a:srgbClr val="F3F7F4"/>
          </a:solidFill>
          <a:ln w="12700">
            <a:solidFill>
              <a:srgbClr val="F3F7F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958840"/>
            <a:ext cx="10241280" cy="31242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r>
              <a:rPr lang="en-US" sz="1500" b="1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求职的本质不是包装，而是把真实经历转化为可信的岗位证据。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1500" y="6454140"/>
            <a:ext cx="4191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AI时代软件人才的职业发展规划  |  19</a:t>
            </a:r>
            <a:endParaRPr lang="en-US" sz="667" dirty="0"/>
          </a:p>
        </p:txBody>
      </p:sp>
      <p:sp>
        <p:nvSpPr>
          <p:cNvPr id="16" name="Text 14"/>
          <p:cNvSpPr/>
          <p:nvPr/>
        </p:nvSpPr>
        <p:spPr>
          <a:xfrm>
            <a:off x="10210800" y="6454140"/>
            <a:ext cx="14478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 by DaoCloud</a:t>
            </a:r>
            <a:endParaRPr lang="en-US" sz="667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1C5166D-3702-9F0D-DDA2-AD6489AEADB8}"/>
              </a:ext>
            </a:extLst>
          </p:cNvPr>
          <p:cNvSpPr txBox="1"/>
          <p:nvPr/>
        </p:nvSpPr>
        <p:spPr>
          <a:xfrm>
            <a:off x="3547654" y="3470979"/>
            <a:ext cx="6100354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dirty="0"/>
              <a:t>STAR </a:t>
            </a:r>
            <a:r>
              <a:rPr lang="zh-CN" altLang="en-US" dirty="0"/>
              <a:t>原则：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" altLang="zh-CN" sz="1400" dirty="0"/>
              <a:t>S - Situation </a:t>
            </a:r>
            <a:r>
              <a:rPr lang="zh-CN" altLang="en-US" sz="1400" dirty="0"/>
              <a:t>情境：事情发生的背景、现状、面临什么问题。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" altLang="zh-CN" sz="1400" dirty="0"/>
              <a:t>T - Task </a:t>
            </a:r>
            <a:r>
              <a:rPr lang="zh-CN" altLang="en-US" sz="1400" dirty="0"/>
              <a:t>任务：你分到的职责、需要完成的目标。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" altLang="zh-CN" sz="1400" dirty="0"/>
              <a:t>A - Action </a:t>
            </a:r>
            <a:r>
              <a:rPr lang="zh-CN" altLang="en-US" sz="1400" dirty="0"/>
              <a:t>行动（核心）：你具体做了哪些事、用了什么方法、付出什么努力，突出个人动作。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" altLang="zh-CN" sz="1400" dirty="0"/>
              <a:t>R - Result </a:t>
            </a:r>
            <a:r>
              <a:rPr lang="zh-CN" altLang="en-US" sz="1400" dirty="0"/>
              <a:t>结果：量化成果、数据、收获、价值，最好带数字。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434340"/>
            <a:ext cx="182880" cy="274320"/>
          </a:xfrm>
          <a:prstGeom prst="rect">
            <a:avLst/>
          </a:prstGeom>
          <a:solidFill>
            <a:srgbClr val="16D65F"/>
          </a:solidFill>
          <a:ln w="12700">
            <a:solidFill>
              <a:srgbClr val="16D6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49000" cy="4953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把职业规划变成今天就能开始的行动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52500" y="1181100"/>
            <a:ext cx="10172700" cy="472440"/>
          </a:xfrm>
          <a:prstGeom prst="roundRect">
            <a:avLst>
              <a:gd name="adj" fmla="val 12903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9660" y="1272540"/>
            <a:ext cx="9898380" cy="335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看趋势｜理解行业变化，不只追热点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52500" y="1905000"/>
            <a:ext cx="10172700" cy="472440"/>
          </a:xfrm>
          <a:prstGeom prst="roundRect">
            <a:avLst>
              <a:gd name="adj" fmla="val 12903"/>
            </a:avLst>
          </a:prstGeom>
          <a:solidFill>
            <a:srgbClr val="16D65F"/>
          </a:solidFill>
          <a:ln w="12700">
            <a:solidFill>
              <a:srgbClr val="16D65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9660" y="1996440"/>
            <a:ext cx="9898380" cy="335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选方向｜选择愿意长期解决的问题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52500" y="2628900"/>
            <a:ext cx="10172700" cy="472440"/>
          </a:xfrm>
          <a:prstGeom prst="roundRect">
            <a:avLst>
              <a:gd name="adj" fmla="val 12903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9660" y="2720340"/>
            <a:ext cx="9898380" cy="335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建能力｜基础、工程、项目、协作和AI素养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52500" y="3352800"/>
            <a:ext cx="10172700" cy="472440"/>
          </a:xfrm>
          <a:prstGeom prst="roundRect">
            <a:avLst>
              <a:gd name="adj" fmla="val 12903"/>
            </a:avLst>
          </a:prstGeom>
          <a:solidFill>
            <a:srgbClr val="0876E9"/>
          </a:solidFill>
          <a:ln w="12700">
            <a:solidFill>
              <a:srgbClr val="0876E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9660" y="3444240"/>
            <a:ext cx="9898380" cy="335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做验证｜通过项目、开源、实习和面试获得反馈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52500" y="4076700"/>
            <a:ext cx="10172700" cy="472440"/>
          </a:xfrm>
          <a:prstGeom prst="roundRect">
            <a:avLst>
              <a:gd name="adj" fmla="val 12903"/>
            </a:avLst>
          </a:prstGeom>
          <a:solidFill>
            <a:srgbClr val="0E8F43"/>
          </a:solidFill>
          <a:ln w="12700">
            <a:solidFill>
              <a:srgbClr val="0E8F4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9660" y="4168140"/>
            <a:ext cx="9898380" cy="335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持续成长｜根据反馈调整方向和行动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8200" y="5219700"/>
            <a:ext cx="10515600" cy="579120"/>
          </a:xfrm>
          <a:prstGeom prst="rect">
            <a:avLst/>
          </a:prstGeom>
          <a:solidFill>
            <a:srgbClr val="F3F7F4"/>
          </a:solidFill>
          <a:ln w="12700">
            <a:solidFill>
              <a:srgbClr val="F3F7F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5360" y="5311140"/>
            <a:ext cx="10241280" cy="39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b="1" dirty="0">
                <a:solidFill>
                  <a:srgbClr val="05070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不要等自己完全准备好了才开始，而是在不断实践中变得越来越优秀。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1500" y="6454140"/>
            <a:ext cx="41910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AI时代软件人才的职业发展规划  |  20</a:t>
            </a:r>
            <a:endParaRPr lang="en-US" sz="667" dirty="0"/>
          </a:p>
        </p:txBody>
      </p:sp>
      <p:sp>
        <p:nvSpPr>
          <p:cNvPr id="18" name="Text 16"/>
          <p:cNvSpPr/>
          <p:nvPr/>
        </p:nvSpPr>
        <p:spPr>
          <a:xfrm>
            <a:off x="10210800" y="6454140"/>
            <a:ext cx="1447800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67" dirty="0">
                <a:solidFill>
                  <a:srgbClr val="7B86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 by DaoCloud</a:t>
            </a:r>
            <a:endParaRPr lang="en-US" sz="667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0F572-4028-48B4-B073-547CF2E65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2900"/>
            <a:ext cx="10668000" cy="685800"/>
          </a:xfrm>
        </p:spPr>
        <p:txBody>
          <a:bodyPr/>
          <a:lstStyle/>
          <a:p>
            <a:r>
              <a:rPr lang="en-US" altLang="zh-CN" dirty="0" err="1"/>
              <a:t>DaoCloud</a:t>
            </a:r>
            <a:r>
              <a:rPr lang="zh-CN" altLang="en-US" dirty="0"/>
              <a:t>的实习机会</a:t>
            </a:r>
            <a:endParaRPr dirty="0"/>
          </a:p>
        </p:txBody>
      </p:sp>
      <p:pic>
        <p:nvPicPr>
          <p:cNvPr id="14" name="内容占位符 13">
            <a:extLst>
              <a:ext uri="{FF2B5EF4-FFF2-40B4-BE49-F238E27FC236}">
                <a16:creationId xmlns:a16="http://schemas.microsoft.com/office/drawing/2014/main" id="{2E5F2DFB-A951-FBD8-7B4E-36870A066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34" y="1258026"/>
            <a:ext cx="2812135" cy="5003800"/>
          </a:xfr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18F6833-FAF2-F57B-2CD9-5EF4F3ACE7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634" y="1258026"/>
            <a:ext cx="2812136" cy="500380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67C3DFB-36C7-B0DC-6C13-2302CEF2E9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29" y="1258023"/>
            <a:ext cx="2812137" cy="500380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36FE4B4-B2AB-67E5-A5E6-8ABEFC7319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063" y="1258026"/>
            <a:ext cx="2870813" cy="510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96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占位符 32">
            <a:extLst>
              <a:ext uri="{FF2B5EF4-FFF2-40B4-BE49-F238E27FC236}">
                <a16:creationId xmlns:a16="http://schemas.microsoft.com/office/drawing/2014/main" id="{BB30FFEE-B1F0-4C8C-B464-D938AACECD2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dirty="0" err="1">
                <a:latin typeface="+mn-lt"/>
                <a:ea typeface="+mn-lt"/>
                <a:cs typeface="+mn-lt"/>
              </a:rPr>
              <a:t>在实践中成长</a:t>
            </a:r>
            <a:r>
              <a:rPr dirty="0">
                <a:latin typeface="+mn-lt"/>
                <a:ea typeface="+mn-lt"/>
                <a:cs typeface="+mn-lt"/>
              </a:rPr>
              <a:t>  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5EDB80-7CE1-EDB4-80A3-280B4AF7B72D}"/>
              </a:ext>
            </a:extLst>
          </p:cNvPr>
          <p:cNvSpPr txBox="1"/>
          <p:nvPr/>
        </p:nvSpPr>
        <p:spPr>
          <a:xfrm>
            <a:off x="5588000" y="4470400"/>
            <a:ext cx="233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800" dirty="0"/>
              <a:t>Q&amp;A</a:t>
            </a:r>
            <a:endParaRPr kumimoji="1"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823077803"/>
      </p:ext>
    </p:extLst>
  </p:cSld>
  <p:clrMapOvr>
    <a:masterClrMapping/>
  </p:clrMapOvr>
</p:sld>
</file>

<file path=ppt/theme/theme1.xml><?xml version="1.0" encoding="utf-8"?>
<a:theme xmlns:a="http://schemas.openxmlformats.org/drawingml/2006/main" name="Light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1D05C"/>
      </a:accent1>
      <a:accent2>
        <a:srgbClr val="12AF4E"/>
      </a:accent2>
      <a:accent3>
        <a:srgbClr val="338EFE"/>
      </a:accent3>
      <a:accent4>
        <a:srgbClr val="4E4E4E"/>
      </a:accent4>
      <a:accent5>
        <a:srgbClr val="83D895"/>
      </a:accent5>
      <a:accent6>
        <a:srgbClr val="97B1FD"/>
      </a:accent6>
      <a:hlink>
        <a:srgbClr val="11D05C"/>
      </a:hlink>
      <a:folHlink>
        <a:srgbClr val="BFBFBF"/>
      </a:folHlink>
    </a:clrScheme>
    <a:fontScheme name="jtlklqiu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ight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1D05C"/>
      </a:accent1>
      <a:accent2>
        <a:srgbClr val="12AF4E"/>
      </a:accent2>
      <a:accent3>
        <a:srgbClr val="338EFE"/>
      </a:accent3>
      <a:accent4>
        <a:srgbClr val="4E4E4E"/>
      </a:accent4>
      <a:accent5>
        <a:srgbClr val="83D895"/>
      </a:accent5>
      <a:accent6>
        <a:srgbClr val="97B1FD"/>
      </a:accent6>
      <a:hlink>
        <a:srgbClr val="11D05C"/>
      </a:hlink>
      <a:folHlink>
        <a:srgbClr val="BFBFBF"/>
      </a:folHlink>
    </a:clrScheme>
    <a:fontScheme name="jtlklqiu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ight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1D05C"/>
      </a:accent1>
      <a:accent2>
        <a:srgbClr val="12AF4E"/>
      </a:accent2>
      <a:accent3>
        <a:srgbClr val="338EFE"/>
      </a:accent3>
      <a:accent4>
        <a:srgbClr val="4E4E4E"/>
      </a:accent4>
      <a:accent5>
        <a:srgbClr val="83D895"/>
      </a:accent5>
      <a:accent6>
        <a:srgbClr val="97B1FD"/>
      </a:accent6>
      <a:hlink>
        <a:srgbClr val="11D05C"/>
      </a:hlink>
      <a:folHlink>
        <a:srgbClr val="BFBFBF"/>
      </a:folHlink>
    </a:clrScheme>
    <a:fontScheme name="jtlklqiu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4388</Words>
  <Application>Microsoft Macintosh PowerPoint</Application>
  <DocSecurity>0</DocSecurity>
  <PresentationFormat>宽屏</PresentationFormat>
  <Paragraphs>382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微软雅黑</vt:lpstr>
      <vt:lpstr>微软雅黑</vt:lpstr>
      <vt:lpstr>ui-sans-serif</vt:lpstr>
      <vt:lpstr>Arial</vt:lpstr>
      <vt:lpstr>Light</vt:lpstr>
      <vt:lpstr>1_Light</vt:lpstr>
      <vt:lpstr>AI时代软件人才的职业发展规划</vt:lpstr>
      <vt:lpstr>PowerPoint 演示文稿</vt:lpstr>
      <vt:lpstr>职业规划不是选定终身岗位，而是一系列行动</vt:lpstr>
      <vt:lpstr>PowerPoint 演示文稿</vt:lpstr>
      <vt:lpstr>01 看见变化：热点不断变化，技术价值正走向平台与系统</vt:lpstr>
      <vt:lpstr>01 看见变化：AI时代，技术行业正在往哪里走？</vt:lpstr>
      <vt:lpstr>01 看见变化：产业机会正在迁移，人才标准正在升级</vt:lpstr>
      <vt:lpstr>01.AI不会简单替代程序员，但会重写程序员的价值分工</vt:lpstr>
      <vt:lpstr>01 看见变化：计算机大类毕业生 &amp; 就业数据</vt:lpstr>
      <vt:lpstr>研发与技术岗位薪资参考｜公开样本，仅作市场参考</vt:lpstr>
      <vt:lpstr>机会仍在，竞争从“专业对口”变成“证据匹配”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DaoCloud的实习机会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Jing Zhang</cp:lastModifiedBy>
  <cp:revision>14</cp:revision>
  <dcterms:created xsi:type="dcterms:W3CDTF">2026-07-11T04:15:37Z</dcterms:created>
  <dcterms:modified xsi:type="dcterms:W3CDTF">2026-07-13T11:21:23Z</dcterms:modified>
</cp:coreProperties>
</file>