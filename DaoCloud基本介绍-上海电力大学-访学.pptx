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8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6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9" r:id="rId5"/>
    <p:sldMasterId id="2147483680" r:id="rId6"/>
    <p:sldMasterId id="2147483704" r:id="rId7"/>
    <p:sldMasterId id="2147483716" r:id="rId8"/>
  </p:sldMasterIdLst>
  <p:notesMasterIdLst>
    <p:notesMasterId r:id="rId25"/>
  </p:notesMasterIdLst>
  <p:handoutMasterIdLst>
    <p:handoutMasterId r:id="rId26"/>
  </p:handoutMasterIdLst>
  <p:sldIdLst>
    <p:sldId id="6951479" r:id="rId9"/>
    <p:sldId id="6951482" r:id="rId10"/>
    <p:sldId id="12541466" r:id="rId11"/>
    <p:sldId id="16669278" r:id="rId12"/>
    <p:sldId id="902" r:id="rId13"/>
    <p:sldId id="2147375589" r:id="rId14"/>
    <p:sldId id="12541465" r:id="rId15"/>
    <p:sldId id="6951483" r:id="rId16"/>
    <p:sldId id="2147375590" r:id="rId17"/>
    <p:sldId id="260" r:id="rId18"/>
    <p:sldId id="266" r:id="rId19"/>
    <p:sldId id="2147375591" r:id="rId20"/>
    <p:sldId id="258" r:id="rId21"/>
    <p:sldId id="6951480" r:id="rId22"/>
    <p:sldId id="6951481" r:id="rId23"/>
    <p:sldId id="262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DC86"/>
    <a:srgbClr val="0FD15C"/>
    <a:srgbClr val="0DB04F"/>
    <a:srgbClr val="3D6F77"/>
    <a:srgbClr val="144951"/>
    <a:srgbClr val="7F7F7F"/>
    <a:srgbClr val="B8B8B8"/>
    <a:srgbClr val="333333"/>
    <a:srgbClr val="000000"/>
    <a:srgbClr val="10D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D1862-995F-8D29-493D-5E33AD7F3877}" v="3" dt="2024-05-16T07:04:10.481"/>
    <p1510:client id="{ADBC601A-B7DE-0662-42B4-6536C854EE0E}" v="1" dt="2024-05-16T08:22:29.916"/>
    <p1510:client id="{E4C921B4-756B-8F4F-B9D6-C979FC2013D3}" v="98" dt="2024-05-16T08:25:21.065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76023"/>
  </p:normalViewPr>
  <p:slideViewPr>
    <p:cSldViewPr snapToGrid="0">
      <p:cViewPr varScale="1">
        <p:scale>
          <a:sx n="84" d="100"/>
          <a:sy n="84" d="100"/>
        </p:scale>
        <p:origin x="1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224640291429399"/>
          <c:y val="3.81461672658919E-2"/>
          <c:w val="0.58775359708570596"/>
          <c:h val="0.9583859993462999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All the world's gold</c:v>
                </c:pt>
                <c:pt idx="1">
                  <c:v>Opensource software</c:v>
                </c:pt>
                <c:pt idx="2">
                  <c:v>US money market funds</c:v>
                </c:pt>
                <c:pt idx="3">
                  <c:v>Germany GDP</c:v>
                </c:pt>
                <c:pt idx="4">
                  <c:v>India GDP</c:v>
                </c:pt>
                <c:pt idx="5">
                  <c:v>Global software sales</c:v>
                </c:pt>
                <c:pt idx="6">
                  <c:v>Microsoft market cap</c:v>
                </c:pt>
                <c:pt idx="7">
                  <c:v>Apple market cap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13.5</c:v>
                </c:pt>
                <c:pt idx="1">
                  <c:v>8.8000000000000007</c:v>
                </c:pt>
                <c:pt idx="2">
                  <c:v>6</c:v>
                </c:pt>
                <c:pt idx="3">
                  <c:v>4.5</c:v>
                </c:pt>
                <c:pt idx="4">
                  <c:v>3.7</c:v>
                </c:pt>
                <c:pt idx="5">
                  <c:v>3.4</c:v>
                </c:pt>
                <c:pt idx="6">
                  <c:v>3.1</c:v>
                </c:pt>
                <c:pt idx="7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E-422C-8FB0-2E908269E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0036639"/>
        <c:axId val="481284815"/>
      </c:barChart>
      <c:catAx>
        <c:axId val="4800366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1284815"/>
        <c:crosses val="autoZero"/>
        <c:auto val="1"/>
        <c:lblAlgn val="ctr"/>
        <c:lblOffset val="100"/>
        <c:noMultiLvlLbl val="0"/>
      </c:catAx>
      <c:valAx>
        <c:axId val="4812848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0036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740D1EC-5B83-1E41-8CAA-699A711A54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075971-8B61-9346-9189-EA714DCA89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1746E-2635-B94E-BC78-E8F5EF0D78BA}" type="datetimeFigureOut">
              <a:rPr kumimoji="1" lang="zh-CN" alt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2026/7/13</a:t>
            </a:fld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5F3BBE-9C7A-F94A-AAB8-4738CE0058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B4F3E1-336C-6F4B-B964-B3123C8EA1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8BD94-E079-A44D-81B6-C4F318B39CD8}" type="slidenum">
              <a:rPr kumimoji="1" lang="zh-CN" alt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‹#›</a:t>
            </a:fld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5483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82A3D24-6083-4546-8C6D-DEE86BAAAE49}" type="datetimeFigureOut">
              <a:rPr lang="zh-CN" altLang="en-US" smtClean="0"/>
              <a:pPr/>
              <a:t>2026/7/13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A3ED8765-8EF3-408C-9341-152904E414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过去十年，整个IT行业最大的基础设施革命，是云原生。</a:t>
            </a:r>
          </a:p>
          <a:p>
            <a:r>
              <a:rPr lang="zh-CN" altLang="zh-CN" dirty="0"/>
              <a:t>Docker解决的是：</a:t>
            </a:r>
          </a:p>
          <a:p>
            <a:r>
              <a:rPr lang="zh-CN" altLang="zh-CN" dirty="0"/>
              <a:t>软件怎么打包。</a:t>
            </a:r>
          </a:p>
          <a:p>
            <a:r>
              <a:rPr lang="zh-CN" altLang="zh-CN" dirty="0"/>
              <a:t>Kubernetes解决的是：</a:t>
            </a:r>
          </a:p>
          <a:p>
            <a:r>
              <a:rPr lang="zh-CN" altLang="zh-CN" dirty="0"/>
              <a:t>软件怎么运行。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818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而今天AI时代来了。</a:t>
            </a:r>
          </a:p>
          <a:p>
            <a:r>
              <a:rPr lang="zh-CN" altLang="zh-CN" dirty="0"/>
              <a:t>新的问题变成：</a:t>
            </a:r>
          </a:p>
          <a:p>
            <a:r>
              <a:rPr lang="zh-CN" altLang="zh-CN" dirty="0"/>
              <a:t>GPU怎么调度？</a:t>
            </a:r>
          </a:p>
          <a:p>
            <a:r>
              <a:rPr lang="zh-CN" altLang="zh-CN" dirty="0"/>
              <a:t>模型怎么部署？</a:t>
            </a:r>
          </a:p>
          <a:p>
            <a:r>
              <a:rPr lang="zh-CN" altLang="zh-CN" dirty="0"/>
              <a:t>推理怎么降成本？</a:t>
            </a:r>
          </a:p>
          <a:p>
            <a:r>
              <a:rPr lang="zh-CN" altLang="zh-CN" dirty="0"/>
              <a:t>Token怎么生产？</a:t>
            </a:r>
          </a:p>
          <a:p>
            <a:r>
              <a:rPr lang="zh-CN" altLang="zh-CN" dirty="0"/>
              <a:t>所以今天AI Infra，其实就是下一代基础设施。</a:t>
            </a:r>
          </a:p>
          <a:p>
            <a:r>
              <a:rPr lang="zh-CN" altLang="zh-CN" dirty="0"/>
              <a:t>而DaoCloud，很幸运，两波浪潮都参与了。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585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13D5-37F8-3FE9-B928-5E54EE3C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6486DC-5A2E-18D0-768D-4B54A2C10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151A51-9E37-39DD-B688-CBE8C7EA79D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559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132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zh-CN" altLang="zh-CN" sz="1200" dirty="0"/>
          </a:p>
          <a:p>
            <a:pPr>
              <a:buNone/>
            </a:pPr>
            <a:r>
              <a:rPr lang="zh-CN" altLang="zh-CN" sz="1200" dirty="0"/>
              <a:t>未来如果大家进入软件行业。</a:t>
            </a:r>
          </a:p>
          <a:p>
            <a:pPr>
              <a:buNone/>
            </a:pPr>
            <a:r>
              <a:rPr lang="zh-CN" altLang="zh-CN" sz="1200" dirty="0"/>
              <a:t>GitHub可能比简历更重要。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250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506C-58B8-8660-5B4B-3AB9B41D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61E7B2-4D5B-E8E2-3488-316ED88E6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378204-F9A1-85A2-D103-6204930DEF3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425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D0DACE-38E0-42D2-9336-2B707D34BC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D0DACE-38E0-42D2-9336-2B707D34BC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009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93F1-05D9-4F98-0E84-AE15F0FF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BDEC99-D75A-B5F1-841D-AFE49A1CD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873ED2-9B5C-0933-AE23-820FEA54DA2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36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zh-CN" sz="1200" dirty="0"/>
              <a:t>今天来到这里，</a:t>
            </a:r>
          </a:p>
          <a:p>
            <a:pPr>
              <a:buNone/>
            </a:pPr>
            <a:r>
              <a:rPr lang="zh-CN" altLang="zh-CN" sz="1200" dirty="0"/>
              <a:t>希望大家不是记住几个技术名词。</a:t>
            </a:r>
          </a:p>
          <a:p>
            <a:pPr>
              <a:buNone/>
            </a:pPr>
            <a:r>
              <a:rPr lang="zh-CN" altLang="zh-CN" sz="1200" dirty="0"/>
              <a:t>而是真正思考：</a:t>
            </a:r>
          </a:p>
          <a:p>
            <a:pPr>
              <a:buNone/>
            </a:pPr>
            <a:r>
              <a:rPr lang="zh-CN" altLang="zh-CN" sz="1200" dirty="0"/>
              <a:t>未来的软件，会是什么样子？</a:t>
            </a:r>
          </a:p>
          <a:p>
            <a:pPr>
              <a:buNone/>
            </a:pPr>
            <a:r>
              <a:rPr lang="zh-CN" altLang="zh-CN" sz="1200" dirty="0"/>
              <a:t>未来的软件工程师，又会是什么样子？</a:t>
            </a:r>
            <a:endParaRPr lang="zh-CN" altLang="en-US" dirty="0"/>
          </a:p>
          <a:p>
            <a:r>
              <a:rPr kumimoji="1" lang="en-US" altLang="zh-CN" dirty="0"/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b="1" dirty="0"/>
              <a:t>未来优秀的软件工程师，不是写代码最快的人，而是最擅长组织 AI、数据、工具和系统完成复杂任务的人。</a:t>
            </a:r>
            <a:br>
              <a:rPr lang="en-US" altLang="zh-CN" b="1" dirty="0"/>
            </a:br>
            <a:r>
              <a:rPr lang="zh-CN" altLang="zh-CN" b="1" dirty="0"/>
              <a:t>真正不会过时的，从来不是某一门编程语言，而是理解问题、设计系统、持续学习的能力。</a:t>
            </a:r>
            <a:endParaRPr lang="zh-CN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25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DF19015-04C3-6941-B151-ADA74CF355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399" y="2018505"/>
            <a:ext cx="7882709" cy="160271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spcBef>
                <a:spcPts val="1500"/>
              </a:spcBef>
              <a:defRPr lang="zh-CN" altLang="en-US" sz="4000" b="1" spc="100" baseline="0" dirty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主标题 </a:t>
            </a:r>
            <a:r>
              <a:rPr lang="en-US" altLang="zh-CN"/>
              <a:t>Click to edit 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399" y="3860757"/>
            <a:ext cx="7882709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lang="zh-CN" altLang="en-US" sz="16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marL="228600" lvl="0" indent="-228600" defTabSz="914354"/>
            <a:r>
              <a:rPr lang="zh-CN" altLang="en-US"/>
              <a:t>副标题 </a:t>
            </a:r>
            <a:r>
              <a:rPr lang="en-US" altLang="zh-CN"/>
              <a:t>Click to edit Master subtitle style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C0AE3A-EA85-7944-9C27-6C6AA0CFA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139" y="335974"/>
            <a:ext cx="1831368" cy="5860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85D0F65-D2D7-5841-99E4-3A5212CBDA27}"/>
              </a:ext>
            </a:extLst>
          </p:cNvPr>
          <p:cNvSpPr txBox="1"/>
          <p:nvPr userDrawn="1"/>
        </p:nvSpPr>
        <p:spPr>
          <a:xfrm>
            <a:off x="538841" y="6438901"/>
            <a:ext cx="3216729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>
              <a:defRPr sz="900" spc="6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为数字世界寻找全局最优解</a:t>
            </a:r>
          </a:p>
          <a:p>
            <a:pPr lvl="0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76C8F5-3A7C-C97B-6451-87AE3BB3AE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B9F0F9-E56B-AE45-9505-8FD661458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682" y="3039477"/>
            <a:ext cx="6540641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63682" y="3719850"/>
            <a:ext cx="5398007" cy="505084"/>
          </a:xfrm>
        </p:spPr>
        <p:txBody>
          <a:bodyPr>
            <a:norm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37E834-47D8-8A08-522D-FEE296BEB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55F77487-F10D-0649-8965-89F07F6D352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63682" y="2121884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568533" y="2116617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4868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章节页_Sub 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FF306A3-FE5F-D217-E363-EB257E3F95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A587B265-C2CB-09AA-B09F-F41C7466F3DF}"/>
              </a:ext>
            </a:extLst>
          </p:cNvPr>
          <p:cNvSpPr/>
          <p:nvPr userDrawn="1"/>
        </p:nvSpPr>
        <p:spPr>
          <a:xfrm>
            <a:off x="485065" y="992362"/>
            <a:ext cx="5040000" cy="2592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74785802-2053-93B2-64DA-54F9DAAAD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045" y="2137835"/>
            <a:ext cx="4680000" cy="461665"/>
          </a:xfrm>
        </p:spPr>
        <p:txBody>
          <a:bodyPr vert="horz" wrap="square" lIns="91440" tIns="45720" rIns="91440" bIns="45720" rtlCol="0" anchor="b">
            <a:spAutoFit/>
          </a:bodyPr>
          <a:lstStyle>
            <a:lvl1pPr>
              <a:lnSpc>
                <a:spcPct val="100000"/>
              </a:lnSpc>
              <a:defRPr lang="zh-CN" altLang="en-US" sz="24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72A16398-11AE-3935-E719-578C4DA9CF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3045" y="2633822"/>
            <a:ext cx="4680000" cy="642163"/>
          </a:xfrm>
        </p:spPr>
        <p:txBody>
          <a:bodyPr wrap="square">
            <a:spAutoFit/>
          </a:bodyPr>
          <a:lstStyle>
            <a:lvl1pPr marL="0" indent="0">
              <a:lnSpc>
                <a:spcPct val="135000"/>
              </a:lnSpc>
              <a:spcBef>
                <a:spcPts val="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5" name="文本占位符 2">
            <a:extLst>
              <a:ext uri="{FF2B5EF4-FFF2-40B4-BE49-F238E27FC236}">
                <a16:creationId xmlns:a16="http://schemas.microsoft.com/office/drawing/2014/main" id="{FA454791-C5FF-A729-ABD1-C9F6058BB31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046" y="1190349"/>
            <a:ext cx="1256435" cy="832344"/>
          </a:xfrm>
        </p:spPr>
        <p:txBody>
          <a:bodyPr>
            <a:sp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0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28A5ACF7-1001-1454-F1B9-D45AB845D5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909481" y="1190349"/>
            <a:ext cx="3423564" cy="832344"/>
          </a:xfrm>
        </p:spPr>
        <p:txBody>
          <a:bodyPr wrap="square">
            <a:sp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0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02-01</a:t>
            </a:r>
          </a:p>
        </p:txBody>
      </p:sp>
    </p:spTree>
    <p:extLst>
      <p:ext uri="{BB962C8B-B14F-4D97-AF65-F5344CB8AC3E}">
        <p14:creationId xmlns:p14="http://schemas.microsoft.com/office/powerpoint/2010/main" val="2802087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_Standard page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54AAA9-6449-EC43-A22D-9CF53456E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4E3A4C-FA95-184B-986B-C7B8912854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102658"/>
            <a:ext cx="10858500" cy="5133041"/>
          </a:xfrm>
        </p:spPr>
        <p:txBody>
          <a:bodyPr>
            <a:normAutofit/>
          </a:bodyPr>
          <a:lstStyle>
            <a:lvl1pPr marL="180000" indent="-180000">
              <a:lnSpc>
                <a:spcPct val="135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4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3FCC5E-CEBE-604F-B58B-2B31CE38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89C5B5-ADAD-534F-B78B-EA70DA99B121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007121-1597-4E94-D330-81C0E9A77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准内容页@大字号版_Standard page@larger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54AAA9-6449-EC43-A22D-9CF53456E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4E3A4C-FA95-184B-986B-C7B8912854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102658"/>
            <a:ext cx="10858500" cy="5133041"/>
          </a:xfrm>
        </p:spPr>
        <p:txBody>
          <a:bodyPr>
            <a:normAutofit/>
          </a:bodyPr>
          <a:lstStyle>
            <a:lvl1pPr marL="180000" indent="-180000">
              <a:lnSpc>
                <a:spcPct val="135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3FCC5E-CEBE-604F-B58B-2B31CE38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89C5B5-ADAD-534F-B78B-EA70DA99B121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007121-1597-4E94-D330-81C0E9A77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（小标题）_Standard page with subtitle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54AAA9-6449-EC43-A22D-9CF53456E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4E3A4C-FA95-184B-986B-C7B8912854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739152"/>
            <a:ext cx="10858500" cy="4496547"/>
          </a:xfrm>
        </p:spPr>
        <p:txBody>
          <a:bodyPr>
            <a:normAutofit/>
          </a:bodyPr>
          <a:lstStyle>
            <a:lvl1pPr marL="180000" indent="-180000">
              <a:lnSpc>
                <a:spcPct val="135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4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3FCC5E-CEBE-604F-B58B-2B31CE38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89C5B5-ADAD-534F-B78B-EA70DA99B121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007121-1597-4E94-D330-81C0E9A77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10" name="文本占位符 8">
            <a:extLst>
              <a:ext uri="{FF2B5EF4-FFF2-40B4-BE49-F238E27FC236}">
                <a16:creationId xmlns:a16="http://schemas.microsoft.com/office/drawing/2014/main" id="{C1C77039-7AAC-444D-917D-DD4127569B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1060433"/>
            <a:ext cx="10857600" cy="528815"/>
          </a:xfrm>
        </p:spPr>
        <p:txBody>
          <a:bodyPr>
            <a:noAutofit/>
          </a:bodyPr>
          <a:lstStyle>
            <a:lvl1pPr marL="0" indent="0" algn="l">
              <a:buFont typeface="+mj-lt"/>
              <a:buNone/>
              <a:defRPr sz="1800" b="1">
                <a:latin typeface="+mj-lt"/>
                <a:ea typeface="+mj-ea"/>
              </a:defRPr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zh-CN" altLang="en-US"/>
              <a:t>小标题 </a:t>
            </a:r>
            <a:r>
              <a:rPr lang="en-US" altLang="zh-CN"/>
              <a:t>Subtitle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69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准内容页（小标题）@大字号版_Standard page with subtitle@larger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54AAA9-6449-EC43-A22D-9CF53456E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4E3A4C-FA95-184B-986B-C7B8912854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739152"/>
            <a:ext cx="10858500" cy="4496547"/>
          </a:xfrm>
        </p:spPr>
        <p:txBody>
          <a:bodyPr>
            <a:normAutofit/>
          </a:bodyPr>
          <a:lstStyle>
            <a:lvl1pPr marL="180000" indent="-180000">
              <a:lnSpc>
                <a:spcPct val="135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3FCC5E-CEBE-604F-B58B-2B31CE38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89C5B5-ADAD-534F-B78B-EA70DA99B121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007121-1597-4E94-D330-81C0E9A77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10" name="文本占位符 8">
            <a:extLst>
              <a:ext uri="{FF2B5EF4-FFF2-40B4-BE49-F238E27FC236}">
                <a16:creationId xmlns:a16="http://schemas.microsoft.com/office/drawing/2014/main" id="{C1C77039-7AAC-444D-917D-DD4127569B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1060433"/>
            <a:ext cx="10857600" cy="538865"/>
          </a:xfrm>
        </p:spPr>
        <p:txBody>
          <a:bodyPr>
            <a:spAutoFit/>
          </a:bodyPr>
          <a:lstStyle>
            <a:lvl1pPr marL="0" indent="0" algn="l">
              <a:buFont typeface="+mj-lt"/>
              <a:buNone/>
              <a:defRPr sz="2400" b="1">
                <a:latin typeface="+mj-lt"/>
                <a:ea typeface="+mj-ea"/>
              </a:defRPr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zh-CN" altLang="en-US"/>
              <a:t>小标题 </a:t>
            </a:r>
            <a:r>
              <a:rPr lang="en-US" altLang="zh-CN"/>
              <a:t>Subtitle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16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（带背景）_Title only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159B22-A5B9-5842-9380-4B850104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7600" cy="885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C0D41F-1457-E247-9EE6-581B5649A025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7339A9-7759-B9C2-AC5D-3BDF9F5E88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（无背景）_Title only withou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CB5896-4F73-054A-B470-33A2E57E6F39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382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（无背景）_Title only without bg@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CB5896-4F73-054A-B470-33A2E57E6F39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C2E126-F1F0-DC2F-9023-1008D5842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224362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_Empty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62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语_Slogan_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531AA-2DCA-2F43-BFE7-CE5DA794C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5167" y="2004196"/>
            <a:ext cx="5040000" cy="2520000"/>
          </a:xfrm>
        </p:spPr>
        <p:txBody>
          <a:bodyPr anchor="ctr"/>
          <a:lstStyle>
            <a:lvl1pPr algn="r">
              <a:lnSpc>
                <a:spcPct val="100000"/>
              </a:lnSpc>
              <a:defRPr sz="80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单击编辑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AAEC392-4E2A-A741-9F89-A9FC0A7691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1575" y="2004196"/>
            <a:ext cx="5040000" cy="252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0" b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zh-CN" altLang="en-US"/>
              <a:t>单击编辑</a:t>
            </a:r>
          </a:p>
        </p:txBody>
      </p:sp>
    </p:spTree>
    <p:extLst>
      <p:ext uri="{BB962C8B-B14F-4D97-AF65-F5344CB8AC3E}">
        <p14:creationId xmlns:p14="http://schemas.microsoft.com/office/powerpoint/2010/main" val="4139842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_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FF63671-BA4E-5946-9548-B2324E554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2980" y="2182868"/>
            <a:ext cx="6869953" cy="164306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1500"/>
              </a:spcBef>
              <a:buNone/>
              <a:defRPr lang="en-US" altLang="zh-CN" sz="6000" b="1" i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en-US" altLang="zh-CN"/>
              <a:t>Thanks.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355470-8C21-4741-BD41-6764222AFB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8819" y="6437997"/>
            <a:ext cx="1514361" cy="234266"/>
          </a:xfrm>
          <a:prstGeom prst="rect">
            <a:avLst/>
          </a:prstGeom>
        </p:spPr>
      </p:pic>
      <p:sp>
        <p:nvSpPr>
          <p:cNvPr id="5" name="文本占位符 6">
            <a:extLst>
              <a:ext uri="{FF2B5EF4-FFF2-40B4-BE49-F238E27FC236}">
                <a16:creationId xmlns:a16="http://schemas.microsoft.com/office/drawing/2014/main" id="{CE275F6D-275C-7545-B6F4-CB484D314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72979" y="3966845"/>
            <a:ext cx="6869953" cy="60515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1500"/>
              </a:spcBef>
              <a:buNone/>
              <a:defRPr lang="en-US" altLang="zh-CN" sz="2400" b="0" i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zh-CN" altLang="en-US"/>
              <a:t>副标题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4805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399" y="1532165"/>
            <a:ext cx="7882709" cy="219518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5000" b="1" dirty="0">
                <a:solidFill>
                  <a:schemeClr val="tx1"/>
                </a:solidFill>
              </a:defRPr>
            </a:lvl1pPr>
          </a:lstStyle>
          <a:p>
            <a:pPr lvl="0" defTabSz="914400"/>
            <a:r>
              <a:rPr lang="zh-CN" altLang="en-US" dirty="0"/>
              <a:t>主标题 </a:t>
            </a:r>
            <a:r>
              <a:rPr lang="en-US" altLang="zh-CN" dirty="0"/>
              <a:t>Click to edit </a:t>
            </a:r>
            <a:br>
              <a:rPr lang="en-US" altLang="zh-CN" dirty="0"/>
            </a:b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399" y="3966887"/>
            <a:ext cx="7882709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lang="zh-CN" altLang="en-US" sz="2000">
                <a:solidFill>
                  <a:schemeClr val="tx1"/>
                </a:solidFill>
              </a:defRPr>
            </a:lvl1pPr>
          </a:lstStyle>
          <a:p>
            <a:pPr marL="228600" lvl="0" indent="-228600" defTabSz="914400"/>
            <a:r>
              <a:rPr lang="zh-CN" altLang="en-US" dirty="0"/>
              <a:t>副标题 </a:t>
            </a:r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754992" y="4847177"/>
            <a:ext cx="1305035" cy="115613"/>
          </a:xfrm>
          <a:prstGeom prst="rect">
            <a:avLst/>
          </a:prstGeom>
          <a:gradFill flip="none" rotWithShape="1">
            <a:gsLst>
              <a:gs pos="0">
                <a:srgbClr val="171A16"/>
              </a:gs>
              <a:gs pos="100000">
                <a:srgbClr val="11D05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660399" y="320097"/>
            <a:ext cx="4085772" cy="511629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711" y="330983"/>
            <a:ext cx="1831368" cy="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42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231900"/>
            <a:ext cx="10858500" cy="5003800"/>
          </a:xfrm>
        </p:spPr>
        <p:txBody>
          <a:bodyPr/>
          <a:lstStyle/>
          <a:p>
            <a:pPr lvl="0"/>
            <a:r>
              <a:rPr lang="zh-CN" altLang="en-US" dirty="0"/>
              <a:t>一级段落内容 </a:t>
            </a:r>
            <a:r>
              <a:rPr lang="en-US" altLang="zh-CN" dirty="0"/>
              <a:t>Click to edit Master text styles</a:t>
            </a:r>
          </a:p>
          <a:p>
            <a:pPr lvl="1"/>
            <a:r>
              <a:rPr lang="zh-CN" altLang="en-US" dirty="0"/>
              <a:t>二级段落内容 </a:t>
            </a:r>
            <a:r>
              <a:rPr lang="en-US" altLang="zh-CN" dirty="0"/>
              <a:t>Second level</a:t>
            </a:r>
          </a:p>
          <a:p>
            <a:pPr lvl="2"/>
            <a:r>
              <a:rPr lang="zh-CN" altLang="en-US" dirty="0"/>
              <a:t>三级段落内容 </a:t>
            </a:r>
            <a:r>
              <a:rPr lang="en-US" altLang="zh-CN" dirty="0"/>
              <a:t>Third level</a:t>
            </a:r>
          </a:p>
          <a:p>
            <a:pPr lvl="3"/>
            <a:r>
              <a:rPr lang="zh-CN" altLang="en-US" dirty="0"/>
              <a:t>四级段落内容 </a:t>
            </a:r>
            <a:r>
              <a:rPr lang="en-US" altLang="zh-CN" dirty="0"/>
              <a:t>Fourth level</a:t>
            </a:r>
          </a:p>
          <a:p>
            <a:pPr lvl="4"/>
            <a:r>
              <a:rPr lang="zh-CN" altLang="en-US" dirty="0"/>
              <a:t>五级段落内容 </a:t>
            </a:r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2118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807018" y="2393577"/>
            <a:ext cx="5398007" cy="12904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zh-CN" altLang="en-US" sz="3600">
                <a:solidFill>
                  <a:schemeClr val="tx1"/>
                </a:solidFill>
              </a:defRPr>
            </a:lvl1pPr>
          </a:lstStyle>
          <a:p>
            <a:pPr lvl="0" defTabSz="914400"/>
            <a:r>
              <a:rPr lang="zh-CN" altLang="en-US" dirty="0"/>
              <a:t>章节标题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807018" y="3818522"/>
            <a:ext cx="5398007" cy="505084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章节副标题 </a:t>
            </a:r>
            <a:r>
              <a:rPr lang="en-US" altLang="zh-CN" dirty="0"/>
              <a:t>Click to edit Master text styles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33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页面标题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96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76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17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763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862667" y="2919764"/>
            <a:ext cx="8616146" cy="1018471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6000" b="1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en-US" altLang="zh-CN" dirty="0"/>
              <a:t>Thanks.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07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14830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7030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C152-C384-4126-A41C-02F34DED3069}" type="datetime1">
              <a:rPr lang="zh-CN" altLang="en-US" smtClean="0"/>
              <a:t>2026/7/13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为数字世界寻找全局最优解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2438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B9F0F9-E56B-AE45-9505-8FD661458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682" y="3039477"/>
            <a:ext cx="6540641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63682" y="3719850"/>
            <a:ext cx="5398007" cy="505084"/>
          </a:xfrm>
        </p:spPr>
        <p:txBody>
          <a:bodyPr>
            <a:norm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37E834-47D8-8A08-522D-FEE296BEB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55F77487-F10D-0649-8965-89F07F6D352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63682" y="2121884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568533" y="2116617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852009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399" y="2018505"/>
            <a:ext cx="7882709" cy="160271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spcBef>
                <a:spcPts val="1500"/>
              </a:spcBef>
              <a:defRPr lang="zh-CN" altLang="en-US" sz="4000" b="1" spc="100" baseline="0" dirty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400"/>
            <a:r>
              <a:rPr lang="zh-CN" altLang="en-US"/>
              <a:t>主标题 </a:t>
            </a:r>
            <a:r>
              <a:rPr lang="en-US" altLang="zh-CN"/>
              <a:t>Click to edit 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399" y="3860757"/>
            <a:ext cx="7882709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lang="zh-CN" altLang="en-US" sz="16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marL="228600" lvl="0" indent="-228600" defTabSz="914400"/>
            <a:r>
              <a:rPr lang="zh-CN" altLang="en-US"/>
              <a:t>副标题 </a:t>
            </a:r>
            <a:r>
              <a:rPr lang="en-US" altLang="zh-CN"/>
              <a:t>Click to edit Master subtitle style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9139" y="335974"/>
            <a:ext cx="1831368" cy="58603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538841" y="6438901"/>
            <a:ext cx="3216729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>
              <a:defRPr sz="900" spc="6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为数字世界寻找全局最优解</a:t>
            </a:r>
          </a:p>
          <a:p>
            <a:pPr lvl="0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46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011951" y="3282546"/>
            <a:ext cx="3279577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40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400"/>
            <a:r>
              <a:rPr lang="zh-CN" altLang="en-US"/>
              <a:t>更改目录名称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2011952" y="2384936"/>
            <a:ext cx="265984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36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576888" y="211572"/>
            <a:ext cx="6310312" cy="6054291"/>
          </a:xfrm>
        </p:spPr>
        <p:txBody>
          <a:bodyPr anchor="ctr">
            <a:normAutofit/>
          </a:bodyPr>
          <a:lstStyle>
            <a:lvl1pPr marL="163195" indent="-539750">
              <a:lnSpc>
                <a:spcPct val="250000"/>
              </a:lnSpc>
              <a:buSzPct val="200000"/>
              <a:buFont typeface="+mj-lt"/>
              <a:buAutoNum type="arabicPeriod"/>
              <a:defRPr sz="2000" b="1">
                <a:latin typeface="+mj-lt"/>
                <a:ea typeface="+mj-ea"/>
              </a:defRPr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kumimoji="1" lang="zh-CN" altLang="en-US"/>
              <a:t>章节标题</a:t>
            </a:r>
            <a:endParaRPr kumimoji="1" lang="en-US" altLang="zh-CN"/>
          </a:p>
          <a:p>
            <a:pPr lvl="0"/>
            <a:r>
              <a:rPr kumimoji="1" lang="zh-CN" altLang="en-US"/>
              <a:t>章节标题</a:t>
            </a:r>
            <a:endParaRPr kumimoji="1" lang="en-US" altLang="zh-CN"/>
          </a:p>
          <a:p>
            <a:pPr lvl="0"/>
            <a:r>
              <a:rPr kumimoji="1" lang="zh-CN" altLang="en-US"/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549971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63682" y="3039477"/>
            <a:ext cx="6540641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400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63682" y="3719850"/>
            <a:ext cx="5398007" cy="505084"/>
          </a:xfrm>
        </p:spPr>
        <p:txBody>
          <a:bodyPr>
            <a:norm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5063682" y="2121884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7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6568533" y="2116617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67531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章节页_Sub 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485065" y="992362"/>
            <a:ext cx="5040000" cy="2592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标题 1"/>
          <p:cNvSpPr>
            <a:spLocks noGrp="1"/>
          </p:cNvSpPr>
          <p:nvPr>
            <p:ph type="title" hasCustomPrompt="1"/>
          </p:nvPr>
        </p:nvSpPr>
        <p:spPr>
          <a:xfrm>
            <a:off x="653045" y="2137835"/>
            <a:ext cx="4680000" cy="461665"/>
          </a:xfrm>
        </p:spPr>
        <p:txBody>
          <a:bodyPr vert="horz" wrap="square" lIns="91440" tIns="45720" rIns="91440" bIns="45720" rtlCol="0" anchor="b">
            <a:spAutoFit/>
          </a:bodyPr>
          <a:lstStyle>
            <a:lvl1pPr>
              <a:lnSpc>
                <a:spcPct val="100000"/>
              </a:lnSpc>
              <a:defRPr lang="zh-CN" altLang="en-US" sz="24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400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53045" y="2633822"/>
            <a:ext cx="4680000" cy="642163"/>
          </a:xfrm>
        </p:spPr>
        <p:txBody>
          <a:bodyPr wrap="square">
            <a:spAutoFit/>
          </a:bodyPr>
          <a:lstStyle>
            <a:lvl1pPr marL="0" indent="0">
              <a:lnSpc>
                <a:spcPct val="135000"/>
              </a:lnSpc>
              <a:spcBef>
                <a:spcPts val="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5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53046" y="1190349"/>
            <a:ext cx="1256435" cy="832344"/>
          </a:xfrm>
        </p:spPr>
        <p:txBody>
          <a:bodyPr>
            <a:sp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0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46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1909481" y="1190349"/>
            <a:ext cx="3423564" cy="832344"/>
          </a:xfrm>
        </p:spPr>
        <p:txBody>
          <a:bodyPr wrap="square">
            <a:sp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0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02-01</a:t>
            </a:r>
          </a:p>
        </p:txBody>
      </p:sp>
    </p:spTree>
    <p:extLst>
      <p:ext uri="{BB962C8B-B14F-4D97-AF65-F5344CB8AC3E}">
        <p14:creationId xmlns:p14="http://schemas.microsoft.com/office/powerpoint/2010/main" val="428500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_Standard page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102658"/>
            <a:ext cx="10858500" cy="5133041"/>
          </a:xfrm>
        </p:spPr>
        <p:txBody>
          <a:bodyPr>
            <a:normAutofit/>
          </a:bodyPr>
          <a:lstStyle>
            <a:lvl1pPr marL="179705" indent="-179705">
              <a:lnSpc>
                <a:spcPct val="135000"/>
              </a:lnSpc>
              <a:spcBef>
                <a:spcPts val="1500"/>
              </a:spcBef>
              <a:buFont typeface="Arial" panose="020B0604020202090204" pitchFamily="34" charset="0"/>
              <a:buChar char="•"/>
              <a:defRPr sz="14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521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准内容页@大字号版_Standard page@larger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102658"/>
            <a:ext cx="10858500" cy="5133041"/>
          </a:xfrm>
        </p:spPr>
        <p:txBody>
          <a:bodyPr>
            <a:normAutofit/>
          </a:bodyPr>
          <a:lstStyle>
            <a:lvl1pPr marL="179705" indent="-179705">
              <a:lnSpc>
                <a:spcPct val="135000"/>
              </a:lnSpc>
              <a:spcBef>
                <a:spcPts val="1500"/>
              </a:spcBef>
              <a:buFont typeface="Arial" panose="020B0604020202090204" pitchFamily="34" charset="0"/>
              <a:buChar char="•"/>
              <a:defRPr sz="20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25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（小标题）_Standard page with subtitle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739152"/>
            <a:ext cx="10858500" cy="4496547"/>
          </a:xfrm>
        </p:spPr>
        <p:txBody>
          <a:bodyPr>
            <a:normAutofit/>
          </a:bodyPr>
          <a:lstStyle>
            <a:lvl1pPr marL="179705" indent="-179705">
              <a:lnSpc>
                <a:spcPct val="135000"/>
              </a:lnSpc>
              <a:spcBef>
                <a:spcPts val="1500"/>
              </a:spcBef>
              <a:buFont typeface="Arial" panose="020B0604020202090204" pitchFamily="34" charset="0"/>
              <a:buChar char="•"/>
              <a:defRPr sz="14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10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1060433"/>
            <a:ext cx="10857600" cy="528815"/>
          </a:xfrm>
        </p:spPr>
        <p:txBody>
          <a:bodyPr>
            <a:noAutofit/>
          </a:bodyPr>
          <a:lstStyle>
            <a:lvl1pPr marL="0" indent="0" algn="l">
              <a:buFont typeface="+mj-lt"/>
              <a:buNone/>
              <a:defRPr sz="1800" b="1">
                <a:latin typeface="+mj-lt"/>
                <a:ea typeface="+mj-ea"/>
              </a:defRPr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zh-CN" altLang="en-US"/>
              <a:t>小标题 </a:t>
            </a:r>
            <a:r>
              <a:rPr lang="en-US" altLang="zh-CN"/>
              <a:t>Subtitle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4155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准内容页（小标题）@大字号版_Standard page with subtitle@larger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739152"/>
            <a:ext cx="10858500" cy="4496547"/>
          </a:xfrm>
        </p:spPr>
        <p:txBody>
          <a:bodyPr>
            <a:normAutofit/>
          </a:bodyPr>
          <a:lstStyle>
            <a:lvl1pPr marL="179705" indent="-179705">
              <a:lnSpc>
                <a:spcPct val="135000"/>
              </a:lnSpc>
              <a:spcBef>
                <a:spcPts val="1500"/>
              </a:spcBef>
              <a:buFont typeface="Arial" panose="020B0604020202090204" pitchFamily="34" charset="0"/>
              <a:buChar char="•"/>
              <a:defRPr sz="20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10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1060433"/>
            <a:ext cx="10857600" cy="538865"/>
          </a:xfrm>
        </p:spPr>
        <p:txBody>
          <a:bodyPr>
            <a:spAutoFit/>
          </a:bodyPr>
          <a:lstStyle>
            <a:lvl1pPr marL="0" indent="0" algn="l">
              <a:buFont typeface="+mj-lt"/>
              <a:buNone/>
              <a:defRPr sz="2400" b="1">
                <a:latin typeface="+mj-lt"/>
                <a:ea typeface="+mj-ea"/>
              </a:defRPr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zh-CN" altLang="en-US"/>
              <a:t>小标题 </a:t>
            </a:r>
            <a:r>
              <a:rPr lang="en-US" altLang="zh-CN"/>
              <a:t>Subtitle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00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（带背景）_Title only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7600" cy="885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158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（无背景）_Title only withou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1150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（无背景）_Title only without bg@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85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03462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_Empty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9079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_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2772980" y="2182868"/>
            <a:ext cx="6869953" cy="164306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1500"/>
              </a:spcBef>
              <a:buNone/>
              <a:defRPr lang="en-US" altLang="zh-CN" sz="6000" b="1" i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en-US" altLang="zh-CN"/>
              <a:t>Thanks.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8819" y="6437997"/>
            <a:ext cx="1514361" cy="234266"/>
          </a:xfrm>
          <a:prstGeom prst="rect">
            <a:avLst/>
          </a:prstGeom>
        </p:spPr>
      </p:pic>
      <p:sp>
        <p:nvSpPr>
          <p:cNvPr id="5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2772979" y="3966845"/>
            <a:ext cx="6869953" cy="60515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1500"/>
              </a:spcBef>
              <a:buNone/>
              <a:defRPr lang="en-US" altLang="zh-CN" sz="2400" b="0" i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zh-CN" altLang="en-US"/>
              <a:t>副标题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3114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A00000000000000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Noto Sans SC" panose="020B0A00000000000000" charset="-122"/>
                <a:ea typeface="Noto Sans SC" panose="020B0A00000000000000" charset="-122"/>
                <a:cs typeface="Noto Sans SC" panose="020B0A00000000000000" charset="-122"/>
                <a:sym typeface="Noto Sans SC" panose="020B0A00000000000000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Noto Sans SC" panose="020B0A00000000000000" charset="-122"/>
              </a:defRPr>
            </a:lvl1pPr>
          </a:lstStyle>
          <a:p>
            <a:pPr marL="355600" indent="-355600" algn="l">
              <a:lnSpc>
                <a:spcPct val="92000"/>
              </a:lnSpc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Noto Sans SC" panose="020B0A00000000000000" charset="-122"/>
                <a:ea typeface="Noto Sans SC" panose="020B0A00000000000000" charset="-122"/>
                <a:cs typeface="Noto Sans SC" panose="020B0A00000000000000" charset="-122"/>
                <a:sym typeface="Noto Sans SC" panose="020B0A00000000000000" charset="-122"/>
              </a:rPr>
              <a:t>单击此处编辑母版文本样式</a:t>
            </a:r>
          </a:p>
          <a:p>
            <a:pPr marL="762000" lvl="1" indent="-304800" algn="l">
              <a:lnSpc>
                <a:spcPct val="92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Noto Sans SC" panose="020B0A00000000000000" charset="-122"/>
                <a:ea typeface="Noto Sans SC" panose="020B0A00000000000000" charset="-122"/>
                <a:cs typeface="Noto Sans SC" panose="020B0A00000000000000" charset="-122"/>
                <a:sym typeface="Noto Sans SC" panose="020B0A00000000000000" charset="-122"/>
              </a:rPr>
              <a:t>第二级</a:t>
            </a:r>
          </a:p>
          <a:p>
            <a:pPr marL="1168400" lvl="2" indent="-254000" algn="l">
              <a:lnSpc>
                <a:spcPct val="92000"/>
              </a:lnSpc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Noto Sans SC" panose="020B0A00000000000000" charset="-122"/>
                <a:ea typeface="Noto Sans SC" panose="020B0A00000000000000" charset="-122"/>
                <a:cs typeface="Noto Sans SC" panose="020B0A00000000000000" charset="-122"/>
                <a:sym typeface="Noto Sans SC" panose="020B0A00000000000000" charset="-122"/>
              </a:rPr>
              <a:t>第三级</a:t>
            </a:r>
          </a:p>
          <a:p>
            <a:pPr marL="1600200" lvl="3" indent="-228600" algn="l">
              <a:lnSpc>
                <a:spcPct val="92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Noto Sans SC" panose="020B0A00000000000000" charset="-122"/>
                <a:ea typeface="Noto Sans SC" panose="020B0A00000000000000" charset="-122"/>
                <a:cs typeface="Noto Sans SC" panose="020B0A00000000000000" charset="-122"/>
                <a:sym typeface="Noto Sans SC" panose="020B0A00000000000000" charset="-122"/>
              </a:rPr>
              <a:t>第四级</a:t>
            </a:r>
          </a:p>
          <a:p>
            <a:pPr marL="2057400" lvl="4" indent="-228600" algn="l">
              <a:lnSpc>
                <a:spcPct val="92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Noto Sans SC" panose="020B0A00000000000000" charset="-122"/>
                <a:ea typeface="Noto Sans SC" panose="020B0A00000000000000" charset="-122"/>
                <a:cs typeface="Noto Sans SC" panose="020B0A00000000000000" charset="-122"/>
                <a:sym typeface="Noto Sans SC" panose="020B0A00000000000000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 Rounded MT Bold" panose="020F0704030504030204" charset="0"/>
                <a:ea typeface="Arial Rounded MT Bold" panose="020F0704030504030204" charset="0"/>
                <a:cs typeface="Arial Rounded MT Bold" panose="020F0704030504030204" charset="0"/>
                <a:sym typeface="Arial Rounded MT Bold" panose="020F0704030504030204" charset="0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2025/6/24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Arial Rounded MT Bold" panose="020F0704030504030204" charset="0"/>
                <a:ea typeface="Arial Rounded MT Bold" panose="020F0704030504030204" charset="0"/>
                <a:cs typeface="Arial Rounded MT Bold" panose="020F0704030504030204" charset="0"/>
                <a:sym typeface="Arial Rounded MT Bold" panose="020F0704030504030204" charset="0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 Rounded MT Bold" panose="020F0704030504030204" charset="0"/>
                <a:ea typeface="Arial Rounded MT Bold" panose="020F0704030504030204" charset="0"/>
                <a:cs typeface="Arial Rounded MT Bold" panose="020F0704030504030204" charset="0"/>
                <a:sym typeface="Arial Rounded MT Bold" panose="020F0704030504030204" charset="0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73877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60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66750" y="1231900"/>
            <a:ext cx="10858500" cy="5003800"/>
          </a:xfrm>
        </p:spPr>
        <p:txBody>
          <a:bodyPr/>
          <a:lstStyle/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  <a:p>
            <a:pPr lvl="1"/>
            <a:r>
              <a:rPr lang="zh-CN" altLang="en-US"/>
              <a:t>二级段落内容 </a:t>
            </a:r>
            <a:r>
              <a:rPr lang="en-US" altLang="zh-CN"/>
              <a:t>Second level</a:t>
            </a:r>
          </a:p>
          <a:p>
            <a:pPr lvl="2"/>
            <a:r>
              <a:rPr lang="zh-CN" altLang="en-US"/>
              <a:t>三级段落内容 </a:t>
            </a:r>
            <a:r>
              <a:rPr lang="en-US" altLang="zh-CN"/>
              <a:t>Third level</a:t>
            </a:r>
          </a:p>
          <a:p>
            <a:pPr lvl="3"/>
            <a:r>
              <a:rPr lang="zh-CN" altLang="en-US"/>
              <a:t>四级段落内容 </a:t>
            </a:r>
            <a:r>
              <a:rPr lang="en-US" altLang="zh-CN"/>
              <a:t>Fourth level</a:t>
            </a:r>
          </a:p>
          <a:p>
            <a:pPr lvl="4"/>
            <a:r>
              <a:rPr lang="zh-CN" altLang="en-US"/>
              <a:t>五级段落内容 </a:t>
            </a:r>
            <a:r>
              <a:rPr lang="en-US" altLang="zh-CN"/>
              <a:t>Fifth level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02869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1869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页面标题 Click to edit Master title style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rgbClr val="11D05C">
              <a:alpha val="100000"/>
            </a:srgbClr>
          </a:solidFill>
          <a:ln w="12700" cap="flat">
            <a:noFill/>
            <a:prstDash val="solid"/>
          </a:ln>
        </p:spPr>
        <p:txBody>
          <a:bodyPr lIns="91440" tIns="45720" rIns="91440" bIns="4572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5227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355601" y="663738"/>
            <a:ext cx="180623" cy="23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2815" y="6388341"/>
            <a:ext cx="1439813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653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32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b">
            <a:noAutofit/>
          </a:bodyPr>
          <a:lstStyle>
            <a:lvl1pPr algn="l">
              <a:lnSpc>
                <a:spcPct val="9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90000"/>
              </a:lnSpc>
            </a:pPr>
            <a:r>
              <a:rPr lang="en-US" sz="2775" b="1" i="0" u="none" strike="noStrike">
                <a:solidFill>
                  <a:srgbClr val="0D0D0D"/>
                </a:solidFill>
                <a:latin typeface="微软雅黑"/>
              </a:rPr>
              <a:t>单击此处编辑母版标题样式</a:t>
            </a:r>
          </a:p>
        </p:txBody>
      </p:sp>
      <p:sp>
        <p:nvSpPr>
          <p:cNvPr id="4" name="AutoShape 4"/>
          <p:cNvSpPr/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rgbClr val="11D05C">
              <a:alpha val="100000"/>
            </a:srgbClr>
          </a:solidFill>
          <a:ln w="9525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  <a:ln w="9525"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3773987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仅标题（无背景）_Title only without bg@Whit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666750" y="211572"/>
            <a:ext cx="10858500" cy="5319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63500" rIns="127000" bIns="63500" anchor="b">
            <a:noAutofit/>
          </a:bodyPr>
          <a:lstStyle>
            <a:lvl1pPr indent="0" algn="l">
              <a:lnSpc>
                <a:spcPct val="92000"/>
              </a:lnSpc>
              <a:defRPr sz="2775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775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页面标题 </a:t>
            </a:r>
            <a:r>
              <a:rPr lang="en-US" sz="2775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edit Master title style</a:t>
            </a:r>
          </a:p>
        </p:txBody>
      </p:sp>
      <p:sp>
        <p:nvSpPr>
          <p:cNvPr id="3" name="AutoShape 3"/>
          <p:cNvSpPr/>
          <p:nvPr/>
        </p:nvSpPr>
        <p:spPr>
          <a:xfrm>
            <a:off x="394841" y="531921"/>
            <a:ext cx="162000" cy="162000"/>
          </a:xfrm>
          <a:prstGeom prst="rect">
            <a:avLst/>
          </a:prstGeom>
          <a:solidFill>
            <a:srgbClr val="0FD0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5250" tIns="47625" rIns="95250" bIns="4762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90472" y="6430428"/>
            <a:ext cx="1396294" cy="216000"/>
          </a:xfrm>
          <a:prstGeom prst="rect">
            <a:avLst/>
          </a:prstGeom>
          <a:ln w="12700"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34169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仅标题（无背景）_Title only without bg@Whit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8" hasCustomPrompt="1"/>
          </p:nvPr>
        </p:nvSpPr>
        <p:spPr>
          <a:xfrm>
            <a:off x="660400" y="0"/>
            <a:ext cx="10858500" cy="88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页面标题 </a:t>
            </a:r>
            <a:r>
              <a:rPr lang="en-US" sz="2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edit Master title style</a:t>
            </a:r>
          </a:p>
        </p:txBody>
      </p:sp>
      <p:sp>
        <p:nvSpPr>
          <p:cNvPr id="3" name="AutoShape 3"/>
          <p:cNvSpPr/>
          <p:nvPr/>
        </p:nvSpPr>
        <p:spPr>
          <a:xfrm>
            <a:off x="394841" y="531921"/>
            <a:ext cx="162000" cy="162000"/>
          </a:xfrm>
          <a:prstGeom prst="rect">
            <a:avLst/>
          </a:prstGeom>
          <a:solidFill>
            <a:srgbClr val="0FD05D">
              <a:alpha val="100000"/>
            </a:srgbClr>
          </a:solidFill>
          <a:ln w="12700" cap="flat">
            <a:noFill/>
            <a:prstDash val="solid"/>
          </a:ln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6680377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862667" y="2919764"/>
            <a:ext cx="8616146" cy="1018471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6000" b="1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en-US" altLang="zh-CN" dirty="0"/>
              <a:t>Thanks.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911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26589547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057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7728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0578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6873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9465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0349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412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1849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922692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（无背景）_Title only without bg@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6CB5896-4F73-054A-B470-33A2E57E6F39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C2E126-F1F0-DC2F-9023-1008D5842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A4FD407B-C34E-522B-5A96-0224579F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页面标题 </a:t>
            </a:r>
            <a:r>
              <a:rPr kumimoji="1" lang="en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36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B9F0F9-E56B-AE45-9505-8FD661458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682" y="3039477"/>
            <a:ext cx="6540641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63682" y="3719850"/>
            <a:ext cx="5398007" cy="505084"/>
          </a:xfrm>
        </p:spPr>
        <p:txBody>
          <a:bodyPr>
            <a:norm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37E834-47D8-8A08-522D-FEE296BEB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55F77487-F10D-0649-8965-89F07F6D352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63682" y="2121884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568533" y="2116617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31870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DF19015-04C3-6941-B151-ADA74CF355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399" y="2018505"/>
            <a:ext cx="7882709" cy="160271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spcBef>
                <a:spcPts val="1500"/>
              </a:spcBef>
              <a:defRPr lang="zh-CN" altLang="en-US" sz="4000" b="1" spc="100" baseline="0" dirty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主标题 </a:t>
            </a:r>
            <a:r>
              <a:rPr lang="en-US" altLang="zh-CN"/>
              <a:t>Click to edit 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399" y="3860757"/>
            <a:ext cx="7882709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Font typeface="+mj-lt"/>
              <a:buNone/>
              <a:defRPr lang="zh-CN" altLang="en-US" sz="16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marL="228600" lvl="0" indent="-228600" defTabSz="914354"/>
            <a:r>
              <a:rPr lang="zh-CN" altLang="en-US"/>
              <a:t>副标题 </a:t>
            </a:r>
            <a:r>
              <a:rPr lang="en-US" altLang="zh-CN"/>
              <a:t>Click to edit Master subtitle style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C0AE3A-EA85-7944-9C27-6C6AA0CFA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139" y="335974"/>
            <a:ext cx="1831368" cy="5860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85D0F65-D2D7-5841-99E4-3A5212CBDA27}"/>
              </a:ext>
            </a:extLst>
          </p:cNvPr>
          <p:cNvSpPr txBox="1"/>
          <p:nvPr userDrawn="1"/>
        </p:nvSpPr>
        <p:spPr>
          <a:xfrm>
            <a:off x="538841" y="6438901"/>
            <a:ext cx="3216729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>
              <a:defRPr sz="900" spc="6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为数字世界寻找全局最优解</a:t>
            </a:r>
          </a:p>
          <a:p>
            <a:pPr lvl="0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76C8F5-3A7C-C97B-6451-87AE3BB3AE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78C59BA-8055-29F9-1BF6-6797A3002812}"/>
              </a:ext>
            </a:extLst>
          </p:cNvPr>
          <p:cNvSpPr txBox="1"/>
          <p:nvPr userDrawn="1"/>
        </p:nvSpPr>
        <p:spPr>
          <a:xfrm>
            <a:off x="10423604" y="483969"/>
            <a:ext cx="110799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0000"/>
                </a:solidFill>
                <a:latin typeface="+mn-ea"/>
                <a:ea typeface="+mn-ea"/>
              </a:rPr>
              <a:t>内部资料</a:t>
            </a:r>
            <a:endParaRPr kumimoji="1" lang="en-US" altLang="zh-CN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kumimoji="1" lang="zh-CN" altLang="en-US">
                <a:solidFill>
                  <a:srgbClr val="FF0000"/>
                </a:solidFill>
                <a:latin typeface="+mn-ea"/>
                <a:ea typeface="+mn-ea"/>
              </a:rPr>
              <a:t>严禁传播</a:t>
            </a:r>
          </a:p>
        </p:txBody>
      </p:sp>
    </p:spTree>
    <p:extLst>
      <p:ext uri="{BB962C8B-B14F-4D97-AF65-F5344CB8AC3E}">
        <p14:creationId xmlns:p14="http://schemas.microsoft.com/office/powerpoint/2010/main" val="35492851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B9F0F9-E56B-AE45-9505-8FD661458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1951" y="3282546"/>
            <a:ext cx="3279577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40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更改目录名称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37E834-47D8-8A08-522D-FEE296BEB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011952" y="2384936"/>
            <a:ext cx="265984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36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E3385C4-B45A-934A-AAF2-FBC6E44FF7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76888" y="211572"/>
            <a:ext cx="6310312" cy="6054291"/>
          </a:xfrm>
        </p:spPr>
        <p:txBody>
          <a:bodyPr anchor="ctr">
            <a:normAutofit/>
          </a:bodyPr>
          <a:lstStyle>
            <a:lvl1pPr marL="162900" indent="-540000">
              <a:lnSpc>
                <a:spcPct val="250000"/>
              </a:lnSpc>
              <a:buSzPct val="200000"/>
              <a:buFont typeface="+mj-lt"/>
              <a:buAutoNum type="arabicPeriod"/>
              <a:defRPr sz="2000" b="1">
                <a:latin typeface="+mj-lt"/>
                <a:ea typeface="+mj-ea"/>
              </a:defRPr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kumimoji="1" lang="zh-CN" altLang="en-US"/>
              <a:t>章节标题</a:t>
            </a:r>
            <a:endParaRPr kumimoji="1" lang="en-US" altLang="zh-CN"/>
          </a:p>
          <a:p>
            <a:pPr lvl="0"/>
            <a:r>
              <a:rPr kumimoji="1" lang="zh-CN" altLang="en-US"/>
              <a:t>章节标题</a:t>
            </a:r>
            <a:endParaRPr kumimoji="1" lang="en-US" altLang="zh-CN"/>
          </a:p>
          <a:p>
            <a:pPr lvl="0"/>
            <a:r>
              <a:rPr kumimoji="1" lang="zh-CN" altLang="en-US"/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14778943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B9F0F9-E56B-AE45-9505-8FD661458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682" y="3039477"/>
            <a:ext cx="6540641" cy="64457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100000"/>
              </a:lnSpc>
              <a:defRPr lang="zh-CN" altLang="en-US"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914354"/>
            <a:r>
              <a:rPr lang="zh-CN" altLang="en-US"/>
              <a:t>章节标题 </a:t>
            </a:r>
            <a:r>
              <a:rPr lang="en-US" altLang="zh-CN"/>
              <a:t>Click to add title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63682" y="3719850"/>
            <a:ext cx="5398007" cy="505084"/>
          </a:xfrm>
        </p:spPr>
        <p:txBody>
          <a:bodyPr>
            <a:norm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14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章节副标题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37E834-47D8-8A08-522D-FEE296BEB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55F77487-F10D-0649-8965-89F07F6D352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63682" y="2121884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Part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568533" y="2116617"/>
            <a:ext cx="148511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lang="en-US" altLang="zh-CN" sz="4800" b="1" kern="120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168290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（小标题）_Standard page with subtitle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54AAA9-6449-EC43-A22D-9CF53456E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4E3A4C-FA95-184B-986B-C7B8912854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739152"/>
            <a:ext cx="10858500" cy="4496547"/>
          </a:xfrm>
        </p:spPr>
        <p:txBody>
          <a:bodyPr>
            <a:normAutofit/>
          </a:bodyPr>
          <a:lstStyle>
            <a:lvl1pPr marL="180000" indent="-180000">
              <a:lnSpc>
                <a:spcPct val="135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4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3FCC5E-CEBE-604F-B58B-2B31CE38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89C5B5-ADAD-534F-B78B-EA70DA99B121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007121-1597-4E94-D330-81C0E9A77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10" name="文本占位符 8">
            <a:extLst>
              <a:ext uri="{FF2B5EF4-FFF2-40B4-BE49-F238E27FC236}">
                <a16:creationId xmlns:a16="http://schemas.microsoft.com/office/drawing/2014/main" id="{C1C77039-7AAC-444D-917D-DD4127569B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1060433"/>
            <a:ext cx="10857600" cy="528815"/>
          </a:xfrm>
        </p:spPr>
        <p:txBody>
          <a:bodyPr>
            <a:noAutofit/>
          </a:bodyPr>
          <a:lstStyle>
            <a:lvl1pPr marL="0" indent="0" algn="l">
              <a:buFont typeface="+mj-lt"/>
              <a:buNone/>
              <a:defRPr sz="1800" b="1">
                <a:latin typeface="+mj-lt"/>
                <a:ea typeface="+mj-ea"/>
              </a:defRPr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zh-CN" altLang="en-US"/>
              <a:t>小标题 </a:t>
            </a:r>
            <a:r>
              <a:rPr lang="en-US" altLang="zh-CN"/>
              <a:t>Subtitle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7188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_Standard page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54AAA9-6449-EC43-A22D-9CF53456E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4E3A4C-FA95-184B-986B-C7B8912854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102658"/>
            <a:ext cx="10858500" cy="5133041"/>
          </a:xfrm>
        </p:spPr>
        <p:txBody>
          <a:bodyPr>
            <a:normAutofit/>
          </a:bodyPr>
          <a:lstStyle>
            <a:lvl1pPr marL="180000" indent="-180000">
              <a:lnSpc>
                <a:spcPct val="135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400">
                <a:latin typeface="+mn-lt"/>
                <a:ea typeface="+mn-ea"/>
              </a:defRPr>
            </a:lvl1pPr>
            <a:lvl2pPr>
              <a:defRPr sz="14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3FCC5E-CEBE-604F-B58B-2B31CE38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886691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89C5B5-ADAD-534F-B78B-EA70DA99B121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007121-1597-4E94-D330-81C0E9A77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630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（带背景）_Title only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159B22-A5B9-5842-9380-4B850104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728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C0D41F-1457-E247-9EE6-581B5649A025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7339A9-7759-B9C2-AC5D-3BDF9F5E88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365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（无背景）_Title only withou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728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CB5896-4F73-054A-B470-33A2E57E6F39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405035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仅标题（无背景）_Title only without bg@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8728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CB5896-4F73-054A-B470-33A2E57E6F39}"/>
              </a:ext>
            </a:extLst>
          </p:cNvPr>
          <p:cNvSpPr/>
          <p:nvPr userDrawn="1"/>
        </p:nvSpPr>
        <p:spPr>
          <a:xfrm>
            <a:off x="394841" y="531921"/>
            <a:ext cx="162000" cy="1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C2E126-F1F0-DC2F-9023-1008D5842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19033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页_Empty"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38740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_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FF63671-BA4E-5946-9548-B2324E554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2980" y="2182868"/>
            <a:ext cx="6869953" cy="164306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1500"/>
              </a:spcBef>
              <a:buNone/>
              <a:defRPr lang="en-US" altLang="zh-CN" sz="6000" b="1" i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en-US" altLang="zh-CN"/>
              <a:t>Thanks.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355470-8C21-4741-BD41-6764222AFB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8819" y="6437997"/>
            <a:ext cx="1514361" cy="234266"/>
          </a:xfrm>
          <a:prstGeom prst="rect">
            <a:avLst/>
          </a:prstGeom>
        </p:spPr>
      </p:pic>
      <p:sp>
        <p:nvSpPr>
          <p:cNvPr id="5" name="文本占位符 6">
            <a:extLst>
              <a:ext uri="{FF2B5EF4-FFF2-40B4-BE49-F238E27FC236}">
                <a16:creationId xmlns:a16="http://schemas.microsoft.com/office/drawing/2014/main" id="{CE275F6D-275C-7545-B6F4-CB484D314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72979" y="3966845"/>
            <a:ext cx="6869953" cy="60515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1500"/>
              </a:spcBef>
              <a:buNone/>
              <a:defRPr lang="en-US" altLang="zh-CN" sz="2400" b="0" i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zh-CN" altLang="en-US"/>
              <a:t>副标题</a:t>
            </a:r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A1F9C6-AC17-4B79-C6F9-0205B6CF5314}"/>
              </a:ext>
            </a:extLst>
          </p:cNvPr>
          <p:cNvSpPr txBox="1"/>
          <p:nvPr userDrawn="1"/>
        </p:nvSpPr>
        <p:spPr>
          <a:xfrm>
            <a:off x="10423604" y="483969"/>
            <a:ext cx="110799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0000"/>
                </a:solidFill>
                <a:latin typeface="+mn-ea"/>
                <a:ea typeface="+mn-ea"/>
              </a:rPr>
              <a:t>内部资料</a:t>
            </a:r>
            <a:endParaRPr kumimoji="1" lang="en-US" altLang="zh-CN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kumimoji="1" lang="zh-CN" altLang="en-US">
                <a:solidFill>
                  <a:srgbClr val="FF0000"/>
                </a:solidFill>
                <a:latin typeface="+mn-ea"/>
                <a:ea typeface="+mn-ea"/>
              </a:rPr>
              <a:t>严禁传播</a:t>
            </a:r>
          </a:p>
        </p:txBody>
      </p:sp>
    </p:spTree>
    <p:extLst>
      <p:ext uri="{BB962C8B-B14F-4D97-AF65-F5344CB8AC3E}">
        <p14:creationId xmlns:p14="http://schemas.microsoft.com/office/powerpoint/2010/main" val="32785553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9514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862667" y="2919764"/>
            <a:ext cx="8616146" cy="1018471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6000" b="1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en-US" altLang="zh-CN" dirty="0"/>
              <a:t>Thanks.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5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914354"/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CEF31F-B6BD-7743-A2B8-38ED2699906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6" r:id="rId3"/>
    <p:sldLayoutId id="2147483650" r:id="rId4"/>
    <p:sldLayoutId id="2147483668" r:id="rId5"/>
    <p:sldLayoutId id="2147483659" r:id="rId6"/>
    <p:sldLayoutId id="2147483667" r:id="rId7"/>
    <p:sldLayoutId id="2147483654" r:id="rId8"/>
    <p:sldLayoutId id="2147483658" r:id="rId9"/>
    <p:sldLayoutId id="2147483665" r:id="rId10"/>
    <p:sldLayoutId id="2147483655" r:id="rId11"/>
    <p:sldLayoutId id="2147483663" r:id="rId12"/>
    <p:sldLayoutId id="214748365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35000"/>
        </a:lnSpc>
        <a:spcBef>
          <a:spcPts val="1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914400"/>
            <a:r>
              <a:rPr lang="zh-CN" altLang="en-US" dirty="0"/>
              <a:t>页面标题 </a:t>
            </a:r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一级段落内容 </a:t>
            </a:r>
            <a:r>
              <a:rPr lang="en-US" altLang="zh-CN" dirty="0"/>
              <a:t>Click to edit Master text styles</a:t>
            </a:r>
          </a:p>
          <a:p>
            <a:pPr lvl="1"/>
            <a:r>
              <a:rPr lang="zh-CN" altLang="en-US" dirty="0"/>
              <a:t>二级段落内容  </a:t>
            </a:r>
            <a:r>
              <a:rPr lang="en-US" altLang="zh-CN" dirty="0"/>
              <a:t>Second level</a:t>
            </a:r>
          </a:p>
          <a:p>
            <a:pPr lvl="2"/>
            <a:r>
              <a:rPr lang="zh-CN" altLang="en-US" dirty="0"/>
              <a:t>三级段落内容  </a:t>
            </a:r>
            <a:r>
              <a:rPr lang="en-US" altLang="zh-CN" dirty="0"/>
              <a:t>Third level</a:t>
            </a:r>
          </a:p>
          <a:p>
            <a:pPr lvl="3"/>
            <a:r>
              <a:rPr lang="zh-CN" altLang="en-US" dirty="0"/>
              <a:t>四级段落内容  </a:t>
            </a:r>
            <a:r>
              <a:rPr lang="en-US" altLang="zh-CN" dirty="0"/>
              <a:t>Fourth level</a:t>
            </a:r>
          </a:p>
          <a:p>
            <a:pPr lvl="4"/>
            <a:r>
              <a:rPr lang="zh-CN" altLang="en-US" dirty="0"/>
              <a:t>五级段落内容  </a:t>
            </a:r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 spc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为数字世界寻找全局最优解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BAC152-C384-4126-A41C-02F34DED3069}" type="datetime1">
              <a:rPr lang="zh-CN" altLang="en-US" smtClean="0"/>
              <a:t>2026/7/13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52641" y="6438901"/>
            <a:ext cx="1652562" cy="25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19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914400"/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30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79705" algn="l" defTabSz="914400" rtl="0" eaLnBrk="1" latinLnBrk="0" hangingPunct="1">
        <a:lnSpc>
          <a:spcPct val="135000"/>
        </a:lnSpc>
        <a:spcBef>
          <a:spcPts val="1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68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914354"/>
            <a:r>
              <a:rPr lang="zh-CN" altLang="en-US"/>
              <a:t>页面标题 </a:t>
            </a:r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一级段落内容 </a:t>
            </a:r>
            <a:r>
              <a:rPr lang="en-US" altLang="zh-CN"/>
              <a:t>Click to edit Master text styles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CEF31F-B6BD-7743-A2B8-38ED2699906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8F7221-A93A-15F0-8B66-215672FAA777}"/>
              </a:ext>
            </a:extLst>
          </p:cNvPr>
          <p:cNvSpPr txBox="1"/>
          <p:nvPr userDrawn="1"/>
        </p:nvSpPr>
        <p:spPr>
          <a:xfrm>
            <a:off x="10423604" y="483969"/>
            <a:ext cx="110799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0000"/>
                </a:solidFill>
                <a:latin typeface="+mn-ea"/>
                <a:ea typeface="+mn-ea"/>
              </a:rPr>
              <a:t>内部资料</a:t>
            </a:r>
            <a:endParaRPr kumimoji="1" lang="en-US" altLang="zh-CN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kumimoji="1" lang="zh-CN" altLang="en-US">
                <a:solidFill>
                  <a:srgbClr val="FF0000"/>
                </a:solidFill>
                <a:latin typeface="+mn-ea"/>
                <a:ea typeface="+mn-ea"/>
              </a:rPr>
              <a:t>严禁传播</a:t>
            </a:r>
          </a:p>
        </p:txBody>
      </p:sp>
    </p:spTree>
    <p:extLst>
      <p:ext uri="{BB962C8B-B14F-4D97-AF65-F5344CB8AC3E}">
        <p14:creationId xmlns:p14="http://schemas.microsoft.com/office/powerpoint/2010/main" val="3970272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35000"/>
        </a:lnSpc>
        <a:spcBef>
          <a:spcPts val="1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chart" Target="../charts/char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microsoft.com/office/2007/relationships/hdphoto" Target="../media/hdphoto1.wdp"/><Relationship Id="rId5" Type="http://schemas.openxmlformats.org/officeDocument/2006/relationships/tags" Target="../tags/tag7.xml"/><Relationship Id="rId10" Type="http://schemas.openxmlformats.org/officeDocument/2006/relationships/image" Target="../media/image29.png"/><Relationship Id="rId4" Type="http://schemas.openxmlformats.org/officeDocument/2006/relationships/tags" Target="../tags/tag6.xml"/><Relationship Id="rId9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35.xml"/><Relationship Id="rId21" Type="http://schemas.openxmlformats.org/officeDocument/2006/relationships/tags" Target="../tags/tag30.xml"/><Relationship Id="rId34" Type="http://schemas.openxmlformats.org/officeDocument/2006/relationships/tags" Target="../tags/tag43.xml"/><Relationship Id="rId42" Type="http://schemas.openxmlformats.org/officeDocument/2006/relationships/tags" Target="../tags/tag51.xml"/><Relationship Id="rId47" Type="http://schemas.openxmlformats.org/officeDocument/2006/relationships/tags" Target="../tags/tag56.xml"/><Relationship Id="rId50" Type="http://schemas.openxmlformats.org/officeDocument/2006/relationships/slideLayout" Target="../slideLayouts/slideLayout34.xml"/><Relationship Id="rId55" Type="http://schemas.microsoft.com/office/2007/relationships/hdphoto" Target="../media/hdphoto3.wdp"/><Relationship Id="rId63" Type="http://schemas.microsoft.com/office/2007/relationships/hdphoto" Target="../media/hdphoto5.wdp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9" Type="http://schemas.openxmlformats.org/officeDocument/2006/relationships/tags" Target="../tags/tag38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tags" Target="../tags/tag41.xml"/><Relationship Id="rId37" Type="http://schemas.openxmlformats.org/officeDocument/2006/relationships/tags" Target="../tags/tag46.xml"/><Relationship Id="rId40" Type="http://schemas.openxmlformats.org/officeDocument/2006/relationships/tags" Target="../tags/tag49.xml"/><Relationship Id="rId45" Type="http://schemas.openxmlformats.org/officeDocument/2006/relationships/tags" Target="../tags/tag54.xml"/><Relationship Id="rId53" Type="http://schemas.microsoft.com/office/2007/relationships/hdphoto" Target="../media/hdphoto2.wdp"/><Relationship Id="rId58" Type="http://schemas.openxmlformats.org/officeDocument/2006/relationships/image" Target="../media/image34.png"/><Relationship Id="rId66" Type="http://schemas.openxmlformats.org/officeDocument/2006/relationships/image" Target="../media/image39.png"/><Relationship Id="rId5" Type="http://schemas.openxmlformats.org/officeDocument/2006/relationships/tags" Target="../tags/tag14.xml"/><Relationship Id="rId61" Type="http://schemas.openxmlformats.org/officeDocument/2006/relationships/image" Target="../media/image36.png"/><Relationship Id="rId19" Type="http://schemas.openxmlformats.org/officeDocument/2006/relationships/tags" Target="../tags/tag2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tags" Target="../tags/tag39.xml"/><Relationship Id="rId35" Type="http://schemas.openxmlformats.org/officeDocument/2006/relationships/tags" Target="../tags/tag44.xml"/><Relationship Id="rId43" Type="http://schemas.openxmlformats.org/officeDocument/2006/relationships/tags" Target="../tags/tag52.xml"/><Relationship Id="rId48" Type="http://schemas.openxmlformats.org/officeDocument/2006/relationships/tags" Target="../tags/tag57.xml"/><Relationship Id="rId56" Type="http://schemas.openxmlformats.org/officeDocument/2006/relationships/image" Target="../media/image32.png"/><Relationship Id="rId64" Type="http://schemas.microsoft.com/office/2007/relationships/hdphoto" Target="../media/hdphoto6.wdp"/><Relationship Id="rId8" Type="http://schemas.openxmlformats.org/officeDocument/2006/relationships/tags" Target="../tags/tag17.xml"/><Relationship Id="rId51" Type="http://schemas.openxmlformats.org/officeDocument/2006/relationships/notesSlide" Target="../notesSlides/notesSlide8.xml"/><Relationship Id="rId3" Type="http://schemas.openxmlformats.org/officeDocument/2006/relationships/tags" Target="../tags/tag12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tags" Target="../tags/tag42.xml"/><Relationship Id="rId38" Type="http://schemas.openxmlformats.org/officeDocument/2006/relationships/tags" Target="../tags/tag47.xml"/><Relationship Id="rId46" Type="http://schemas.openxmlformats.org/officeDocument/2006/relationships/tags" Target="../tags/tag55.xml"/><Relationship Id="rId59" Type="http://schemas.openxmlformats.org/officeDocument/2006/relationships/image" Target="../media/image35.png"/><Relationship Id="rId20" Type="http://schemas.openxmlformats.org/officeDocument/2006/relationships/tags" Target="../tags/tag29.xml"/><Relationship Id="rId41" Type="http://schemas.openxmlformats.org/officeDocument/2006/relationships/tags" Target="../tags/tag50.xml"/><Relationship Id="rId54" Type="http://schemas.openxmlformats.org/officeDocument/2006/relationships/image" Target="../media/image31.png"/><Relationship Id="rId62" Type="http://schemas.openxmlformats.org/officeDocument/2006/relationships/image" Target="../media/image37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36" Type="http://schemas.openxmlformats.org/officeDocument/2006/relationships/tags" Target="../tags/tag45.xml"/><Relationship Id="rId49" Type="http://schemas.openxmlformats.org/officeDocument/2006/relationships/tags" Target="../tags/tag58.xml"/><Relationship Id="rId57" Type="http://schemas.openxmlformats.org/officeDocument/2006/relationships/image" Target="../media/image33.svg"/><Relationship Id="rId10" Type="http://schemas.openxmlformats.org/officeDocument/2006/relationships/tags" Target="../tags/tag19.xml"/><Relationship Id="rId31" Type="http://schemas.openxmlformats.org/officeDocument/2006/relationships/tags" Target="../tags/tag40.xml"/><Relationship Id="rId44" Type="http://schemas.openxmlformats.org/officeDocument/2006/relationships/tags" Target="../tags/tag53.xml"/><Relationship Id="rId52" Type="http://schemas.openxmlformats.org/officeDocument/2006/relationships/image" Target="../media/image30.png"/><Relationship Id="rId60" Type="http://schemas.microsoft.com/office/2007/relationships/hdphoto" Target="../media/hdphoto4.wdp"/><Relationship Id="rId65" Type="http://schemas.openxmlformats.org/officeDocument/2006/relationships/image" Target="../media/image38.sv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9" Type="http://schemas.openxmlformats.org/officeDocument/2006/relationships/tags" Target="../tags/tag4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.png"/><Relationship Id="rId21" Type="http://schemas.openxmlformats.org/officeDocument/2006/relationships/tags" Target="../tags/tag79.xml"/><Relationship Id="rId42" Type="http://schemas.openxmlformats.org/officeDocument/2006/relationships/tags" Target="../tags/tag100.xml"/><Relationship Id="rId63" Type="http://schemas.openxmlformats.org/officeDocument/2006/relationships/tags" Target="../tags/tag121.xml"/><Relationship Id="rId84" Type="http://schemas.openxmlformats.org/officeDocument/2006/relationships/tags" Target="../tags/tag142.xml"/><Relationship Id="rId138" Type="http://schemas.openxmlformats.org/officeDocument/2006/relationships/image" Target="../media/image62.png"/><Relationship Id="rId16" Type="http://schemas.openxmlformats.org/officeDocument/2006/relationships/tags" Target="../tags/tag74.xml"/><Relationship Id="rId107" Type="http://schemas.openxmlformats.org/officeDocument/2006/relationships/tags" Target="../tags/tag165.xml"/><Relationship Id="rId11" Type="http://schemas.openxmlformats.org/officeDocument/2006/relationships/tags" Target="../tags/tag69.xml"/><Relationship Id="rId32" Type="http://schemas.openxmlformats.org/officeDocument/2006/relationships/tags" Target="../tags/tag90.xml"/><Relationship Id="rId37" Type="http://schemas.openxmlformats.org/officeDocument/2006/relationships/tags" Target="../tags/tag95.xml"/><Relationship Id="rId53" Type="http://schemas.openxmlformats.org/officeDocument/2006/relationships/tags" Target="../tags/tag111.xml"/><Relationship Id="rId58" Type="http://schemas.openxmlformats.org/officeDocument/2006/relationships/tags" Target="../tags/tag116.xml"/><Relationship Id="rId74" Type="http://schemas.openxmlformats.org/officeDocument/2006/relationships/tags" Target="../tags/tag132.xml"/><Relationship Id="rId79" Type="http://schemas.openxmlformats.org/officeDocument/2006/relationships/tags" Target="../tags/tag137.xml"/><Relationship Id="rId102" Type="http://schemas.openxmlformats.org/officeDocument/2006/relationships/tags" Target="../tags/tag160.xml"/><Relationship Id="rId123" Type="http://schemas.openxmlformats.org/officeDocument/2006/relationships/image" Target="../media/image49.png"/><Relationship Id="rId128" Type="http://schemas.openxmlformats.org/officeDocument/2006/relationships/image" Target="../media/image53.png"/><Relationship Id="rId5" Type="http://schemas.openxmlformats.org/officeDocument/2006/relationships/tags" Target="../tags/tag63.xml"/><Relationship Id="rId90" Type="http://schemas.openxmlformats.org/officeDocument/2006/relationships/tags" Target="../tags/tag148.xml"/><Relationship Id="rId95" Type="http://schemas.openxmlformats.org/officeDocument/2006/relationships/tags" Target="../tags/tag153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43" Type="http://schemas.openxmlformats.org/officeDocument/2006/relationships/tags" Target="../tags/tag101.xml"/><Relationship Id="rId48" Type="http://schemas.openxmlformats.org/officeDocument/2006/relationships/tags" Target="../tags/tag106.xml"/><Relationship Id="rId64" Type="http://schemas.openxmlformats.org/officeDocument/2006/relationships/tags" Target="../tags/tag122.xml"/><Relationship Id="rId69" Type="http://schemas.openxmlformats.org/officeDocument/2006/relationships/tags" Target="../tags/tag127.xml"/><Relationship Id="rId113" Type="http://schemas.openxmlformats.org/officeDocument/2006/relationships/image" Target="../media/image41.png"/><Relationship Id="rId118" Type="http://schemas.openxmlformats.org/officeDocument/2006/relationships/image" Target="../media/image45.png"/><Relationship Id="rId134" Type="http://schemas.openxmlformats.org/officeDocument/2006/relationships/image" Target="../media/image58.png"/><Relationship Id="rId80" Type="http://schemas.openxmlformats.org/officeDocument/2006/relationships/tags" Target="../tags/tag138.xml"/><Relationship Id="rId85" Type="http://schemas.openxmlformats.org/officeDocument/2006/relationships/tags" Target="../tags/tag143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33" Type="http://schemas.openxmlformats.org/officeDocument/2006/relationships/tags" Target="../tags/tag91.xml"/><Relationship Id="rId38" Type="http://schemas.openxmlformats.org/officeDocument/2006/relationships/tags" Target="../tags/tag96.xml"/><Relationship Id="rId59" Type="http://schemas.openxmlformats.org/officeDocument/2006/relationships/tags" Target="../tags/tag117.xml"/><Relationship Id="rId103" Type="http://schemas.openxmlformats.org/officeDocument/2006/relationships/tags" Target="../tags/tag161.xml"/><Relationship Id="rId108" Type="http://schemas.openxmlformats.org/officeDocument/2006/relationships/tags" Target="../tags/tag166.xml"/><Relationship Id="rId124" Type="http://schemas.openxmlformats.org/officeDocument/2006/relationships/image" Target="../media/image50.png"/><Relationship Id="rId129" Type="http://schemas.microsoft.com/office/2007/relationships/hdphoto" Target="../media/hdphoto10.wdp"/><Relationship Id="rId54" Type="http://schemas.openxmlformats.org/officeDocument/2006/relationships/tags" Target="../tags/tag112.xml"/><Relationship Id="rId70" Type="http://schemas.openxmlformats.org/officeDocument/2006/relationships/tags" Target="../tags/tag128.xml"/><Relationship Id="rId75" Type="http://schemas.openxmlformats.org/officeDocument/2006/relationships/tags" Target="../tags/tag133.xml"/><Relationship Id="rId91" Type="http://schemas.openxmlformats.org/officeDocument/2006/relationships/tags" Target="../tags/tag149.xml"/><Relationship Id="rId96" Type="http://schemas.openxmlformats.org/officeDocument/2006/relationships/tags" Target="../tags/tag154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49" Type="http://schemas.openxmlformats.org/officeDocument/2006/relationships/tags" Target="../tags/tag107.xml"/><Relationship Id="rId114" Type="http://schemas.openxmlformats.org/officeDocument/2006/relationships/image" Target="../media/image42.png"/><Relationship Id="rId119" Type="http://schemas.microsoft.com/office/2007/relationships/hdphoto" Target="../media/hdphoto8.wdp"/><Relationship Id="rId44" Type="http://schemas.openxmlformats.org/officeDocument/2006/relationships/tags" Target="../tags/tag102.xml"/><Relationship Id="rId60" Type="http://schemas.openxmlformats.org/officeDocument/2006/relationships/tags" Target="../tags/tag118.xml"/><Relationship Id="rId65" Type="http://schemas.openxmlformats.org/officeDocument/2006/relationships/tags" Target="../tags/tag123.xml"/><Relationship Id="rId81" Type="http://schemas.openxmlformats.org/officeDocument/2006/relationships/tags" Target="../tags/tag139.xml"/><Relationship Id="rId86" Type="http://schemas.openxmlformats.org/officeDocument/2006/relationships/tags" Target="../tags/tag144.xml"/><Relationship Id="rId130" Type="http://schemas.openxmlformats.org/officeDocument/2006/relationships/image" Target="../media/image54.png"/><Relationship Id="rId135" Type="http://schemas.openxmlformats.org/officeDocument/2006/relationships/image" Target="../media/image59.png"/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39" Type="http://schemas.openxmlformats.org/officeDocument/2006/relationships/tags" Target="../tags/tag97.xml"/><Relationship Id="rId109" Type="http://schemas.openxmlformats.org/officeDocument/2006/relationships/tags" Target="../tags/tag167.xml"/><Relationship Id="rId34" Type="http://schemas.openxmlformats.org/officeDocument/2006/relationships/tags" Target="../tags/tag92.xml"/><Relationship Id="rId50" Type="http://schemas.openxmlformats.org/officeDocument/2006/relationships/tags" Target="../tags/tag108.xml"/><Relationship Id="rId55" Type="http://schemas.openxmlformats.org/officeDocument/2006/relationships/tags" Target="../tags/tag113.xml"/><Relationship Id="rId76" Type="http://schemas.openxmlformats.org/officeDocument/2006/relationships/tags" Target="../tags/tag134.xml"/><Relationship Id="rId97" Type="http://schemas.openxmlformats.org/officeDocument/2006/relationships/tags" Target="../tags/tag155.xml"/><Relationship Id="rId104" Type="http://schemas.openxmlformats.org/officeDocument/2006/relationships/tags" Target="../tags/tag162.xml"/><Relationship Id="rId120" Type="http://schemas.openxmlformats.org/officeDocument/2006/relationships/image" Target="../media/image46.png"/><Relationship Id="rId125" Type="http://schemas.openxmlformats.org/officeDocument/2006/relationships/image" Target="../media/image51.png"/><Relationship Id="rId7" Type="http://schemas.openxmlformats.org/officeDocument/2006/relationships/tags" Target="../tags/tag65.xml"/><Relationship Id="rId71" Type="http://schemas.openxmlformats.org/officeDocument/2006/relationships/tags" Target="../tags/tag129.xml"/><Relationship Id="rId92" Type="http://schemas.openxmlformats.org/officeDocument/2006/relationships/tags" Target="../tags/tag150.xml"/><Relationship Id="rId2" Type="http://schemas.openxmlformats.org/officeDocument/2006/relationships/tags" Target="../tags/tag60.xml"/><Relationship Id="rId29" Type="http://schemas.openxmlformats.org/officeDocument/2006/relationships/tags" Target="../tags/tag87.xml"/><Relationship Id="rId24" Type="http://schemas.openxmlformats.org/officeDocument/2006/relationships/tags" Target="../tags/tag82.xml"/><Relationship Id="rId40" Type="http://schemas.openxmlformats.org/officeDocument/2006/relationships/tags" Target="../tags/tag98.xml"/><Relationship Id="rId45" Type="http://schemas.openxmlformats.org/officeDocument/2006/relationships/tags" Target="../tags/tag103.xml"/><Relationship Id="rId66" Type="http://schemas.openxmlformats.org/officeDocument/2006/relationships/tags" Target="../tags/tag124.xml"/><Relationship Id="rId87" Type="http://schemas.openxmlformats.org/officeDocument/2006/relationships/tags" Target="../tags/tag145.xml"/><Relationship Id="rId110" Type="http://schemas.openxmlformats.org/officeDocument/2006/relationships/slideLayout" Target="../slideLayouts/slideLayout49.xml"/><Relationship Id="rId115" Type="http://schemas.openxmlformats.org/officeDocument/2006/relationships/image" Target="../media/image43.png"/><Relationship Id="rId131" Type="http://schemas.openxmlformats.org/officeDocument/2006/relationships/image" Target="../media/image55.png"/><Relationship Id="rId136" Type="http://schemas.openxmlformats.org/officeDocument/2006/relationships/image" Target="../media/image60.png"/><Relationship Id="rId61" Type="http://schemas.openxmlformats.org/officeDocument/2006/relationships/tags" Target="../tags/tag119.xml"/><Relationship Id="rId82" Type="http://schemas.openxmlformats.org/officeDocument/2006/relationships/tags" Target="../tags/tag140.xml"/><Relationship Id="rId19" Type="http://schemas.openxmlformats.org/officeDocument/2006/relationships/tags" Target="../tags/tag77.xml"/><Relationship Id="rId14" Type="http://schemas.openxmlformats.org/officeDocument/2006/relationships/tags" Target="../tags/tag72.xml"/><Relationship Id="rId30" Type="http://schemas.openxmlformats.org/officeDocument/2006/relationships/tags" Target="../tags/tag88.xml"/><Relationship Id="rId35" Type="http://schemas.openxmlformats.org/officeDocument/2006/relationships/tags" Target="../tags/tag93.xml"/><Relationship Id="rId56" Type="http://schemas.openxmlformats.org/officeDocument/2006/relationships/tags" Target="../tags/tag114.xml"/><Relationship Id="rId77" Type="http://schemas.openxmlformats.org/officeDocument/2006/relationships/tags" Target="../tags/tag135.xml"/><Relationship Id="rId100" Type="http://schemas.openxmlformats.org/officeDocument/2006/relationships/tags" Target="../tags/tag158.xml"/><Relationship Id="rId105" Type="http://schemas.openxmlformats.org/officeDocument/2006/relationships/tags" Target="../tags/tag163.xml"/><Relationship Id="rId126" Type="http://schemas.microsoft.com/office/2007/relationships/hdphoto" Target="../media/hdphoto9.wdp"/><Relationship Id="rId8" Type="http://schemas.openxmlformats.org/officeDocument/2006/relationships/tags" Target="../tags/tag66.xml"/><Relationship Id="rId51" Type="http://schemas.openxmlformats.org/officeDocument/2006/relationships/tags" Target="../tags/tag109.xml"/><Relationship Id="rId72" Type="http://schemas.openxmlformats.org/officeDocument/2006/relationships/tags" Target="../tags/tag130.xml"/><Relationship Id="rId93" Type="http://schemas.openxmlformats.org/officeDocument/2006/relationships/tags" Target="../tags/tag151.xml"/><Relationship Id="rId98" Type="http://schemas.openxmlformats.org/officeDocument/2006/relationships/tags" Target="../tags/tag156.xml"/><Relationship Id="rId121" Type="http://schemas.openxmlformats.org/officeDocument/2006/relationships/image" Target="../media/image47.png"/><Relationship Id="rId3" Type="http://schemas.openxmlformats.org/officeDocument/2006/relationships/tags" Target="../tags/tag61.xml"/><Relationship Id="rId25" Type="http://schemas.openxmlformats.org/officeDocument/2006/relationships/tags" Target="../tags/tag83.xml"/><Relationship Id="rId46" Type="http://schemas.openxmlformats.org/officeDocument/2006/relationships/tags" Target="../tags/tag104.xml"/><Relationship Id="rId67" Type="http://schemas.openxmlformats.org/officeDocument/2006/relationships/tags" Target="../tags/tag125.xml"/><Relationship Id="rId116" Type="http://schemas.microsoft.com/office/2007/relationships/hdphoto" Target="../media/hdphoto7.wdp"/><Relationship Id="rId137" Type="http://schemas.openxmlformats.org/officeDocument/2006/relationships/image" Target="../media/image61.jpeg"/><Relationship Id="rId20" Type="http://schemas.openxmlformats.org/officeDocument/2006/relationships/tags" Target="../tags/tag78.xml"/><Relationship Id="rId41" Type="http://schemas.openxmlformats.org/officeDocument/2006/relationships/tags" Target="../tags/tag99.xml"/><Relationship Id="rId62" Type="http://schemas.openxmlformats.org/officeDocument/2006/relationships/tags" Target="../tags/tag120.xml"/><Relationship Id="rId83" Type="http://schemas.openxmlformats.org/officeDocument/2006/relationships/tags" Target="../tags/tag141.xml"/><Relationship Id="rId88" Type="http://schemas.openxmlformats.org/officeDocument/2006/relationships/tags" Target="../tags/tag146.xml"/><Relationship Id="rId111" Type="http://schemas.openxmlformats.org/officeDocument/2006/relationships/notesSlide" Target="../notesSlides/notesSlide9.xml"/><Relationship Id="rId132" Type="http://schemas.openxmlformats.org/officeDocument/2006/relationships/image" Target="../media/image56.png"/><Relationship Id="rId15" Type="http://schemas.openxmlformats.org/officeDocument/2006/relationships/tags" Target="../tags/tag73.xml"/><Relationship Id="rId36" Type="http://schemas.openxmlformats.org/officeDocument/2006/relationships/tags" Target="../tags/tag94.xml"/><Relationship Id="rId57" Type="http://schemas.openxmlformats.org/officeDocument/2006/relationships/tags" Target="../tags/tag115.xml"/><Relationship Id="rId106" Type="http://schemas.openxmlformats.org/officeDocument/2006/relationships/tags" Target="../tags/tag164.xml"/><Relationship Id="rId127" Type="http://schemas.openxmlformats.org/officeDocument/2006/relationships/image" Target="../media/image52.png"/><Relationship Id="rId10" Type="http://schemas.openxmlformats.org/officeDocument/2006/relationships/tags" Target="../tags/tag68.xml"/><Relationship Id="rId31" Type="http://schemas.openxmlformats.org/officeDocument/2006/relationships/tags" Target="../tags/tag89.xml"/><Relationship Id="rId52" Type="http://schemas.openxmlformats.org/officeDocument/2006/relationships/tags" Target="../tags/tag110.xml"/><Relationship Id="rId73" Type="http://schemas.openxmlformats.org/officeDocument/2006/relationships/tags" Target="../tags/tag131.xml"/><Relationship Id="rId78" Type="http://schemas.openxmlformats.org/officeDocument/2006/relationships/tags" Target="../tags/tag136.xml"/><Relationship Id="rId94" Type="http://schemas.openxmlformats.org/officeDocument/2006/relationships/tags" Target="../tags/tag152.xml"/><Relationship Id="rId99" Type="http://schemas.openxmlformats.org/officeDocument/2006/relationships/tags" Target="../tags/tag157.xml"/><Relationship Id="rId101" Type="http://schemas.openxmlformats.org/officeDocument/2006/relationships/tags" Target="../tags/tag159.xml"/><Relationship Id="rId122" Type="http://schemas.openxmlformats.org/officeDocument/2006/relationships/image" Target="../media/image48.png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26" Type="http://schemas.openxmlformats.org/officeDocument/2006/relationships/tags" Target="../tags/tag84.xml"/><Relationship Id="rId47" Type="http://schemas.openxmlformats.org/officeDocument/2006/relationships/tags" Target="../tags/tag105.xml"/><Relationship Id="rId68" Type="http://schemas.openxmlformats.org/officeDocument/2006/relationships/tags" Target="../tags/tag126.xml"/><Relationship Id="rId89" Type="http://schemas.openxmlformats.org/officeDocument/2006/relationships/tags" Target="../tags/tag147.xml"/><Relationship Id="rId112" Type="http://schemas.openxmlformats.org/officeDocument/2006/relationships/image" Target="../media/image40.png"/><Relationship Id="rId133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E05E-66AF-8140-9247-9E5DFF382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从云原生到</a:t>
            </a:r>
            <a:r>
              <a:rPr lang="en-US" altLang="zh-CN" dirty="0"/>
              <a:t>AI</a:t>
            </a:r>
            <a:r>
              <a:rPr lang="zh-CN" altLang="en-US" dirty="0"/>
              <a:t>原生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F89D0-3F53-D14F-B9E2-CD2080AAF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3884507"/>
            <a:ext cx="7882709" cy="736920"/>
          </a:xfrm>
        </p:spPr>
        <p:txBody>
          <a:bodyPr>
            <a:normAutofit/>
          </a:bodyPr>
          <a:lstStyle/>
          <a:p>
            <a:r>
              <a:rPr lang="zh-CN" altLang="en-US" dirty="0"/>
              <a:t>基础软件的</a:t>
            </a:r>
            <a:r>
              <a:rPr lang="en-US" altLang="zh-CN" dirty="0"/>
              <a:t>10</a:t>
            </a:r>
            <a:r>
              <a:rPr lang="zh-CN" altLang="en-US" dirty="0"/>
              <a:t>年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408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5F0D1-E0A4-4DCC-C6FB-7B043255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产业发展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DC057-0BBC-6F73-CDCE-0DD2B13CCED9}"/>
              </a:ext>
            </a:extLst>
          </p:cNvPr>
          <p:cNvSpPr txBox="1"/>
          <p:nvPr/>
        </p:nvSpPr>
        <p:spPr>
          <a:xfrm>
            <a:off x="1867720" y="2109303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</a:t>
            </a:r>
            <a:r>
              <a:rPr dirty="0" err="1"/>
              <a:t>PC时代：软件运行在单机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0ACCB-CE7A-8B85-13AF-EBD95C426919}"/>
              </a:ext>
            </a:extLst>
          </p:cNvPr>
          <p:cNvSpPr txBox="1"/>
          <p:nvPr/>
        </p:nvSpPr>
        <p:spPr>
          <a:xfrm>
            <a:off x="1874520" y="2853441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互联网时代：云计算 / 数据中心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69FFC-4FEC-AD23-5AA4-0D969154675F}"/>
              </a:ext>
            </a:extLst>
          </p:cNvPr>
          <p:cNvSpPr txBox="1"/>
          <p:nvPr/>
        </p:nvSpPr>
        <p:spPr>
          <a:xfrm>
            <a:off x="1874520" y="3597579"/>
            <a:ext cx="72474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</a:t>
            </a:r>
            <a:r>
              <a:rPr dirty="0" err="1"/>
              <a:t>云原生时代：</a:t>
            </a:r>
            <a:r>
              <a:rPr dirty="0" err="1">
                <a:solidFill>
                  <a:srgbClr val="FFFF00"/>
                </a:solidFill>
              </a:rPr>
              <a:t>Docker</a:t>
            </a:r>
            <a:r>
              <a:rPr dirty="0"/>
              <a:t> → </a:t>
            </a:r>
            <a:r>
              <a:rPr dirty="0">
                <a:solidFill>
                  <a:srgbClr val="00B0F0"/>
                </a:solidFill>
              </a:rPr>
              <a:t>Kubernetes</a:t>
            </a:r>
            <a:r>
              <a:rPr dirty="0"/>
              <a:t> → </a:t>
            </a:r>
            <a:r>
              <a:rPr dirty="0" err="1"/>
              <a:t>标准化基础设施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09B91-007A-1514-803E-AA8D65C680CA}"/>
              </a:ext>
            </a:extLst>
          </p:cNvPr>
          <p:cNvSpPr txBox="1"/>
          <p:nvPr/>
        </p:nvSpPr>
        <p:spPr>
          <a:xfrm>
            <a:off x="1874520" y="4382686"/>
            <a:ext cx="548804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AI Native</a:t>
            </a:r>
            <a:r>
              <a:rPr lang="zh-CN" altLang="en-US" dirty="0"/>
              <a:t> </a:t>
            </a:r>
            <a:r>
              <a:rPr dirty="0" err="1"/>
              <a:t>时代：</a:t>
            </a:r>
            <a:r>
              <a:rPr lang="en-US" altLang="zh-CN" dirty="0" err="1"/>
              <a:t>LLM</a:t>
            </a:r>
            <a:r>
              <a:rPr dirty="0"/>
              <a:t> + Agent +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65941-85D5-BEEC-756F-7DEC460F8AC0}"/>
              </a:ext>
            </a:extLst>
          </p:cNvPr>
          <p:cNvSpPr txBox="1"/>
          <p:nvPr/>
        </p:nvSpPr>
        <p:spPr>
          <a:xfrm>
            <a:off x="831400" y="1081098"/>
            <a:ext cx="882645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b="1" dirty="0">
                <a:solidFill>
                  <a:srgbClr val="0FD15C"/>
                </a:solidFill>
              </a:rPr>
              <a:t>• </a:t>
            </a:r>
            <a:r>
              <a:rPr b="1" dirty="0" err="1">
                <a:solidFill>
                  <a:srgbClr val="0FD15C"/>
                </a:solidFill>
              </a:rPr>
              <a:t>每一次基础设施革命，都会重构软件产业，并重新定义软件工程师</a:t>
            </a:r>
            <a:r>
              <a:rPr b="1" dirty="0">
                <a:solidFill>
                  <a:srgbClr val="0FD15C"/>
                </a:solidFill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6D491B-B5F1-A1E5-9E80-6EE6B075F8A9}"/>
              </a:ext>
            </a:extLst>
          </p:cNvPr>
          <p:cNvSpPr txBox="1"/>
          <p:nvPr/>
        </p:nvSpPr>
        <p:spPr>
          <a:xfrm>
            <a:off x="3746871" y="3946965"/>
            <a:ext cx="13280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chemeClr val="tx1">
                    <a:lumMod val="85000"/>
                  </a:schemeClr>
                </a:solidFill>
              </a:rPr>
              <a:t>软件怎么打包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5FC18A-5510-E1E4-5276-892F0D92ABF7}"/>
              </a:ext>
            </a:extLst>
          </p:cNvPr>
          <p:cNvSpPr txBox="1"/>
          <p:nvPr/>
        </p:nvSpPr>
        <p:spPr>
          <a:xfrm>
            <a:off x="5244627" y="3946965"/>
            <a:ext cx="1702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chemeClr val="tx1">
                    <a:lumMod val="85000"/>
                  </a:schemeClr>
                </a:solidFill>
              </a:rPr>
              <a:t>软件怎么</a:t>
            </a:r>
            <a:r>
              <a:rPr lang="zh-CN" altLang="en-US" sz="1200" dirty="0">
                <a:solidFill>
                  <a:schemeClr val="tx1">
                    <a:lumMod val="85000"/>
                  </a:schemeClr>
                </a:solidFill>
              </a:rPr>
              <a:t>部署</a:t>
            </a:r>
            <a:r>
              <a:rPr lang="en-US" altLang="zh-CN" sz="1200" dirty="0">
                <a:solidFill>
                  <a:schemeClr val="tx1">
                    <a:lumMod val="85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85000"/>
                  </a:schemeClr>
                </a:solidFill>
              </a:rPr>
              <a:t>运行</a:t>
            </a:r>
            <a:endParaRPr lang="zh-CN" altLang="zh-CN" sz="12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92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D59433A-7DF8-7324-B4C2-8A2503F37185}"/>
              </a:ext>
            </a:extLst>
          </p:cNvPr>
          <p:cNvGrpSpPr/>
          <p:nvPr/>
        </p:nvGrpSpPr>
        <p:grpSpPr>
          <a:xfrm>
            <a:off x="1180583" y="-40945"/>
            <a:ext cx="8090006" cy="6898945"/>
            <a:chOff x="3430524" y="-1077700"/>
            <a:chExt cx="8549640" cy="729090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29BDD2E-2EE6-6465-0CDD-CDB9581BD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397"/>
            <a:stretch/>
          </p:blipFill>
          <p:spPr>
            <a:xfrm>
              <a:off x="3430524" y="230453"/>
              <a:ext cx="8549640" cy="5570808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CB0327A-EA3D-6C43-7475-B875F02F5FB9}"/>
                </a:ext>
              </a:extLst>
            </p:cNvPr>
            <p:cNvSpPr txBox="1"/>
            <p:nvPr/>
          </p:nvSpPr>
          <p:spPr>
            <a:xfrm>
              <a:off x="3453167" y="-1077700"/>
              <a:ext cx="6163057" cy="1000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/>
              <a:r>
                <a:rPr lang="en-US" altLang="zh-CN" sz="1200" b="1" dirty="0">
                  <a:latin typeface="Roboto" panose="02000000000000000000" pitchFamily="2" charset="0"/>
                </a:rPr>
                <a:t>Nvidia</a:t>
              </a:r>
              <a:r>
                <a:rPr lang="zh-CN" altLang="en-US" sz="1200" b="1" dirty="0">
                  <a:latin typeface="Roboto" panose="02000000000000000000" pitchFamily="2" charset="0"/>
                </a:rPr>
                <a:t> </a:t>
              </a:r>
              <a:r>
                <a:rPr lang="en-US" altLang="zh-CN" sz="1200" b="1" dirty="0">
                  <a:latin typeface="Roboto" panose="02000000000000000000" pitchFamily="2" charset="0"/>
                </a:rPr>
                <a:t>CEO</a:t>
              </a:r>
              <a:r>
                <a:rPr lang="zh-CN" altLang="en-US" sz="1200" b="1" dirty="0">
                  <a:latin typeface="Roboto" panose="02000000000000000000" pitchFamily="2" charset="0"/>
                </a:rPr>
                <a:t> 黄仁勋 </a:t>
              </a:r>
              <a:r>
                <a:rPr lang="en-US" altLang="zh-CN" sz="1200" b="1" i="0" dirty="0" err="1">
                  <a:effectLst/>
                  <a:latin typeface="Roboto" panose="02000000000000000000" pitchFamily="2" charset="0"/>
                </a:rPr>
                <a:t>Computex</a:t>
              </a:r>
              <a:r>
                <a:rPr lang="en-US" altLang="zh-CN" sz="1200" b="1" i="0" dirty="0">
                  <a:effectLst/>
                  <a:latin typeface="Roboto" panose="02000000000000000000" pitchFamily="2" charset="0"/>
                </a:rPr>
                <a:t> 2024</a:t>
              </a:r>
              <a:r>
                <a:rPr lang="zh-CN" altLang="en-US" sz="1200" b="1" i="0" dirty="0">
                  <a:effectLst/>
                  <a:latin typeface="Roboto" panose="02000000000000000000" pitchFamily="2" charset="0"/>
                </a:rPr>
                <a:t> 演讲</a:t>
              </a:r>
              <a:r>
                <a:rPr lang="en-US" altLang="zh-CN" sz="1200" b="1" i="0" dirty="0">
                  <a:effectLst/>
                  <a:latin typeface="Roboto" panose="02000000000000000000" pitchFamily="2" charset="0"/>
                </a:rPr>
                <a:t>:</a:t>
              </a:r>
            </a:p>
            <a:p>
              <a:pPr fontAlgn="base"/>
              <a:endParaRPr kumimoji="1" lang="en-US" altLang="zh-CN" sz="1200" dirty="0"/>
            </a:p>
            <a:p>
              <a:pPr fontAlgn="base"/>
              <a:r>
                <a:rPr kumimoji="1" lang="zh-CN" altLang="en-US" sz="1200" dirty="0"/>
                <a:t>人工智能新范式，需建立在</a:t>
              </a:r>
              <a:r>
                <a:rPr kumimoji="1" lang="en-US" altLang="zh-CN" sz="1200" dirty="0"/>
                <a:t>Kubernetes</a:t>
              </a:r>
              <a:r>
                <a:rPr kumimoji="1" lang="zh-CN" altLang="en-US" sz="1200" dirty="0"/>
                <a:t>基础之上</a:t>
              </a:r>
              <a:endParaRPr lang="en-US" altLang="zh-CN" sz="1200" b="1" i="0" dirty="0"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" name="任意形状 5">
              <a:extLst>
                <a:ext uri="{FF2B5EF4-FFF2-40B4-BE49-F238E27FC236}">
                  <a16:creationId xmlns:a16="http://schemas.microsoft.com/office/drawing/2014/main" id="{BB5F7AF5-10CD-F883-F48D-41A516F480FA}"/>
                </a:ext>
              </a:extLst>
            </p:cNvPr>
            <p:cNvSpPr/>
            <p:nvPr/>
          </p:nvSpPr>
          <p:spPr>
            <a:xfrm>
              <a:off x="4736592" y="1844723"/>
              <a:ext cx="4617720" cy="1728216"/>
            </a:xfrm>
            <a:custGeom>
              <a:avLst/>
              <a:gdLst>
                <a:gd name="connsiteX0" fmla="*/ 0 w 4617720"/>
                <a:gd name="connsiteY0" fmla="*/ 868680 h 1728216"/>
                <a:gd name="connsiteX1" fmla="*/ 1801368 w 4617720"/>
                <a:gd name="connsiteY1" fmla="*/ 859536 h 1728216"/>
                <a:gd name="connsiteX2" fmla="*/ 3209544 w 4617720"/>
                <a:gd name="connsiteY2" fmla="*/ 0 h 1728216"/>
                <a:gd name="connsiteX3" fmla="*/ 4617720 w 4617720"/>
                <a:gd name="connsiteY3" fmla="*/ 786384 h 1728216"/>
                <a:gd name="connsiteX4" fmla="*/ 3255264 w 4617720"/>
                <a:gd name="connsiteY4" fmla="*/ 1728216 h 1728216"/>
                <a:gd name="connsiteX5" fmla="*/ 2121408 w 4617720"/>
                <a:gd name="connsiteY5" fmla="*/ 1216152 h 1728216"/>
                <a:gd name="connsiteX6" fmla="*/ 36576 w 4617720"/>
                <a:gd name="connsiteY6" fmla="*/ 1216152 h 1728216"/>
                <a:gd name="connsiteX7" fmla="*/ 0 w 4617720"/>
                <a:gd name="connsiteY7" fmla="*/ 868680 h 1728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17720" h="1728216">
                  <a:moveTo>
                    <a:pt x="0" y="868680"/>
                  </a:moveTo>
                  <a:lnTo>
                    <a:pt x="1801368" y="859536"/>
                  </a:lnTo>
                  <a:lnTo>
                    <a:pt x="3209544" y="0"/>
                  </a:lnTo>
                  <a:lnTo>
                    <a:pt x="4617720" y="786384"/>
                  </a:lnTo>
                  <a:lnTo>
                    <a:pt x="3255264" y="1728216"/>
                  </a:lnTo>
                  <a:lnTo>
                    <a:pt x="2121408" y="1216152"/>
                  </a:lnTo>
                  <a:lnTo>
                    <a:pt x="36576" y="1216152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C17E83-589C-EF6F-6DB5-1F341C367F4B}"/>
                </a:ext>
              </a:extLst>
            </p:cNvPr>
            <p:cNvSpPr/>
            <p:nvPr/>
          </p:nvSpPr>
          <p:spPr>
            <a:xfrm>
              <a:off x="3430524" y="5801261"/>
              <a:ext cx="8549640" cy="361795"/>
            </a:xfrm>
            <a:prstGeom prst="rect">
              <a:avLst/>
            </a:prstGeom>
            <a:gradFill flip="none" rotWithShape="1">
              <a:gsLst>
                <a:gs pos="0">
                  <a:srgbClr val="2B3135"/>
                </a:gs>
                <a:gs pos="7000">
                  <a:schemeClr val="bg1"/>
                </a:gs>
                <a:gs pos="100000">
                  <a:schemeClr val="bg1"/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75C4095-8349-29B9-037E-6FF9C59A4E23}"/>
                </a:ext>
              </a:extLst>
            </p:cNvPr>
            <p:cNvSpPr txBox="1"/>
            <p:nvPr/>
          </p:nvSpPr>
          <p:spPr>
            <a:xfrm>
              <a:off x="6089650" y="5832235"/>
              <a:ext cx="4420389" cy="3809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云原生支持，是</a:t>
              </a:r>
              <a:r>
                <a:rPr kumimoji="1" lang="en-US" altLang="zh-CN" sz="1000" dirty="0"/>
                <a:t>NIM</a:t>
              </a:r>
              <a:r>
                <a:rPr kumimoji="1" lang="zh-CN" altLang="en-US" sz="1000" dirty="0"/>
                <a:t>人工智能新范式的核心能力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517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2E99-8997-87C7-BDEE-501A1D2C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33723-B2FF-4A62-E7F1-CD23CB64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Monaco" charset="0"/>
                <a:ea typeface="冬青黑体简体中文" panose="020B0300000000000000" charset="-122"/>
                <a:cs typeface="+mj-ea"/>
              </a:rPr>
              <a:t>DaoCloud</a:t>
            </a:r>
            <a:r>
              <a:rPr kumimoji="1" lang="zh-CN" altLang="en-US" dirty="0">
                <a:latin typeface="Monaco" charset="0"/>
                <a:ea typeface="冬青黑体简体中文" panose="020B0300000000000000" charset="-122"/>
                <a:cs typeface="+mj-ea"/>
              </a:rPr>
              <a:t>介绍</a:t>
            </a:r>
            <a:endParaRPr kumimoji="1" dirty="0">
              <a:latin typeface="Monaco" charset="0"/>
              <a:ea typeface="冬青黑体简体中文" panose="020B0300000000000000" charset="-122"/>
              <a:cs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B92206-8891-910F-C36A-9F669F0200D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6C91665-ACF9-69B8-ACDF-E99DC4EF169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7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09B3D963-DC3F-C879-1980-8D58B17176F9}"/>
              </a:ext>
            </a:extLst>
          </p:cNvPr>
          <p:cNvSpPr/>
          <p:nvPr/>
        </p:nvSpPr>
        <p:spPr>
          <a:xfrm>
            <a:off x="174597" y="825906"/>
            <a:ext cx="5406322" cy="6032094"/>
          </a:xfrm>
          <a:prstGeom prst="rect">
            <a:avLst/>
          </a:prstGeom>
          <a:solidFill>
            <a:srgbClr val="00B0F0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B795675-C8AE-C9F2-C8F0-C50BF50D98A4}"/>
              </a:ext>
            </a:extLst>
          </p:cNvPr>
          <p:cNvSpPr/>
          <p:nvPr/>
        </p:nvSpPr>
        <p:spPr>
          <a:xfrm>
            <a:off x="5692377" y="825906"/>
            <a:ext cx="6298657" cy="5799538"/>
          </a:xfrm>
          <a:prstGeom prst="rect">
            <a:avLst/>
          </a:prstGeom>
          <a:solidFill>
            <a:srgbClr val="12E468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315" y="-223764"/>
            <a:ext cx="11443369" cy="1001399"/>
          </a:xfrm>
        </p:spPr>
        <p:txBody>
          <a:bodyPr/>
          <a:lstStyle/>
          <a:p>
            <a:r>
              <a:rPr kumimoji="1" lang="en-US" altLang="zh-CN" sz="2000" dirty="0">
                <a:solidFill>
                  <a:srgbClr val="FFFF00"/>
                </a:solidFill>
                <a:sym typeface="+mn-ea"/>
              </a:rPr>
              <a:t>Open Source </a:t>
            </a:r>
            <a:r>
              <a:rPr kumimoji="1" lang="en-US" altLang="zh-CN" sz="2000" dirty="0">
                <a:sym typeface="+mn-ea"/>
              </a:rPr>
              <a:t>--  is our </a:t>
            </a:r>
            <a:r>
              <a:rPr kumimoji="1" lang="en-US" altLang="zh-CN" sz="5400" dirty="0">
                <a:solidFill>
                  <a:srgbClr val="FFFF00"/>
                </a:solidFill>
                <a:sym typeface="+mn-ea"/>
              </a:rPr>
              <a:t>DNA</a:t>
            </a:r>
            <a:endParaRPr kumimoji="1" lang="en-US" altLang="zh-CN" sz="2000" dirty="0">
              <a:solidFill>
                <a:srgbClr val="FFFF00"/>
              </a:solidFill>
              <a:sym typeface="+mn-ea"/>
            </a:endParaRPr>
          </a:p>
        </p:txBody>
      </p:sp>
      <p:sp>
        <p:nvSpPr>
          <p:cNvPr id="103" name="圆角矩形 48"/>
          <p:cNvSpPr/>
          <p:nvPr>
            <p:custDataLst>
              <p:tags r:id="rId1"/>
            </p:custDataLst>
          </p:nvPr>
        </p:nvSpPr>
        <p:spPr>
          <a:xfrm>
            <a:off x="7428865" y="1168404"/>
            <a:ext cx="2872740" cy="295275"/>
          </a:xfrm>
          <a:prstGeom prst="roundRect">
            <a:avLst>
              <a:gd name="adj" fmla="val 23853"/>
            </a:avLst>
          </a:prstGeom>
          <a:noFill/>
          <a:ln w="19050" cap="flat" cmpd="sng" algn="ctr">
            <a:noFill/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FD05D"/>
                </a:solidFill>
                <a:effectLst/>
                <a:uLnTx/>
                <a:uFillTx/>
                <a:latin typeface="Arial" panose="020B0604020202090204"/>
                <a:ea typeface="微软雅黑"/>
                <a:cs typeface="Arial" panose="020B0604020202090204" pitchFamily="34" charset="0"/>
              </a:rPr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B42E8D-6B13-BAAA-372B-57DF24C3F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b="34637"/>
          <a:stretch>
            <a:fillRect/>
          </a:stretch>
        </p:blipFill>
        <p:spPr>
          <a:xfrm>
            <a:off x="660399" y="1484806"/>
            <a:ext cx="4173105" cy="28096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53A9BE3-9803-6A16-983A-51C703FF1457}"/>
              </a:ext>
            </a:extLst>
          </p:cNvPr>
          <p:cNvSpPr txBox="1"/>
          <p:nvPr/>
        </p:nvSpPr>
        <p:spPr>
          <a:xfrm>
            <a:off x="1173343" y="1033773"/>
            <a:ext cx="5074285" cy="5797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ea"/>
                <a:sym typeface="+mn-ea"/>
              </a:rPr>
              <a:t>Top 3 K8S Contribution</a:t>
            </a:r>
          </a:p>
        </p:txBody>
      </p:sp>
      <p:pic>
        <p:nvPicPr>
          <p:cNvPr id="11" name="图片 10" descr="截屏2026-01-30 上午10.25.30">
            <a:extLst>
              <a:ext uri="{FF2B5EF4-FFF2-40B4-BE49-F238E27FC236}">
                <a16:creationId xmlns:a16="http://schemas.microsoft.com/office/drawing/2014/main" id="{7C1EDA21-6E44-159D-1208-6CE1DF932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99" y="4758273"/>
            <a:ext cx="3903399" cy="1949465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C42381F-C53B-95C3-8F15-8FCCBE1E2F2B}"/>
              </a:ext>
            </a:extLst>
          </p:cNvPr>
          <p:cNvSpPr txBox="1"/>
          <p:nvPr/>
        </p:nvSpPr>
        <p:spPr>
          <a:xfrm>
            <a:off x="660399" y="4341715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ea"/>
                <a:sym typeface="+mn-ea"/>
              </a:rPr>
              <a:t>The ONLY APJ Technical Committee in history </a:t>
            </a: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19591CC1-91C5-1520-2797-0C0147E837A0}"/>
              </a:ext>
            </a:extLst>
          </p:cNvPr>
          <p:cNvCxnSpPr/>
          <p:nvPr/>
        </p:nvCxnSpPr>
        <p:spPr>
          <a:xfrm flipH="1">
            <a:off x="1870129" y="3366455"/>
            <a:ext cx="876822" cy="513567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AE399AA-DAF8-43CC-8F48-8A013E89423B}"/>
              </a:ext>
            </a:extLst>
          </p:cNvPr>
          <p:cNvCxnSpPr>
            <a:cxnSpLocks/>
          </p:cNvCxnSpPr>
          <p:nvPr/>
        </p:nvCxnSpPr>
        <p:spPr>
          <a:xfrm flipH="1" flipV="1">
            <a:off x="2279350" y="5356342"/>
            <a:ext cx="710580" cy="507917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1688803-86AB-F237-8814-66788657A4DA}"/>
              </a:ext>
            </a:extLst>
          </p:cNvPr>
          <p:cNvSpPr txBox="1"/>
          <p:nvPr/>
        </p:nvSpPr>
        <p:spPr>
          <a:xfrm>
            <a:off x="7468121" y="958816"/>
            <a:ext cx="5074285" cy="5797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FD05D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ea"/>
                <a:sym typeface="+mn-ea"/>
              </a:rPr>
              <a:t>Top 6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FD05D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ea"/>
                <a:sym typeface="+mn-ea"/>
              </a:rPr>
              <a:t>vLLM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FD05D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ea"/>
                <a:sym typeface="+mn-ea"/>
              </a:rPr>
              <a:t> Contribution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F55FD77-0D2E-AD47-BC39-A0E93EABD6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48" t="25659" r="46394" b="22526"/>
          <a:stretch>
            <a:fillRect/>
          </a:stretch>
        </p:blipFill>
        <p:spPr>
          <a:xfrm>
            <a:off x="5735736" y="2136487"/>
            <a:ext cx="3375009" cy="3139052"/>
          </a:xfrm>
          <a:prstGeom prst="rect">
            <a:avLst/>
          </a:prstGeom>
        </p:spPr>
      </p:pic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913A8E97-7C9D-7C27-E7FD-99949787A72E}"/>
              </a:ext>
            </a:extLst>
          </p:cNvPr>
          <p:cNvCxnSpPr>
            <a:cxnSpLocks/>
          </p:cNvCxnSpPr>
          <p:nvPr/>
        </p:nvCxnSpPr>
        <p:spPr>
          <a:xfrm flipH="1">
            <a:off x="7650425" y="3837243"/>
            <a:ext cx="767512" cy="6362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EC804A5A-74A6-F58E-2BD7-32FAD2EBE7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0341" b="91150"/>
          <a:stretch>
            <a:fillRect/>
          </a:stretch>
        </p:blipFill>
        <p:spPr>
          <a:xfrm>
            <a:off x="5744321" y="1613844"/>
            <a:ext cx="3375009" cy="53619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2E85686D-102A-ECEE-3CCE-F810536407E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3759"/>
          <a:stretch>
            <a:fillRect/>
          </a:stretch>
        </p:blipFill>
        <p:spPr>
          <a:xfrm>
            <a:off x="9276810" y="2542915"/>
            <a:ext cx="2714224" cy="3966932"/>
          </a:xfrm>
          <a:prstGeom prst="rect">
            <a:avLst/>
          </a:prstGeom>
        </p:spPr>
      </p:pic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7E054D49-C4B4-C848-CC93-705E3B067571}"/>
              </a:ext>
            </a:extLst>
          </p:cNvPr>
          <p:cNvCxnSpPr/>
          <p:nvPr/>
        </p:nvCxnSpPr>
        <p:spPr>
          <a:xfrm>
            <a:off x="839244" y="5393920"/>
            <a:ext cx="1340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D464D9E8-C0DE-84DE-6238-267C80F1FDED}"/>
              </a:ext>
            </a:extLst>
          </p:cNvPr>
          <p:cNvCxnSpPr/>
          <p:nvPr/>
        </p:nvCxnSpPr>
        <p:spPr>
          <a:xfrm>
            <a:off x="9664865" y="5889311"/>
            <a:ext cx="1340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98CCD42A-7B6F-49A0-63A6-F61DEA62C046}"/>
              </a:ext>
            </a:extLst>
          </p:cNvPr>
          <p:cNvCxnSpPr/>
          <p:nvPr/>
        </p:nvCxnSpPr>
        <p:spPr>
          <a:xfrm>
            <a:off x="9631462" y="6166972"/>
            <a:ext cx="1340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9413A591-B361-B596-97D7-3E03E06CD54F}"/>
              </a:ext>
            </a:extLst>
          </p:cNvPr>
          <p:cNvCxnSpPr>
            <a:cxnSpLocks/>
          </p:cNvCxnSpPr>
          <p:nvPr/>
        </p:nvCxnSpPr>
        <p:spPr>
          <a:xfrm>
            <a:off x="6096000" y="4902922"/>
            <a:ext cx="2175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B3076337-1C5E-D3CC-1408-7FD88AF0B4EE}"/>
              </a:ext>
            </a:extLst>
          </p:cNvPr>
          <p:cNvCxnSpPr>
            <a:cxnSpLocks/>
          </p:cNvCxnSpPr>
          <p:nvPr/>
        </p:nvCxnSpPr>
        <p:spPr>
          <a:xfrm>
            <a:off x="1220675" y="4203734"/>
            <a:ext cx="1526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2223EBD-2544-824C-9FB0-B946B90CAF2D}"/>
              </a:ext>
            </a:extLst>
          </p:cNvPr>
          <p:cNvSpPr txBox="1"/>
          <p:nvPr/>
        </p:nvSpPr>
        <p:spPr>
          <a:xfrm>
            <a:off x="9524429" y="2046152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FD05D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ea"/>
                <a:sym typeface="+mn-ea"/>
              </a:rPr>
              <a:t>2 seats of Top Core Members</a:t>
            </a:r>
          </a:p>
        </p:txBody>
      </p:sp>
      <p:pic>
        <p:nvPicPr>
          <p:cNvPr id="53" name="图片 52" descr="Kubernetes Icon SVG Vector &amp; PNG Free Download | UXWing">
            <a:extLst>
              <a:ext uri="{FF2B5EF4-FFF2-40B4-BE49-F238E27FC236}">
                <a16:creationId xmlns:a16="http://schemas.microsoft.com/office/drawing/2014/main" id="{FCC599D8-3E38-623E-A5D7-591F060701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875" y="583924"/>
            <a:ext cx="971051" cy="964532"/>
          </a:xfrm>
          <a:prstGeom prst="rect">
            <a:avLst/>
          </a:prstGeom>
        </p:spPr>
      </p:pic>
      <p:pic>
        <p:nvPicPr>
          <p:cNvPr id="57" name="图片 56" descr="AI Cloud Solutions, GPU Server Hosting for LLM Models and AI ...">
            <a:extLst>
              <a:ext uri="{FF2B5EF4-FFF2-40B4-BE49-F238E27FC236}">
                <a16:creationId xmlns:a16="http://schemas.microsoft.com/office/drawing/2014/main" id="{A8F3F9DA-3CCA-25CC-D282-C5033B06B1D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1065" b="7100"/>
          <a:stretch>
            <a:fillRect/>
          </a:stretch>
        </p:blipFill>
        <p:spPr>
          <a:xfrm>
            <a:off x="5700147" y="588651"/>
            <a:ext cx="1450972" cy="955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7A9E3-44CD-D530-1AC1-7D3B2BEE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tx1"/>
                </a:solidFill>
                <a:sym typeface="黑体" panose="02010609060101010101" charset="-122"/>
              </a:rPr>
              <a:t>开源和上游，流淌在研发人员血液中</a:t>
            </a:r>
            <a:endParaRPr kumimoji="1" lang="zh-CN" altLang="en-US" sz="2400" dirty="0"/>
          </a:p>
        </p:txBody>
      </p:sp>
      <p:sp>
        <p:nvSpPr>
          <p:cNvPr id="4" name="Google Shape;140;p24">
            <a:extLst>
              <a:ext uri="{FF2B5EF4-FFF2-40B4-BE49-F238E27FC236}">
                <a16:creationId xmlns:a16="http://schemas.microsoft.com/office/drawing/2014/main" id="{5B310CE6-19B0-2562-163F-885BF786FF25}"/>
              </a:ext>
            </a:extLst>
          </p:cNvPr>
          <p:cNvSpPr txBox="1"/>
          <p:nvPr/>
        </p:nvSpPr>
        <p:spPr>
          <a:xfrm>
            <a:off x="821500" y="1024648"/>
            <a:ext cx="6684137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大多数的DaoCloud技术员工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，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同时承担双重身份：企业研发人员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+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社区治理角色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210DE6-C394-2097-939B-8414BF02D11A}"/>
              </a:ext>
            </a:extLst>
          </p:cNvPr>
          <p:cNvSpPr txBox="1"/>
          <p:nvPr/>
        </p:nvSpPr>
        <p:spPr>
          <a:xfrm>
            <a:off x="96520" y="6238334"/>
            <a:ext cx="4067048" cy="50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DaoCloud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深度参与到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CNCF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社区，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主要负责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Kuberentes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社区相关的领域。</a:t>
            </a:r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ED02A9FF-3A77-516A-DC41-F43326E61629}"/>
              </a:ext>
            </a:extLst>
          </p:cNvPr>
          <p:cNvSpPr/>
          <p:nvPr/>
        </p:nvSpPr>
        <p:spPr>
          <a:xfrm>
            <a:off x="608678" y="2125770"/>
            <a:ext cx="4560046" cy="3113589"/>
          </a:xfrm>
          <a:custGeom>
            <a:avLst/>
            <a:gdLst>
              <a:gd name="connsiteX0" fmla="*/ 440396 w 5254842"/>
              <a:gd name="connsiteY0" fmla="*/ 2591704 h 3113589"/>
              <a:gd name="connsiteX1" fmla="*/ 4814446 w 5254842"/>
              <a:gd name="connsiteY1" fmla="*/ 2591704 h 3113589"/>
              <a:gd name="connsiteX2" fmla="*/ 5254842 w 5254842"/>
              <a:gd name="connsiteY2" fmla="*/ 3113589 h 3113589"/>
              <a:gd name="connsiteX3" fmla="*/ 0 w 5254842"/>
              <a:gd name="connsiteY3" fmla="*/ 3113589 h 3113589"/>
              <a:gd name="connsiteX4" fmla="*/ 1093744 w 5254842"/>
              <a:gd name="connsiteY4" fmla="*/ 1817463 h 3113589"/>
              <a:gd name="connsiteX5" fmla="*/ 4161098 w 5254842"/>
              <a:gd name="connsiteY5" fmla="*/ 1817463 h 3113589"/>
              <a:gd name="connsiteX6" fmla="*/ 4699146 w 5254842"/>
              <a:gd name="connsiteY6" fmla="*/ 2455069 h 3113589"/>
              <a:gd name="connsiteX7" fmla="*/ 555696 w 5254842"/>
              <a:gd name="connsiteY7" fmla="*/ 2455069 h 3113589"/>
              <a:gd name="connsiteX8" fmla="*/ 1644091 w 5254842"/>
              <a:gd name="connsiteY8" fmla="*/ 1165282 h 3113589"/>
              <a:gd name="connsiteX9" fmla="*/ 3610751 w 5254842"/>
              <a:gd name="connsiteY9" fmla="*/ 1165282 h 3113589"/>
              <a:gd name="connsiteX10" fmla="*/ 4045798 w 5254842"/>
              <a:gd name="connsiteY10" fmla="*/ 1680828 h 3113589"/>
              <a:gd name="connsiteX11" fmla="*/ 1209044 w 5254842"/>
              <a:gd name="connsiteY11" fmla="*/ 1680828 h 3113589"/>
              <a:gd name="connsiteX12" fmla="*/ 2108349 w 5254842"/>
              <a:gd name="connsiteY12" fmla="*/ 615119 h 3113589"/>
              <a:gd name="connsiteX13" fmla="*/ 3146493 w 5254842"/>
              <a:gd name="connsiteY13" fmla="*/ 615119 h 3113589"/>
              <a:gd name="connsiteX14" fmla="*/ 3495451 w 5254842"/>
              <a:gd name="connsiteY14" fmla="*/ 1028647 h 3113589"/>
              <a:gd name="connsiteX15" fmla="*/ 1759391 w 5254842"/>
              <a:gd name="connsiteY15" fmla="*/ 1028647 h 3113589"/>
              <a:gd name="connsiteX16" fmla="*/ 2627421 w 5254842"/>
              <a:gd name="connsiteY16" fmla="*/ 0 h 3113589"/>
              <a:gd name="connsiteX17" fmla="*/ 3031193 w 5254842"/>
              <a:gd name="connsiteY17" fmla="*/ 478484 h 3113589"/>
              <a:gd name="connsiteX18" fmla="*/ 2223650 w 5254842"/>
              <a:gd name="connsiteY18" fmla="*/ 478484 h 311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254842" h="3113589">
                <a:moveTo>
                  <a:pt x="440396" y="2591704"/>
                </a:moveTo>
                <a:lnTo>
                  <a:pt x="4814446" y="2591704"/>
                </a:lnTo>
                <a:lnTo>
                  <a:pt x="5254842" y="3113589"/>
                </a:lnTo>
                <a:lnTo>
                  <a:pt x="0" y="3113589"/>
                </a:lnTo>
                <a:close/>
                <a:moveTo>
                  <a:pt x="1093744" y="1817463"/>
                </a:moveTo>
                <a:lnTo>
                  <a:pt x="4161098" y="1817463"/>
                </a:lnTo>
                <a:lnTo>
                  <a:pt x="4699146" y="2455069"/>
                </a:lnTo>
                <a:lnTo>
                  <a:pt x="555696" y="2455069"/>
                </a:lnTo>
                <a:close/>
                <a:moveTo>
                  <a:pt x="1644091" y="1165282"/>
                </a:moveTo>
                <a:lnTo>
                  <a:pt x="3610751" y="1165282"/>
                </a:lnTo>
                <a:lnTo>
                  <a:pt x="4045798" y="1680828"/>
                </a:lnTo>
                <a:lnTo>
                  <a:pt x="1209044" y="1680828"/>
                </a:lnTo>
                <a:close/>
                <a:moveTo>
                  <a:pt x="2108349" y="615119"/>
                </a:moveTo>
                <a:lnTo>
                  <a:pt x="3146493" y="615119"/>
                </a:lnTo>
                <a:lnTo>
                  <a:pt x="3495451" y="1028647"/>
                </a:lnTo>
                <a:lnTo>
                  <a:pt x="1759391" y="1028647"/>
                </a:lnTo>
                <a:close/>
                <a:moveTo>
                  <a:pt x="2627421" y="0"/>
                </a:moveTo>
                <a:lnTo>
                  <a:pt x="3031193" y="478484"/>
                </a:lnTo>
                <a:lnTo>
                  <a:pt x="2223650" y="47848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17857A-9C51-4565-2A5E-B581FD0BC217}"/>
              </a:ext>
            </a:extLst>
          </p:cNvPr>
          <p:cNvSpPr txBox="1"/>
          <p:nvPr/>
        </p:nvSpPr>
        <p:spPr>
          <a:xfrm>
            <a:off x="2762322" y="22293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0ECA1B8-3E41-510E-B1D8-4097D1157CFD}"/>
              </a:ext>
            </a:extLst>
          </p:cNvPr>
          <p:cNvSpPr txBox="1"/>
          <p:nvPr/>
        </p:nvSpPr>
        <p:spPr>
          <a:xfrm>
            <a:off x="2694335" y="279224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34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ADF693-0DA8-D1F0-D215-8B1CE921BA70}"/>
              </a:ext>
            </a:extLst>
          </p:cNvPr>
          <p:cNvSpPr txBox="1"/>
          <p:nvPr/>
        </p:nvSpPr>
        <p:spPr>
          <a:xfrm>
            <a:off x="2694335" y="3423258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40+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DC3B4D-A448-EBC3-CFBB-9371CA6FD08C}"/>
              </a:ext>
            </a:extLst>
          </p:cNvPr>
          <p:cNvSpPr txBox="1"/>
          <p:nvPr/>
        </p:nvSpPr>
        <p:spPr>
          <a:xfrm>
            <a:off x="2500441" y="408983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100+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9368E6-D2A5-C653-4CC2-3029E8326AA7}"/>
              </a:ext>
            </a:extLst>
          </p:cNvPr>
          <p:cNvSpPr txBox="1"/>
          <p:nvPr/>
        </p:nvSpPr>
        <p:spPr>
          <a:xfrm>
            <a:off x="2500440" y="481446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100+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F7EA65D-2CDD-0360-C25E-C45DFC11277E}"/>
              </a:ext>
            </a:extLst>
          </p:cNvPr>
          <p:cNvSpPr txBox="1"/>
          <p:nvPr/>
        </p:nvSpPr>
        <p:spPr>
          <a:xfrm>
            <a:off x="3392653" y="2205538"/>
            <a:ext cx="28430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Steering Committee/PMC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1768638-61EA-188D-E3CF-0ED96AFAFE45}"/>
              </a:ext>
            </a:extLst>
          </p:cNvPr>
          <p:cNvSpPr txBox="1"/>
          <p:nvPr/>
        </p:nvSpPr>
        <p:spPr>
          <a:xfrm>
            <a:off x="3837987" y="2769792"/>
            <a:ext cx="3038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Owner/Approver/Maintainer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FF0B80-EE49-85D1-98B4-E262E2B376E3}"/>
              </a:ext>
            </a:extLst>
          </p:cNvPr>
          <p:cNvSpPr txBox="1"/>
          <p:nvPr/>
        </p:nvSpPr>
        <p:spPr>
          <a:xfrm>
            <a:off x="4367379" y="3375428"/>
            <a:ext cx="1944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Reviewer+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45AF0C-F97F-5772-0796-9FA1EE804050}"/>
              </a:ext>
            </a:extLst>
          </p:cNvPr>
          <p:cNvSpPr txBox="1"/>
          <p:nvPr/>
        </p:nvSpPr>
        <p:spPr>
          <a:xfrm>
            <a:off x="4985303" y="4055582"/>
            <a:ext cx="2653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CNCF/ K8S Member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810D9B9-6800-62DB-7B63-67D282F54D1C}"/>
              </a:ext>
            </a:extLst>
          </p:cNvPr>
          <p:cNvSpPr txBox="1"/>
          <p:nvPr/>
        </p:nvSpPr>
        <p:spPr>
          <a:xfrm>
            <a:off x="5546196" y="4860633"/>
            <a:ext cx="3441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Certificated CKA &amp; CKAD &amp; CKS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47AF9FE-76F8-8235-A71A-4A812F004658}"/>
              </a:ext>
            </a:extLst>
          </p:cNvPr>
          <p:cNvSpPr txBox="1"/>
          <p:nvPr/>
        </p:nvSpPr>
        <p:spPr>
          <a:xfrm>
            <a:off x="7065722" y="1844248"/>
            <a:ext cx="408124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2023年，徐俊杰当选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Kuberentes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指导委员会委员，是唯一中国成员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2022年，刘齐均进入 Istio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技术委员会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年，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首席运营官张红兵进入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KubeEdge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技术委员会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。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663FBA0-D696-D871-A0F9-509EE27F8AC3}"/>
              </a:ext>
            </a:extLst>
          </p:cNvPr>
          <p:cNvSpPr/>
          <p:nvPr/>
        </p:nvSpPr>
        <p:spPr>
          <a:xfrm>
            <a:off x="5814037" y="2352079"/>
            <a:ext cx="90332" cy="903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5B723DA2-D9A1-FF97-3914-C5D9F63F4A60}"/>
              </a:ext>
            </a:extLst>
          </p:cNvPr>
          <p:cNvCxnSpPr>
            <a:cxnSpLocks/>
            <a:stCxn id="34" idx="6"/>
            <a:endCxn id="32" idx="1"/>
          </p:cNvCxnSpPr>
          <p:nvPr/>
        </p:nvCxnSpPr>
        <p:spPr>
          <a:xfrm flipV="1">
            <a:off x="5904369" y="2098164"/>
            <a:ext cx="1161353" cy="29908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79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002745" y="3589867"/>
            <a:ext cx="3889393" cy="276238"/>
          </a:xfrm>
          <a:prstGeom prst="rect">
            <a:avLst/>
          </a:prstGeom>
          <a:solidFill>
            <a:srgbClr val="999A9D">
              <a:alpha val="36863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WHY?     </a:t>
            </a:r>
            <a:r>
              <a:rPr lang="zh-CN" altLang="en-US" dirty="0"/>
              <a:t>开源软件：巨大的价值与潜力</a:t>
            </a:r>
          </a:p>
        </p:txBody>
      </p:sp>
      <p:pic>
        <p:nvPicPr>
          <p:cNvPr id="39" name="图片 38" descr="/private/var/folders/bk/kk2k5_p149z681tjwc7tk5sr0000gn/T/com.kingsoft.wpsoffice.mac/photoeditapp/20231213152107/temp.pngtemp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lum bright="10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l="14412"/>
          <a:stretch>
            <a:fillRect/>
          </a:stretch>
        </p:blipFill>
        <p:spPr>
          <a:xfrm>
            <a:off x="703580" y="1629410"/>
            <a:ext cx="3026410" cy="2860040"/>
          </a:xfrm>
          <a:prstGeom prst="rect">
            <a:avLst/>
          </a:prstGeom>
        </p:spPr>
      </p:pic>
      <p:cxnSp>
        <p:nvCxnSpPr>
          <p:cNvPr id="40" name="直接连接符 39"/>
          <p:cNvCxnSpPr/>
          <p:nvPr/>
        </p:nvCxnSpPr>
        <p:spPr>
          <a:xfrm>
            <a:off x="3806825" y="3866105"/>
            <a:ext cx="762000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2"/>
            </p:custDataLst>
          </p:nvPr>
        </p:nvCxnSpPr>
        <p:spPr>
          <a:xfrm>
            <a:off x="3806190" y="3062605"/>
            <a:ext cx="762000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3"/>
            </p:custDataLst>
          </p:nvPr>
        </p:nvCxnSpPr>
        <p:spPr>
          <a:xfrm>
            <a:off x="3806190" y="2112645"/>
            <a:ext cx="762000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4714240" y="2825115"/>
            <a:ext cx="1513840" cy="4171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自定义代码</a:t>
            </a:r>
          </a:p>
        </p:txBody>
      </p:sp>
      <p:sp>
        <p:nvSpPr>
          <p:cNvPr id="44" name="文本框 43"/>
          <p:cNvSpPr txBox="1"/>
          <p:nvPr>
            <p:custDataLst>
              <p:tags r:id="rId4"/>
            </p:custDataLst>
          </p:nvPr>
        </p:nvSpPr>
        <p:spPr>
          <a:xfrm>
            <a:off x="4720590" y="1875790"/>
            <a:ext cx="1668145" cy="4171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开源软件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Libs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5" name="文本框 44"/>
          <p:cNvSpPr txBox="1"/>
          <p:nvPr>
            <p:custDataLst>
              <p:tags r:id="rId5"/>
            </p:custDataLst>
          </p:nvPr>
        </p:nvSpPr>
        <p:spPr>
          <a:xfrm>
            <a:off x="4720590" y="3669255"/>
            <a:ext cx="1513840" cy="4171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开源基础设施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721225" y="4022315"/>
            <a:ext cx="124142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开源代码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 70%</a:t>
            </a: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4720590" y="3200400"/>
            <a:ext cx="1389380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自定义代码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 10%</a:t>
            </a:r>
          </a:p>
        </p:txBody>
      </p:sp>
      <p:sp>
        <p:nvSpPr>
          <p:cNvPr id="48" name="文本框 47"/>
          <p:cNvSpPr txBox="1"/>
          <p:nvPr>
            <p:custDataLst>
              <p:tags r:id="rId7"/>
            </p:custDataLst>
          </p:nvPr>
        </p:nvSpPr>
        <p:spPr>
          <a:xfrm>
            <a:off x="4720590" y="2247265"/>
            <a:ext cx="124142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开源代码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 20%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-96866" y="5469480"/>
            <a:ext cx="6440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开源代码通常占现代系统总代码库的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90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0D05D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rPr>
              <a:t>%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02745" y="5461053"/>
            <a:ext cx="497750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开源软件价值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1D05C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8.8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D05C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万亿美元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892138" y="5861163"/>
            <a:ext cx="86042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-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哈佛商学院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27079" y="1250082"/>
          <a:ext cx="4157446" cy="3032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27079" y="4246715"/>
            <a:ext cx="497750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Sources: Bloomberg, Harvard Business School, Investment Company Institute, World Gold Council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Note: Values for Apple, Microsoft, money-market funds and gold are as of Feb.23.  India GDP, German GDP and open-source software value estimate are for 2023. Global software sales are for 2020.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39939" y="1391579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$ 2.8 T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34268" y="1772189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3.1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67931" y="2130282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3.4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29560" y="2496423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3.7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07384" y="2865159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4.5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619486" y="3221131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6.0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85220" y="3589486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8.8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49452" y="3965828"/>
            <a:ext cx="903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13.5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23D5E-6DE0-3309-85A2-070A9A09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开源商业化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E1A09-3BE0-5B49-2316-A783DF6502CA}"/>
              </a:ext>
            </a:extLst>
          </p:cNvPr>
          <p:cNvSpPr txBox="1"/>
          <p:nvPr/>
        </p:nvSpPr>
        <p:spPr>
          <a:xfrm>
            <a:off x="596473" y="2918703"/>
            <a:ext cx="656942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</a:t>
            </a:r>
            <a:r>
              <a:rPr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理想：技术共享、全球协作、开放标准、人才培养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C7118-6618-AA2B-1FC2-3FE9D35991B4}"/>
              </a:ext>
            </a:extLst>
          </p:cNvPr>
          <p:cNvSpPr txBox="1"/>
          <p:nvPr/>
        </p:nvSpPr>
        <p:spPr>
          <a:xfrm>
            <a:off x="596473" y="3604503"/>
            <a:ext cx="685155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</a:rPr>
              <a:t>• 现实：开发者生态、行业标准、商业服务、企业平台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10EF-F1CE-7FCC-42B7-141A94681D2E}"/>
              </a:ext>
            </a:extLst>
          </p:cNvPr>
          <p:cNvSpPr txBox="1"/>
          <p:nvPr/>
        </p:nvSpPr>
        <p:spPr>
          <a:xfrm>
            <a:off x="596473" y="4290303"/>
            <a:ext cx="1014733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</a:t>
            </a:r>
            <a:r>
              <a:rPr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开源商业化：Kubernetes、Istio、vLLM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等构建生态，企业围绕开源创造价值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38F7E-FA8E-2326-27F8-7BB786066D20}"/>
              </a:ext>
            </a:extLst>
          </p:cNvPr>
          <p:cNvSpPr txBox="1"/>
          <p:nvPr/>
        </p:nvSpPr>
        <p:spPr>
          <a:xfrm>
            <a:off x="596473" y="4976103"/>
            <a:ext cx="628729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</a:rPr>
              <a:t>• 结论：开源不是免费的商业，而是开放的创新。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1261EE-D0FB-9420-A801-433FE16C520D}"/>
              </a:ext>
            </a:extLst>
          </p:cNvPr>
          <p:cNvSpPr txBox="1"/>
          <p:nvPr/>
        </p:nvSpPr>
        <p:spPr>
          <a:xfrm>
            <a:off x="1610426" y="6488668"/>
            <a:ext cx="10063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FFFF00"/>
                </a:solidFill>
              </a:rPr>
              <a:t>世界上很多优秀的软件公司，并不是靠卖软件赚钱，而是围绕开源生态创造价值。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BE569C-75CD-322A-B8E4-E059369EB700}"/>
              </a:ext>
            </a:extLst>
          </p:cNvPr>
          <p:cNvSpPr txBox="1"/>
          <p:nvPr/>
        </p:nvSpPr>
        <p:spPr>
          <a:xfrm>
            <a:off x="7585804" y="257663"/>
            <a:ext cx="68515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dirty="0">
                <a:solidFill>
                  <a:srgbClr val="FFFF00"/>
                </a:solidFill>
              </a:rPr>
              <a:t>【</a:t>
            </a:r>
            <a:r>
              <a:rPr lang="zh-CN" altLang="zh-CN" sz="1400" dirty="0">
                <a:solidFill>
                  <a:srgbClr val="FFFF00"/>
                </a:solidFill>
              </a:rPr>
              <a:t>基础软件</a:t>
            </a:r>
            <a:r>
              <a:rPr lang="en-US" altLang="zh-CN" sz="1400" dirty="0">
                <a:solidFill>
                  <a:srgbClr val="FFFF00"/>
                </a:solidFill>
              </a:rPr>
              <a:t>】</a:t>
            </a:r>
            <a:r>
              <a:rPr lang="zh-CN" altLang="zh-CN" sz="1400" dirty="0">
                <a:solidFill>
                  <a:srgbClr val="FFFF00"/>
                </a:solidFill>
              </a:rPr>
              <a:t>最大的竞争力不是闭门造车。</a:t>
            </a:r>
          </a:p>
          <a:p>
            <a:pPr>
              <a:buNone/>
            </a:pPr>
            <a:r>
              <a:rPr lang="zh-CN" altLang="en-US" sz="1400" dirty="0">
                <a:solidFill>
                  <a:srgbClr val="FFFF00"/>
                </a:solidFill>
              </a:rPr>
              <a:t> </a:t>
            </a:r>
            <a:r>
              <a:rPr lang="zh-CN" altLang="zh-CN" sz="1400" dirty="0">
                <a:solidFill>
                  <a:srgbClr val="FFFF00"/>
                </a:solidFill>
              </a:rPr>
              <a:t>而是：</a:t>
            </a:r>
          </a:p>
          <a:p>
            <a:pPr>
              <a:buNone/>
            </a:pPr>
            <a:r>
              <a:rPr lang="zh-CN" altLang="en-US" sz="1400" dirty="0">
                <a:solidFill>
                  <a:srgbClr val="FFFF00"/>
                </a:solidFill>
              </a:rPr>
              <a:t> </a:t>
            </a:r>
            <a:r>
              <a:rPr lang="zh-CN" altLang="zh-CN" sz="1400" dirty="0">
                <a:solidFill>
                  <a:srgbClr val="FFFF00"/>
                </a:solidFill>
              </a:rPr>
              <a:t>站在全球最优秀工程师的肩膀上。</a:t>
            </a:r>
            <a:endParaRPr lang="en-US" altLang="zh-CN" sz="1400" dirty="0">
              <a:solidFill>
                <a:srgbClr val="FFFF00"/>
              </a:solidFill>
            </a:endParaRPr>
          </a:p>
          <a:p>
            <a:pPr>
              <a:buNone/>
            </a:pPr>
            <a:endParaRPr lang="zh-CN" altLang="zh-CN" sz="1400" dirty="0">
              <a:solidFill>
                <a:srgbClr val="FFFF00"/>
              </a:solidFill>
            </a:endParaRPr>
          </a:p>
          <a:p>
            <a:pPr>
              <a:buNone/>
            </a:pPr>
            <a:r>
              <a:rPr lang="zh-CN" altLang="zh-CN" sz="1400" dirty="0">
                <a:solidFill>
                  <a:srgbClr val="FFFF00"/>
                </a:solidFill>
              </a:rPr>
              <a:t>开源是不是免费？</a:t>
            </a:r>
            <a:r>
              <a:rPr lang="zh-CN" altLang="en-US" sz="1400" dirty="0">
                <a:solidFill>
                  <a:srgbClr val="FFFF00"/>
                </a:solidFill>
              </a:rPr>
              <a:t> </a:t>
            </a:r>
            <a:r>
              <a:rPr lang="zh-CN" altLang="zh-CN" sz="1400" dirty="0">
                <a:solidFill>
                  <a:srgbClr val="FFFF00"/>
                </a:solidFill>
              </a:rPr>
              <a:t>其实不</a:t>
            </a:r>
            <a:r>
              <a:rPr lang="zh-CN" altLang="en-US" sz="1400" dirty="0">
                <a:solidFill>
                  <a:srgbClr val="FFFF00"/>
                </a:solidFill>
              </a:rPr>
              <a:t>完全</a:t>
            </a:r>
            <a:r>
              <a:rPr lang="zh-CN" altLang="zh-CN" sz="1400" dirty="0">
                <a:solidFill>
                  <a:srgbClr val="FFFF00"/>
                </a:solidFill>
              </a:rPr>
              <a:t>是。</a:t>
            </a:r>
            <a:endParaRPr lang="en-US" altLang="zh-CN" sz="1400" dirty="0">
              <a:solidFill>
                <a:srgbClr val="FFFF00"/>
              </a:solidFill>
            </a:endParaRPr>
          </a:p>
          <a:p>
            <a:pPr>
              <a:buNone/>
            </a:pPr>
            <a:endParaRPr lang="zh-CN" altLang="zh-CN" sz="1400" dirty="0">
              <a:solidFill>
                <a:srgbClr val="FFFF00"/>
              </a:solidFill>
            </a:endParaRPr>
          </a:p>
          <a:p>
            <a:pPr>
              <a:buNone/>
            </a:pPr>
            <a:r>
              <a:rPr lang="zh-CN" altLang="zh-CN" sz="1400" dirty="0">
                <a:solidFill>
                  <a:srgbClr val="FFFF00"/>
                </a:solidFill>
              </a:rPr>
              <a:t>开源真正开放的是：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FFFF00"/>
                </a:solidFill>
              </a:rPr>
              <a:t>技术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FFFF00"/>
                </a:solidFill>
              </a:rPr>
              <a:t>社区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FFFF00"/>
                </a:solidFill>
              </a:rPr>
              <a:t>思想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FFFF00"/>
                </a:solidFill>
              </a:rPr>
              <a:t>合作方式 </a:t>
            </a:r>
            <a:endParaRPr lang="en-US" altLang="zh-CN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91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FFFA-BBE2-96D8-CCF7-2E16CEC6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71E80-2DCC-54E0-A0EC-1FDD49E2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Monaco" charset="0"/>
                <a:ea typeface="冬青黑体简体中文" panose="020B0300000000000000" charset="-122"/>
                <a:cs typeface="+mj-ea"/>
              </a:rPr>
              <a:t>DaoCloud</a:t>
            </a:r>
            <a:r>
              <a:rPr kumimoji="1" lang="zh-CN" altLang="en-US" dirty="0">
                <a:latin typeface="Monaco" charset="0"/>
                <a:ea typeface="冬青黑体简体中文" panose="020B0300000000000000" charset="-122"/>
                <a:cs typeface="+mj-ea"/>
              </a:rPr>
              <a:t>产品</a:t>
            </a:r>
            <a:endParaRPr kumimoji="1" dirty="0">
              <a:latin typeface="Monaco" charset="0"/>
              <a:ea typeface="冬青黑体简体中文" panose="020B0300000000000000" charset="-122"/>
              <a:cs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983662-2B0E-9976-55A3-E513AD594B3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E4CF6CA-CDB5-028C-95DA-9410816A2E4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3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rightnessContrast bright="24000" contrast="10000"/>
                    </a14:imgEffect>
                    <a14:imgEffect>
                      <a14:saturation sat="12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421505" y="1132840"/>
            <a:ext cx="7515225" cy="58039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CA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/>
              </a:rPr>
              <a:t>DaoCloud 承“算力”启“智能”，开源驱动 AI 生态创新</a:t>
            </a:r>
          </a:p>
        </p:txBody>
      </p:sp>
      <p:sp>
        <p:nvSpPr>
          <p:cNvPr id="98" name="圆角矩形 97"/>
          <p:cNvSpPr/>
          <p:nvPr>
            <p:custDataLst>
              <p:tags r:id="rId2"/>
            </p:custDataLst>
          </p:nvPr>
        </p:nvSpPr>
        <p:spPr>
          <a:xfrm>
            <a:off x="283528" y="1335976"/>
            <a:ext cx="1989593" cy="733052"/>
          </a:xfrm>
          <a:prstGeom prst="roundRect">
            <a:avLst>
              <a:gd name="adj" fmla="val 6634"/>
            </a:avLst>
          </a:prstGeom>
          <a:solidFill>
            <a:sysClr val="window" lastClr="FFFFFF">
              <a:alpha val="10000"/>
            </a:sysClr>
          </a:solidFill>
          <a:ln w="12700" cap="flat" cmpd="sng" algn="ctr">
            <a:solidFill>
              <a:sysClr val="window" lastClr="FFFFFF">
                <a:alpha val="30207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苹方-简" panose="020B0400000000000000" charset="-122"/>
              <a:ea typeface="苹方-简" panose="020B0400000000000000" charset="-122"/>
              <a:cs typeface="+mn-cs"/>
            </a:endParaRPr>
          </a:p>
        </p:txBody>
      </p:sp>
      <p:sp>
        <p:nvSpPr>
          <p:cNvPr id="99" name="圆角矩形 98"/>
          <p:cNvSpPr/>
          <p:nvPr>
            <p:custDataLst>
              <p:tags r:id="rId3"/>
            </p:custDataLst>
          </p:nvPr>
        </p:nvSpPr>
        <p:spPr>
          <a:xfrm>
            <a:off x="2368433" y="1335976"/>
            <a:ext cx="1978174" cy="733052"/>
          </a:xfrm>
          <a:prstGeom prst="roundRect">
            <a:avLst>
              <a:gd name="adj" fmla="val 6634"/>
            </a:avLst>
          </a:prstGeom>
          <a:solidFill>
            <a:sysClr val="window" lastClr="FFFFFF">
              <a:alpha val="10000"/>
            </a:sysClr>
          </a:solidFill>
          <a:ln w="12700" cap="flat" cmpd="sng" algn="ctr">
            <a:solidFill>
              <a:sysClr val="window" lastClr="FFFFFF">
                <a:alpha val="30207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苹方-简" panose="020B0400000000000000" charset="-122"/>
              <a:ea typeface="苹方-简" panose="020B0400000000000000" charset="-122"/>
              <a:cs typeface="+mn-cs"/>
            </a:endParaRPr>
          </a:p>
        </p:txBody>
      </p:sp>
      <p:sp>
        <p:nvSpPr>
          <p:cNvPr id="100" name="文本框 99"/>
          <p:cNvSpPr txBox="1"/>
          <p:nvPr>
            <p:custDataLst>
              <p:tags r:id="rId4"/>
            </p:custDataLst>
          </p:nvPr>
        </p:nvSpPr>
        <p:spPr>
          <a:xfrm>
            <a:off x="242693" y="994735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苹方-简" panose="020B0400000000000000" charset="-122"/>
              </a:rPr>
              <a:t>推理引擎贡献者，让模型推理更有效</a:t>
            </a:r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rightnessContrast bright="16000"/>
                    </a14:imgEffect>
                    <a14:imgEffect>
                      <a14:saturation sat="20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2693" y="1582076"/>
            <a:ext cx="760110" cy="217322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6"/>
            </p:custDataLst>
          </p:nvPr>
        </p:nvSpPr>
        <p:spPr>
          <a:xfrm>
            <a:off x="904394" y="1400570"/>
            <a:ext cx="1218076" cy="526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rPr>
              <a:t>DaoCloud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A00000000000000" pitchFamily="34" charset="-128"/>
              <a:ea typeface="Noto Sans SC" panose="020B0A00000000000000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rPr>
              <a:t>贡献率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rPr>
              <a:t>全球前十</a:t>
            </a:r>
          </a:p>
        </p:txBody>
      </p:sp>
      <p:pic>
        <p:nvPicPr>
          <p:cNvPr id="103" name="图片 10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2469130" y="1597109"/>
            <a:ext cx="553592" cy="168858"/>
          </a:xfrm>
          <a:prstGeom prst="rect">
            <a:avLst/>
          </a:prstGeom>
        </p:spPr>
      </p:pic>
      <p:sp>
        <p:nvSpPr>
          <p:cNvPr id="104" name="文本框 103"/>
          <p:cNvSpPr txBox="1"/>
          <p:nvPr>
            <p:custDataLst>
              <p:tags r:id="rId8"/>
            </p:custDataLst>
          </p:nvPr>
        </p:nvSpPr>
        <p:spPr>
          <a:xfrm>
            <a:off x="3034608" y="1410048"/>
            <a:ext cx="1219686" cy="526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rPr>
              <a:t>DaoCloud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A00000000000000" pitchFamily="34" charset="-128"/>
              <a:ea typeface="Noto Sans SC" panose="020B0A00000000000000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rPr>
              <a:t>贡献率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rPr>
              <a:t>全球前十</a:t>
            </a:r>
          </a:p>
        </p:txBody>
      </p:sp>
      <p:sp>
        <p:nvSpPr>
          <p:cNvPr id="105" name="文本框 104"/>
          <p:cNvSpPr txBox="1"/>
          <p:nvPr>
            <p:custDataLst>
              <p:tags r:id="rId9"/>
            </p:custDataLst>
          </p:nvPr>
        </p:nvSpPr>
        <p:spPr>
          <a:xfrm>
            <a:off x="242693" y="2366458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ysClr val="window" lastClr="FFFFFF"/>
                </a:solidFill>
                <a:latin typeface="微软雅黑" charset="-122"/>
                <a:ea typeface="微软雅黑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苹方-简" panose="020B0400000000000000" charset="-122"/>
              </a:rPr>
              <a:t>硬核技术掌控者，让资源利用更大化</a:t>
            </a:r>
          </a:p>
        </p:txBody>
      </p:sp>
      <p:grpSp>
        <p:nvGrpSpPr>
          <p:cNvPr id="122" name="组合 121"/>
          <p:cNvGrpSpPr/>
          <p:nvPr/>
        </p:nvGrpSpPr>
        <p:grpSpPr>
          <a:xfrm>
            <a:off x="282460" y="2723400"/>
            <a:ext cx="1992942" cy="833861"/>
            <a:chOff x="381316" y="2675291"/>
            <a:chExt cx="1992942" cy="833861"/>
          </a:xfrm>
        </p:grpSpPr>
        <p:sp>
          <p:nvSpPr>
            <p:cNvPr id="106" name="圆角矩形 105"/>
            <p:cNvSpPr/>
            <p:nvPr>
              <p:custDataLst>
                <p:tags r:id="rId44"/>
              </p:custDataLst>
            </p:nvPr>
          </p:nvSpPr>
          <p:spPr>
            <a:xfrm>
              <a:off x="382383" y="2675291"/>
              <a:ext cx="1989594" cy="833861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rgbClr val="4EF75B">
                  <a:alpha val="30207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07" name="文本框 106"/>
            <p:cNvSpPr txBox="1"/>
            <p:nvPr>
              <p:custDataLst>
                <p:tags r:id="rId45"/>
              </p:custDataLst>
            </p:nvPr>
          </p:nvSpPr>
          <p:spPr>
            <a:xfrm>
              <a:off x="870922" y="3006272"/>
              <a:ext cx="1503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Kubernetes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跨节点推理调度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pic>
          <p:nvPicPr>
            <p:cNvPr id="118" name="图片 132" descr="lws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532570" y="2839809"/>
              <a:ext cx="329614" cy="320290"/>
            </a:xfrm>
            <a:prstGeom prst="rect">
              <a:avLst/>
            </a:prstGeom>
          </p:spPr>
        </p:pic>
        <p:sp>
          <p:nvSpPr>
            <p:cNvPr id="119" name="文本框 118"/>
            <p:cNvSpPr txBox="1"/>
            <p:nvPr>
              <p:custDataLst>
                <p:tags r:id="rId47"/>
              </p:custDataLst>
            </p:nvPr>
          </p:nvSpPr>
          <p:spPr>
            <a:xfrm>
              <a:off x="381316" y="3171669"/>
              <a:ext cx="6219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 Bold" panose="020B0604020202090204" charset="0"/>
                </a:rPr>
                <a:t>LWS</a:t>
              </a:r>
            </a:p>
          </p:txBody>
        </p:sp>
        <p:sp>
          <p:nvSpPr>
            <p:cNvPr id="120" name="椭圆 119"/>
            <p:cNvSpPr/>
            <p:nvPr>
              <p:custDataLst>
                <p:tags r:id="rId48"/>
              </p:custDataLst>
            </p:nvPr>
          </p:nvSpPr>
          <p:spPr>
            <a:xfrm>
              <a:off x="960433" y="2871584"/>
              <a:ext cx="89635" cy="89635"/>
            </a:xfrm>
            <a:prstGeom prst="ellipse">
              <a:avLst/>
            </a:prstGeom>
            <a:solidFill>
              <a:srgbClr val="4EF7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21" name="文本框 120"/>
            <p:cNvSpPr txBox="1"/>
            <p:nvPr>
              <p:custDataLst>
                <p:tags r:id="rId49"/>
              </p:custDataLst>
            </p:nvPr>
          </p:nvSpPr>
          <p:spPr>
            <a:xfrm>
              <a:off x="1021932" y="2813183"/>
              <a:ext cx="7069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核心贡献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2360053" y="2723400"/>
            <a:ext cx="2034388" cy="833861"/>
            <a:chOff x="382383" y="2675291"/>
            <a:chExt cx="2034388" cy="833861"/>
          </a:xfrm>
        </p:grpSpPr>
        <p:sp>
          <p:nvSpPr>
            <p:cNvPr id="124" name="圆角矩形 123"/>
            <p:cNvSpPr/>
            <p:nvPr>
              <p:custDataLst>
                <p:tags r:id="rId39"/>
              </p:custDataLst>
            </p:nvPr>
          </p:nvSpPr>
          <p:spPr>
            <a:xfrm>
              <a:off x="382383" y="2675291"/>
              <a:ext cx="1986554" cy="833861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rgbClr val="4EF75B">
                  <a:alpha val="30207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40"/>
              </p:custDataLst>
            </p:nvPr>
          </p:nvSpPr>
          <p:spPr>
            <a:xfrm>
              <a:off x="913435" y="3006272"/>
              <a:ext cx="1503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Kubernetes 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之上的 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  <a:sym typeface="苹方-简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AI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 业务队列管理系统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127" name="文本框 126"/>
            <p:cNvSpPr txBox="1"/>
            <p:nvPr>
              <p:custDataLst>
                <p:tags r:id="rId41"/>
              </p:custDataLst>
            </p:nvPr>
          </p:nvSpPr>
          <p:spPr>
            <a:xfrm>
              <a:off x="428882" y="3163670"/>
              <a:ext cx="53238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 Bold" panose="020B0604020202090204" charset="0"/>
                </a:rPr>
                <a:t>Kueue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 Bold" panose="020B0604020202090204" charset="0"/>
              </a:endParaRPr>
            </a:p>
          </p:txBody>
        </p:sp>
        <p:sp>
          <p:nvSpPr>
            <p:cNvPr id="128" name="椭圆 127"/>
            <p:cNvSpPr/>
            <p:nvPr>
              <p:custDataLst>
                <p:tags r:id="rId42"/>
              </p:custDataLst>
            </p:nvPr>
          </p:nvSpPr>
          <p:spPr>
            <a:xfrm>
              <a:off x="1002946" y="2871584"/>
              <a:ext cx="89635" cy="89635"/>
            </a:xfrm>
            <a:prstGeom prst="ellipse">
              <a:avLst/>
            </a:prstGeom>
            <a:solidFill>
              <a:srgbClr val="4EF7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29" name="文本框 128"/>
            <p:cNvSpPr txBox="1"/>
            <p:nvPr>
              <p:custDataLst>
                <p:tags r:id="rId43"/>
              </p:custDataLst>
            </p:nvPr>
          </p:nvSpPr>
          <p:spPr>
            <a:xfrm>
              <a:off x="1064445" y="2813183"/>
              <a:ext cx="7069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核心贡献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283527" y="3646850"/>
            <a:ext cx="1989594" cy="833861"/>
            <a:chOff x="382383" y="2675291"/>
            <a:chExt cx="1989594" cy="833861"/>
          </a:xfrm>
        </p:grpSpPr>
        <p:sp>
          <p:nvSpPr>
            <p:cNvPr id="131" name="圆角矩形 130"/>
            <p:cNvSpPr/>
            <p:nvPr>
              <p:custDataLst>
                <p:tags r:id="rId35"/>
              </p:custDataLst>
            </p:nvPr>
          </p:nvSpPr>
          <p:spPr>
            <a:xfrm>
              <a:off x="382383" y="2675291"/>
              <a:ext cx="1989594" cy="833861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rgbClr val="4EF75B">
                  <a:alpha val="30207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32" name="文本框 131"/>
            <p:cNvSpPr txBox="1"/>
            <p:nvPr>
              <p:custDataLst>
                <p:tags r:id="rId36"/>
              </p:custDataLst>
            </p:nvPr>
          </p:nvSpPr>
          <p:spPr>
            <a:xfrm>
              <a:off x="889220" y="2982506"/>
              <a:ext cx="1407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适用于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 AI 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场景的云原生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批量计算引擎</a:t>
              </a:r>
            </a:p>
          </p:txBody>
        </p:sp>
        <p:sp>
          <p:nvSpPr>
            <p:cNvPr id="135" name="椭圆 134"/>
            <p:cNvSpPr/>
            <p:nvPr>
              <p:custDataLst>
                <p:tags r:id="rId37"/>
              </p:custDataLst>
            </p:nvPr>
          </p:nvSpPr>
          <p:spPr>
            <a:xfrm>
              <a:off x="978731" y="2847818"/>
              <a:ext cx="89635" cy="89635"/>
            </a:xfrm>
            <a:prstGeom prst="ellipse">
              <a:avLst/>
            </a:prstGeom>
            <a:solidFill>
              <a:srgbClr val="4EF7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36" name="文本框 135"/>
            <p:cNvSpPr txBox="1"/>
            <p:nvPr>
              <p:custDataLst>
                <p:tags r:id="rId38"/>
              </p:custDataLst>
            </p:nvPr>
          </p:nvSpPr>
          <p:spPr>
            <a:xfrm>
              <a:off x="1040230" y="2789417"/>
              <a:ext cx="7069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核心贡献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2360053" y="3646850"/>
            <a:ext cx="2055143" cy="833861"/>
            <a:chOff x="382383" y="2675291"/>
            <a:chExt cx="2055143" cy="833861"/>
          </a:xfrm>
        </p:grpSpPr>
        <p:sp>
          <p:nvSpPr>
            <p:cNvPr id="138" name="圆角矩形 137"/>
            <p:cNvSpPr/>
            <p:nvPr>
              <p:custDataLst>
                <p:tags r:id="rId31"/>
              </p:custDataLst>
            </p:nvPr>
          </p:nvSpPr>
          <p:spPr>
            <a:xfrm>
              <a:off x="382383" y="2675291"/>
              <a:ext cx="1986554" cy="833861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rgbClr val="4EF75B">
                  <a:alpha val="30207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32"/>
              </p:custDataLst>
            </p:nvPr>
          </p:nvSpPr>
          <p:spPr>
            <a:xfrm>
              <a:off x="934190" y="2999534"/>
              <a:ext cx="1503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异构算力设备管理和资源共享分配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142" name="椭圆 141"/>
            <p:cNvSpPr/>
            <p:nvPr>
              <p:custDataLst>
                <p:tags r:id="rId33"/>
              </p:custDataLst>
            </p:nvPr>
          </p:nvSpPr>
          <p:spPr>
            <a:xfrm>
              <a:off x="1023701" y="2864846"/>
              <a:ext cx="89635" cy="89635"/>
            </a:xfrm>
            <a:prstGeom prst="ellipse">
              <a:avLst/>
            </a:prstGeom>
            <a:solidFill>
              <a:srgbClr val="4EF7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43" name="文本框 142"/>
            <p:cNvSpPr txBox="1"/>
            <p:nvPr>
              <p:custDataLst>
                <p:tags r:id="rId34"/>
              </p:custDataLst>
            </p:nvPr>
          </p:nvSpPr>
          <p:spPr>
            <a:xfrm>
              <a:off x="1074642" y="2794532"/>
              <a:ext cx="7069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联合开源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EF75B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</p:grpSp>
      <p:pic>
        <p:nvPicPr>
          <p:cNvPr id="145" name="图片 14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8">
            <a:lum bright="100000"/>
          </a:blip>
          <a:srcRect t="69351"/>
          <a:stretch>
            <a:fillRect/>
          </a:stretch>
        </p:blipFill>
        <p:spPr>
          <a:xfrm>
            <a:off x="420455" y="4108958"/>
            <a:ext cx="338686" cy="8104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9"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b="31230"/>
          <a:stretch>
            <a:fillRect/>
          </a:stretch>
        </p:blipFill>
        <p:spPr>
          <a:xfrm>
            <a:off x="421046" y="3925216"/>
            <a:ext cx="338686" cy="181849"/>
          </a:xfrm>
          <a:prstGeom prst="rect">
            <a:avLst/>
          </a:prstGeom>
        </p:spPr>
      </p:pic>
      <p:pic>
        <p:nvPicPr>
          <p:cNvPr id="147" name="Google Shape;62;p14"/>
          <p:cNvPicPr preferRelativeResize="0"/>
          <p:nvPr>
            <p:custDataLst>
              <p:tags r:id="rId12"/>
            </p:custDataLst>
          </p:nvPr>
        </p:nvPicPr>
        <p:blipFill>
          <a:blip r:embed="rId61"/>
          <a:stretch>
            <a:fillRect/>
          </a:stretch>
        </p:blipFill>
        <p:spPr>
          <a:xfrm>
            <a:off x="2518901" y="2883181"/>
            <a:ext cx="329460" cy="329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组合 147"/>
          <p:cNvGrpSpPr/>
          <p:nvPr/>
        </p:nvGrpSpPr>
        <p:grpSpPr>
          <a:xfrm>
            <a:off x="2526193" y="3753616"/>
            <a:ext cx="363855" cy="591185"/>
            <a:chOff x="17283" y="5099"/>
            <a:chExt cx="573" cy="931"/>
          </a:xfrm>
        </p:grpSpPr>
        <p:pic>
          <p:nvPicPr>
            <p:cNvPr id="149" name="图片 148" descr="hami-horizontal-colordark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62">
              <a:extLst>
                <a:ext uri="{BEBA8EAE-BF5A-486C-A8C5-ECC9F3942E4B}">
                  <a14:imgProps xmlns:a14="http://schemas.microsoft.com/office/drawing/2010/main">
                    <a14:imgLayer r:embed="rId6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l="7456" r="62343"/>
            <a:stretch>
              <a:fillRect/>
            </a:stretch>
          </p:blipFill>
          <p:spPr>
            <a:xfrm>
              <a:off x="17286" y="5099"/>
              <a:ext cx="570" cy="644"/>
            </a:xfrm>
            <a:prstGeom prst="rect">
              <a:avLst/>
            </a:prstGeom>
          </p:spPr>
        </p:pic>
        <p:pic>
          <p:nvPicPr>
            <p:cNvPr id="150" name="图片 149" descr="hami-horizontal-colordark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62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l="36466" r="9837"/>
            <a:stretch>
              <a:fillRect/>
            </a:stretch>
          </p:blipFill>
          <p:spPr>
            <a:xfrm>
              <a:off x="17283" y="5686"/>
              <a:ext cx="541" cy="344"/>
            </a:xfrm>
            <a:prstGeom prst="rect">
              <a:avLst/>
            </a:prstGeom>
          </p:spPr>
        </p:pic>
      </p:grpSp>
      <p:sp>
        <p:nvSpPr>
          <p:cNvPr id="151" name="文本框 150"/>
          <p:cNvSpPr txBox="1"/>
          <p:nvPr>
            <p:custDataLst>
              <p:tags r:id="rId13"/>
            </p:custDataLst>
          </p:nvPr>
        </p:nvSpPr>
        <p:spPr>
          <a:xfrm>
            <a:off x="242693" y="4675522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ysClr val="window" lastClr="FFFFFF"/>
                </a:solidFill>
                <a:latin typeface="微软雅黑" charset="-122"/>
                <a:ea typeface="微软雅黑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苹方-简" panose="020B0400000000000000" charset="-122"/>
              </a:rPr>
              <a:t>技术标准制定者，让 </a:t>
            </a:r>
            <a:r>
              <a:rPr kumimoji="0" lang="en-GB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苹方-简" panose="020B0400000000000000" charset="-122"/>
              </a:rPr>
              <a:t>AI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苹方-简" panose="020B0400000000000000" charset="-122"/>
              </a:rPr>
              <a:t>基础设施更稳</a:t>
            </a:r>
          </a:p>
        </p:txBody>
      </p:sp>
      <p:grpSp>
        <p:nvGrpSpPr>
          <p:cNvPr id="152" name="组合 151"/>
          <p:cNvGrpSpPr/>
          <p:nvPr/>
        </p:nvGrpSpPr>
        <p:grpSpPr>
          <a:xfrm>
            <a:off x="283527" y="5036961"/>
            <a:ext cx="1997457" cy="753404"/>
            <a:chOff x="382383" y="2716296"/>
            <a:chExt cx="1997457" cy="753404"/>
          </a:xfrm>
        </p:grpSpPr>
        <p:sp>
          <p:nvSpPr>
            <p:cNvPr id="153" name="圆角矩形 152"/>
            <p:cNvSpPr/>
            <p:nvPr>
              <p:custDataLst>
                <p:tags r:id="rId27"/>
              </p:custDataLst>
            </p:nvPr>
          </p:nvSpPr>
          <p:spPr>
            <a:xfrm>
              <a:off x="382383" y="2716296"/>
              <a:ext cx="1989594" cy="753404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ysClr val="window" lastClr="FFFFFF">
                  <a:alpha val="3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54" name="文本框 153"/>
            <p:cNvSpPr txBox="1"/>
            <p:nvPr>
              <p:custDataLst>
                <p:tags r:id="rId28"/>
              </p:custDataLst>
            </p:nvPr>
          </p:nvSpPr>
          <p:spPr>
            <a:xfrm>
              <a:off x="876504" y="2901842"/>
              <a:ext cx="1503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Kubernetes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 贡献率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全球第三、亚洲第一</a:t>
              </a:r>
            </a:p>
          </p:txBody>
        </p:sp>
      </p:grpSp>
      <p:pic>
        <p:nvPicPr>
          <p:cNvPr id="166" name="图形 16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10033" y="5222507"/>
            <a:ext cx="367645" cy="357645"/>
          </a:xfrm>
          <a:prstGeom prst="rect">
            <a:avLst/>
          </a:prstGeom>
        </p:spPr>
      </p:pic>
      <p:grpSp>
        <p:nvGrpSpPr>
          <p:cNvPr id="167" name="组合 166"/>
          <p:cNvGrpSpPr/>
          <p:nvPr/>
        </p:nvGrpSpPr>
        <p:grpSpPr>
          <a:xfrm>
            <a:off x="2358072" y="5024786"/>
            <a:ext cx="2008999" cy="765579"/>
            <a:chOff x="382383" y="2709836"/>
            <a:chExt cx="2008999" cy="765579"/>
          </a:xfrm>
        </p:grpSpPr>
        <p:sp>
          <p:nvSpPr>
            <p:cNvPr id="168" name="圆角矩形 167"/>
            <p:cNvSpPr/>
            <p:nvPr>
              <p:custDataLst>
                <p:tags r:id="rId25"/>
              </p:custDataLst>
            </p:nvPr>
          </p:nvSpPr>
          <p:spPr>
            <a:xfrm>
              <a:off x="382383" y="2709836"/>
              <a:ext cx="1989594" cy="765579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ysClr val="window" lastClr="FFFFFF">
                  <a:alpha val="3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69" name="文本框 168"/>
            <p:cNvSpPr txBox="1"/>
            <p:nvPr>
              <p:custDataLst>
                <p:tags r:id="rId26"/>
              </p:custDataLst>
            </p:nvPr>
          </p:nvSpPr>
          <p:spPr>
            <a:xfrm>
              <a:off x="888046" y="2893742"/>
              <a:ext cx="150333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EF75B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亚太唯一 </a:t>
              </a:r>
              <a:r>
                <a:rPr kumimoji="0" lang="en-GB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Kubernetes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 技术指导委员会成员</a:t>
              </a:r>
            </a:p>
          </p:txBody>
        </p:sp>
      </p:grpSp>
      <p:pic>
        <p:nvPicPr>
          <p:cNvPr id="170" name="图形 16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500640" y="5220121"/>
            <a:ext cx="367645" cy="357645"/>
          </a:xfrm>
          <a:prstGeom prst="rect">
            <a:avLst/>
          </a:prstGeom>
        </p:spPr>
      </p:pic>
      <p:grpSp>
        <p:nvGrpSpPr>
          <p:cNvPr id="171" name="组合 170"/>
          <p:cNvGrpSpPr/>
          <p:nvPr/>
        </p:nvGrpSpPr>
        <p:grpSpPr>
          <a:xfrm>
            <a:off x="283527" y="5871533"/>
            <a:ext cx="1989594" cy="753404"/>
            <a:chOff x="382383" y="2716296"/>
            <a:chExt cx="1989594" cy="753404"/>
          </a:xfrm>
        </p:grpSpPr>
        <p:sp>
          <p:nvSpPr>
            <p:cNvPr id="172" name="圆角矩形 171"/>
            <p:cNvSpPr/>
            <p:nvPr>
              <p:custDataLst>
                <p:tags r:id="rId23"/>
              </p:custDataLst>
            </p:nvPr>
          </p:nvSpPr>
          <p:spPr>
            <a:xfrm>
              <a:off x="382383" y="2716296"/>
              <a:ext cx="1989594" cy="753404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ysClr val="window" lastClr="FFFFFF">
                  <a:alpha val="3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73" name="文本框 172"/>
            <p:cNvSpPr txBox="1"/>
            <p:nvPr>
              <p:custDataLst>
                <p:tags r:id="rId24"/>
              </p:custDataLst>
            </p:nvPr>
          </p:nvSpPr>
          <p:spPr>
            <a:xfrm>
              <a:off x="876504" y="2901842"/>
              <a:ext cx="137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Kubernetes 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安全响应委员会成员</a:t>
              </a:r>
            </a:p>
          </p:txBody>
        </p:sp>
      </p:grpSp>
      <p:pic>
        <p:nvPicPr>
          <p:cNvPr id="174" name="图形 17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10033" y="6057079"/>
            <a:ext cx="367645" cy="357645"/>
          </a:xfrm>
          <a:prstGeom prst="rect">
            <a:avLst/>
          </a:prstGeom>
        </p:spPr>
      </p:pic>
      <p:grpSp>
        <p:nvGrpSpPr>
          <p:cNvPr id="175" name="组合 174"/>
          <p:cNvGrpSpPr/>
          <p:nvPr/>
        </p:nvGrpSpPr>
        <p:grpSpPr>
          <a:xfrm>
            <a:off x="2351722" y="5878408"/>
            <a:ext cx="1989594" cy="765579"/>
            <a:chOff x="382383" y="2709836"/>
            <a:chExt cx="1989594" cy="765579"/>
          </a:xfrm>
        </p:grpSpPr>
        <p:sp>
          <p:nvSpPr>
            <p:cNvPr id="176" name="圆角矩形 175"/>
            <p:cNvSpPr/>
            <p:nvPr>
              <p:custDataLst>
                <p:tags r:id="rId21"/>
              </p:custDataLst>
            </p:nvPr>
          </p:nvSpPr>
          <p:spPr>
            <a:xfrm>
              <a:off x="382383" y="2709836"/>
              <a:ext cx="1989594" cy="765579"/>
            </a:xfrm>
            <a:prstGeom prst="roundRect">
              <a:avLst>
                <a:gd name="adj" fmla="val 6634"/>
              </a:avLst>
            </a:prstGeom>
            <a:solidFill>
              <a:sysClr val="window" lastClr="FFFFFF">
                <a:alpha val="10000"/>
              </a:sysClr>
            </a:solidFill>
            <a:ln w="12700" cap="flat" cmpd="sng" algn="ctr">
              <a:solidFill>
                <a:sysClr val="window" lastClr="FFFFFF">
                  <a:alpha val="3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苹方-简" panose="020B0400000000000000" charset="-122"/>
                <a:ea typeface="苹方-简" panose="020B0400000000000000" charset="-122"/>
                <a:cs typeface="+mn-cs"/>
              </a:endParaRPr>
            </a:p>
          </p:txBody>
        </p:sp>
        <p:sp>
          <p:nvSpPr>
            <p:cNvPr id="177" name="文本框 176"/>
            <p:cNvSpPr txBox="1"/>
            <p:nvPr>
              <p:custDataLst>
                <p:tags r:id="rId22"/>
              </p:custDataLst>
            </p:nvPr>
          </p:nvSpPr>
          <p:spPr>
            <a:xfrm>
              <a:off x="888046" y="2893742"/>
              <a:ext cx="1323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ysClr val="window" lastClr="FFFFFF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苹方-简" panose="020B0400000000000000" charset="-122"/>
                </a:rPr>
                <a:t>算力集群模拟测试的事实标准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  <a:sym typeface="苹方-简" panose="020B0400000000000000" charset="-122"/>
              </a:endParaRPr>
            </a:p>
          </p:txBody>
        </p:sp>
      </p:grpSp>
      <p:grpSp>
        <p:nvGrpSpPr>
          <p:cNvPr id="178" name="组合 177"/>
          <p:cNvGrpSpPr/>
          <p:nvPr/>
        </p:nvGrpSpPr>
        <p:grpSpPr>
          <a:xfrm>
            <a:off x="2354809" y="6007472"/>
            <a:ext cx="687741" cy="508644"/>
            <a:chOff x="1200" y="2411"/>
            <a:chExt cx="2083" cy="1541"/>
          </a:xfrm>
        </p:grpSpPr>
        <p:sp>
          <p:nvSpPr>
            <p:cNvPr id="179" name="Bullet1"/>
            <p:cNvSpPr txBox="1"/>
            <p:nvPr>
              <p:custDataLst>
                <p:tags r:id="rId19"/>
              </p:custDataLst>
            </p:nvPr>
          </p:nvSpPr>
          <p:spPr bwMode="auto">
            <a:xfrm>
              <a:off x="1200" y="3301"/>
              <a:ext cx="2083" cy="651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7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 Bold" panose="020B0604020202090204" charset="0"/>
                  <a:ea typeface="微软雅黑" charset="0"/>
                  <a:cs typeface="Arial Bold" panose="020B0604020202090204" charset="0"/>
                </a:rPr>
                <a:t>KWOK</a:t>
              </a:r>
            </a:p>
          </p:txBody>
        </p:sp>
        <p:pic>
          <p:nvPicPr>
            <p:cNvPr id="180" name="图片 17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66"/>
            <a:stretch>
              <a:fillRect/>
            </a:stretch>
          </p:blipFill>
          <p:spPr>
            <a:xfrm>
              <a:off x="1768" y="2411"/>
              <a:ext cx="905" cy="880"/>
            </a:xfrm>
            <a:prstGeom prst="rect">
              <a:avLst/>
            </a:prstGeom>
          </p:spPr>
        </p:pic>
      </p:grpSp>
      <p:pic>
        <p:nvPicPr>
          <p:cNvPr id="5" name="图形 16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7932420" y="4048760"/>
            <a:ext cx="298450" cy="29019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8"/>
            </p:custDataLst>
          </p:nvPr>
        </p:nvSpPr>
        <p:spPr>
          <a:xfrm>
            <a:off x="7543800" y="5321300"/>
            <a:ext cx="1027430" cy="231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超节点调度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B57502-D0F1-744E-ABB0-66D97F020ADF}"/>
              </a:ext>
            </a:extLst>
          </p:cNvPr>
          <p:cNvSpPr/>
          <p:nvPr/>
        </p:nvSpPr>
        <p:spPr>
          <a:xfrm>
            <a:off x="6118224" y="-10160"/>
            <a:ext cx="6073775" cy="6868160"/>
          </a:xfrm>
          <a:prstGeom prst="rect">
            <a:avLst/>
          </a:prstGeom>
          <a:solidFill>
            <a:srgbClr val="3AA7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 descr="资源 3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0"/>
            <a:ext cx="6118225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FC76D77-F4CD-C948-999B-5F9FCEE62880}"/>
              </a:ext>
            </a:extLst>
          </p:cNvPr>
          <p:cNvSpPr/>
          <p:nvPr/>
        </p:nvSpPr>
        <p:spPr>
          <a:xfrm>
            <a:off x="671830" y="415001"/>
            <a:ext cx="10844051" cy="6085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6641" y="1526228"/>
            <a:ext cx="4823460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为企业构建高效可扩展的 </a:t>
            </a:r>
            <a:r>
              <a:rPr kumimoji="0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AI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基础设施：算力管理上，统一纳管国内外主流 </a:t>
            </a:r>
            <a:r>
              <a:rPr kumimoji="0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AI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硬件，通过按需调度与精细化管理，动态优化资源配置，算力利用率提升至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80%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以上；模型支持上，集成模型精调、部署及推理工具，兼容主流推理框架，并依托持续更新的 “模型广场” 同步前沿模型，提供即插即用的模型服务，加速企业 </a:t>
            </a:r>
            <a:r>
              <a:rPr kumimoji="0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AI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应用落地。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4C59EA-1C56-6746-8115-299AF1E84C57}"/>
              </a:ext>
            </a:extLst>
          </p:cNvPr>
          <p:cNvSpPr txBox="1"/>
          <p:nvPr/>
        </p:nvSpPr>
        <p:spPr>
          <a:xfrm>
            <a:off x="2028515" y="652197"/>
            <a:ext cx="3003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算力调度平台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4AF36FA-0A93-E146-B3F9-1B63F8CA56E8}"/>
              </a:ext>
            </a:extLst>
      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937652" y="606732"/>
            <a:ext cx="1057640" cy="4329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70F7F99-A255-8798-C67F-117DA6D2CD68}"/>
              </a:ext>
            </a:extLst>
          </p:cNvPr>
          <p:cNvSpPr txBox="1"/>
          <p:nvPr/>
        </p:nvSpPr>
        <p:spPr>
          <a:xfrm>
            <a:off x="897028" y="1099530"/>
            <a:ext cx="3003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打通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算力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模型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应用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的企业级服务平台</a:t>
            </a:r>
          </a:p>
        </p:txBody>
      </p:sp>
      <p:grpSp>
        <p:nvGrpSpPr>
          <p:cNvPr id="764" name="组合 763">
            <a:extLst>
              <a:ext uri="{FF2B5EF4-FFF2-40B4-BE49-F238E27FC236}">
                <a16:creationId xmlns:a16="http://schemas.microsoft.com/office/drawing/2014/main" id="{D52E42DF-FA0B-8159-DB47-154A6F330227}"/>
              </a:ext>
            </a:extLst>
          </p:cNvPr>
          <p:cNvGrpSpPr/>
          <p:nvPr/>
        </p:nvGrpSpPr>
        <p:grpSpPr>
          <a:xfrm>
            <a:off x="824418" y="2445035"/>
            <a:ext cx="5324883" cy="3808688"/>
            <a:chOff x="1801024" y="635000"/>
            <a:chExt cx="8113620" cy="5803366"/>
          </a:xfrm>
        </p:grpSpPr>
        <p:sp>
          <p:nvSpPr>
            <p:cNvPr id="765" name="圆角矩形 59">
              <a:extLst>
                <a:ext uri="{FF2B5EF4-FFF2-40B4-BE49-F238E27FC236}">
                  <a16:creationId xmlns:a16="http://schemas.microsoft.com/office/drawing/2014/main" id="{D54BFD67-2F04-1343-511D-9A68D1D5837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2638834" y="3685540"/>
              <a:ext cx="5902591" cy="520065"/>
            </a:xfrm>
            <a:prstGeom prst="roundRect">
              <a:avLst>
                <a:gd name="adj" fmla="val 6469"/>
              </a:avLst>
            </a:prstGeom>
            <a:solidFill>
              <a:srgbClr val="17C475">
                <a:alpha val="11392"/>
              </a:srgbClr>
            </a:solidFill>
            <a:ln w="9525" cap="flat" cmpd="sng" algn="ctr">
              <a:solidFill>
                <a:srgbClr val="11D05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766" name="圆角矩形 59">
              <a:extLst>
                <a:ext uri="{FF2B5EF4-FFF2-40B4-BE49-F238E27FC236}">
                  <a16:creationId xmlns:a16="http://schemas.microsoft.com/office/drawing/2014/main" id="{9B6EABDA-B4F7-24F8-7627-45FE21BDFFD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639122" y="4249420"/>
              <a:ext cx="5907275" cy="520065"/>
            </a:xfrm>
            <a:prstGeom prst="roundRect">
              <a:avLst>
                <a:gd name="adj" fmla="val 6469"/>
              </a:avLst>
            </a:prstGeom>
            <a:solidFill>
              <a:srgbClr val="17C475">
                <a:alpha val="11392"/>
              </a:srgbClr>
            </a:solidFill>
            <a:ln w="9525" cap="flat" cmpd="sng" algn="ctr">
              <a:solidFill>
                <a:srgbClr val="11D05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767" name="矩形 766">
              <a:extLst>
                <a:ext uri="{FF2B5EF4-FFF2-40B4-BE49-F238E27FC236}">
                  <a16:creationId xmlns:a16="http://schemas.microsoft.com/office/drawing/2014/main" id="{D01C6D45-4BEE-80C2-0216-B60D766F795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23664" y="4321175"/>
              <a:ext cx="1356647" cy="385445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768" name="矩形 767">
              <a:extLst>
                <a:ext uri="{FF2B5EF4-FFF2-40B4-BE49-F238E27FC236}">
                  <a16:creationId xmlns:a16="http://schemas.microsoft.com/office/drawing/2014/main" id="{5C98A2A0-3943-EA94-7D9A-1FF76B737FE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689647" y="4328160"/>
              <a:ext cx="1726441" cy="37759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769" name="圆角矩形 59">
              <a:extLst>
                <a:ext uri="{FF2B5EF4-FFF2-40B4-BE49-F238E27FC236}">
                  <a16:creationId xmlns:a16="http://schemas.microsoft.com/office/drawing/2014/main" id="{51EEDA14-E835-FF13-698E-735B7E6DD56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635276" y="4818380"/>
              <a:ext cx="5906689" cy="847725"/>
            </a:xfrm>
            <a:prstGeom prst="roundRect">
              <a:avLst>
                <a:gd name="adj" fmla="val 2739"/>
              </a:avLst>
            </a:prstGeom>
            <a:solidFill>
              <a:srgbClr val="17C475">
                <a:alpha val="11392"/>
              </a:srgbClr>
            </a:solidFill>
            <a:ln w="9525" cap="flat" cmpd="sng" algn="ctr">
              <a:solidFill>
                <a:srgbClr val="11D05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</a:endParaRPr>
            </a:p>
          </p:txBody>
        </p:sp>
        <p:sp>
          <p:nvSpPr>
            <p:cNvPr id="770" name="圆角矩形 769">
              <a:extLst>
                <a:ext uri="{FF2B5EF4-FFF2-40B4-BE49-F238E27FC236}">
                  <a16:creationId xmlns:a16="http://schemas.microsoft.com/office/drawing/2014/main" id="{17BBB0EF-EFE9-B771-D707-2BA8F94C2404}"/>
                </a:ext>
              </a:extLst>
            </p:cNvPr>
            <p:cNvSpPr/>
            <p:nvPr/>
          </p:nvSpPr>
          <p:spPr>
            <a:xfrm>
              <a:off x="1900828" y="5764214"/>
              <a:ext cx="670718" cy="609282"/>
            </a:xfrm>
            <a:prstGeom prst="roundRect">
              <a:avLst>
                <a:gd name="adj" fmla="val 5606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1" name="圆角矩形 770">
              <a:extLst>
                <a:ext uri="{FF2B5EF4-FFF2-40B4-BE49-F238E27FC236}">
                  <a16:creationId xmlns:a16="http://schemas.microsoft.com/office/drawing/2014/main" id="{DFA8B3FB-5197-985C-7023-98F4C1CD4010}"/>
                </a:ext>
              </a:extLst>
            </p:cNvPr>
            <p:cNvSpPr/>
            <p:nvPr/>
          </p:nvSpPr>
          <p:spPr>
            <a:xfrm>
              <a:off x="1916734" y="3686175"/>
              <a:ext cx="654811" cy="1979930"/>
            </a:xfrm>
            <a:prstGeom prst="roundRect">
              <a:avLst>
                <a:gd name="adj" fmla="val 2646"/>
              </a:avLst>
            </a:prstGeom>
            <a:solidFill>
              <a:srgbClr val="17C475">
                <a:alpha val="11392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</a:endParaRPr>
            </a:p>
          </p:txBody>
        </p:sp>
        <p:sp>
          <p:nvSpPr>
            <p:cNvPr id="772" name="圆角矩形 771">
              <a:extLst>
                <a:ext uri="{FF2B5EF4-FFF2-40B4-BE49-F238E27FC236}">
                  <a16:creationId xmlns:a16="http://schemas.microsoft.com/office/drawing/2014/main" id="{305E7AC6-D4EE-E194-8657-370C22850883}"/>
                </a:ext>
              </a:extLst>
            </p:cNvPr>
            <p:cNvSpPr/>
            <p:nvPr/>
          </p:nvSpPr>
          <p:spPr>
            <a:xfrm>
              <a:off x="1909843" y="2520950"/>
              <a:ext cx="661703" cy="561975"/>
            </a:xfrm>
            <a:prstGeom prst="roundRect">
              <a:avLst>
                <a:gd name="adj" fmla="val 5606"/>
              </a:avLst>
            </a:prstGeom>
            <a:solidFill>
              <a:srgbClr val="E5F8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3" name="圆角矩形 772">
              <a:extLst>
                <a:ext uri="{FF2B5EF4-FFF2-40B4-BE49-F238E27FC236}">
                  <a16:creationId xmlns:a16="http://schemas.microsoft.com/office/drawing/2014/main" id="{DC51952F-6887-AFEE-4774-29AA3F16B47F}"/>
                </a:ext>
              </a:extLst>
            </p:cNvPr>
            <p:cNvSpPr/>
            <p:nvPr/>
          </p:nvSpPr>
          <p:spPr>
            <a:xfrm>
              <a:off x="1916735" y="1424940"/>
              <a:ext cx="655268" cy="1028700"/>
            </a:xfrm>
            <a:prstGeom prst="roundRect">
              <a:avLst>
                <a:gd name="adj" fmla="val 5606"/>
              </a:avLst>
            </a:prstGeom>
            <a:solidFill>
              <a:srgbClr val="E5F8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4" name="圆角矩形 773">
              <a:extLst>
                <a:ext uri="{FF2B5EF4-FFF2-40B4-BE49-F238E27FC236}">
                  <a16:creationId xmlns:a16="http://schemas.microsoft.com/office/drawing/2014/main" id="{50B8948C-D2D1-A0E9-0E48-FBB994534C9D}"/>
                </a:ext>
              </a:extLst>
            </p:cNvPr>
            <p:cNvSpPr/>
            <p:nvPr/>
          </p:nvSpPr>
          <p:spPr>
            <a:xfrm>
              <a:off x="1928489" y="635000"/>
              <a:ext cx="640599" cy="676275"/>
            </a:xfrm>
            <a:prstGeom prst="roundRect">
              <a:avLst>
                <a:gd name="adj" fmla="val 5606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5" name="圆角矩形 774">
              <a:extLst>
                <a:ext uri="{FF2B5EF4-FFF2-40B4-BE49-F238E27FC236}">
                  <a16:creationId xmlns:a16="http://schemas.microsoft.com/office/drawing/2014/main" id="{11851E35-675B-F9D1-0B44-2F0D1105A59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647413" y="2520950"/>
              <a:ext cx="5907860" cy="561975"/>
            </a:xfrm>
            <a:prstGeom prst="roundRect">
              <a:avLst>
                <a:gd name="adj" fmla="val 5463"/>
              </a:avLst>
            </a:prstGeom>
            <a:solidFill>
              <a:srgbClr val="FFFFFF"/>
            </a:solidFill>
            <a:ln w="31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776" name="圆角矩形 775">
              <a:extLst>
                <a:ext uri="{FF2B5EF4-FFF2-40B4-BE49-F238E27FC236}">
                  <a16:creationId xmlns:a16="http://schemas.microsoft.com/office/drawing/2014/main" id="{FEADA3D1-1137-063C-7E52-9E1E6891BBF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647015" y="635000"/>
              <a:ext cx="2130089" cy="676910"/>
            </a:xfrm>
            <a:prstGeom prst="roundRect">
              <a:avLst>
                <a:gd name="adj" fmla="val 5463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grpSp>
          <p:nvGrpSpPr>
            <p:cNvPr id="777" name="组合 776">
              <a:extLst>
                <a:ext uri="{FF2B5EF4-FFF2-40B4-BE49-F238E27FC236}">
                  <a16:creationId xmlns:a16="http://schemas.microsoft.com/office/drawing/2014/main" id="{3AF83E3E-BE40-2EE5-815E-9A3EE43DE173}"/>
                </a:ext>
              </a:extLst>
            </p:cNvPr>
            <p:cNvGrpSpPr/>
            <p:nvPr/>
          </p:nvGrpSpPr>
          <p:grpSpPr>
            <a:xfrm>
              <a:off x="5325507" y="5841259"/>
              <a:ext cx="921971" cy="454978"/>
              <a:chOff x="3651" y="8725"/>
              <a:chExt cx="1562" cy="770"/>
            </a:xfrm>
          </p:grpSpPr>
          <p:pic>
            <p:nvPicPr>
              <p:cNvPr id="912" name="图片 911" descr="企业微信截图_04bc521c-ea28-4076-a263-8b21c5ea1125-removebg-preview (1)">
                <a:extLst>
                  <a:ext uri="{FF2B5EF4-FFF2-40B4-BE49-F238E27FC236}">
                    <a16:creationId xmlns:a16="http://schemas.microsoft.com/office/drawing/2014/main" id="{295E3FAC-D3B3-8ED4-9D84-E9BE4C2ADEA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8"/>
                </p:custDataLst>
              </p:nvPr>
            </p:nvPicPr>
            <p:blipFill>
              <a:blip r:embed="rId114"/>
              <a:srcRect r="68915"/>
              <a:stretch>
                <a:fillRect/>
              </a:stretch>
            </p:blipFill>
            <p:spPr>
              <a:xfrm>
                <a:off x="3651" y="8740"/>
                <a:ext cx="470" cy="755"/>
              </a:xfrm>
              <a:prstGeom prst="rect">
                <a:avLst/>
              </a:prstGeom>
            </p:spPr>
          </p:pic>
          <p:pic>
            <p:nvPicPr>
              <p:cNvPr id="913" name="图片 912" descr="企业微信截图_04bc521c-ea28-4076-a263-8b21c5ea1125-removebg-preview (1)">
                <a:extLst>
                  <a:ext uri="{FF2B5EF4-FFF2-40B4-BE49-F238E27FC236}">
                    <a16:creationId xmlns:a16="http://schemas.microsoft.com/office/drawing/2014/main" id="{82AEBECE-1F04-21ED-B3AA-CCD20438019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9"/>
                </p:custDataLst>
              </p:nvPr>
            </p:nvPicPr>
            <p:blipFill>
              <a:blip r:embed="rId115">
                <a:extLst>
                  <a:ext uri="{BEBA8EAE-BF5A-486C-A8C5-ECC9F3942E4B}">
                    <a14:imgProps xmlns:a14="http://schemas.microsoft.com/office/drawing/2010/main">
                      <a14:imgLayer r:embed="rId116">
                        <a14:imgEffect>
                          <a14:brightnessContrast bright="1000"/>
                        </a14:imgEffect>
                      </a14:imgLayer>
                    </a14:imgProps>
                  </a:ext>
                </a:extLst>
              </a:blip>
              <a:srcRect l="29563"/>
              <a:stretch>
                <a:fillRect/>
              </a:stretch>
            </p:blipFill>
            <p:spPr>
              <a:xfrm>
                <a:off x="4148" y="8725"/>
                <a:ext cx="1065" cy="755"/>
              </a:xfrm>
              <a:prstGeom prst="rect">
                <a:avLst/>
              </a:prstGeom>
            </p:spPr>
          </p:pic>
        </p:grpSp>
        <p:grpSp>
          <p:nvGrpSpPr>
            <p:cNvPr id="778" name="组合 777">
              <a:extLst>
                <a:ext uri="{FF2B5EF4-FFF2-40B4-BE49-F238E27FC236}">
                  <a16:creationId xmlns:a16="http://schemas.microsoft.com/office/drawing/2014/main" id="{2F866432-1E41-546E-CE07-9316F9AEDDBE}"/>
                </a:ext>
              </a:extLst>
            </p:cNvPr>
            <p:cNvGrpSpPr/>
            <p:nvPr/>
          </p:nvGrpSpPr>
          <p:grpSpPr>
            <a:xfrm>
              <a:off x="2840965" y="5688606"/>
              <a:ext cx="996131" cy="749760"/>
              <a:chOff x="322" y="5272"/>
              <a:chExt cx="7763" cy="5842"/>
            </a:xfrm>
          </p:grpSpPr>
          <p:pic>
            <p:nvPicPr>
              <p:cNvPr id="910" name="图片 909" descr="天数智芯-removebg-preview (1)">
                <a:extLst>
                  <a:ext uri="{FF2B5EF4-FFF2-40B4-BE49-F238E27FC236}">
                    <a16:creationId xmlns:a16="http://schemas.microsoft.com/office/drawing/2014/main" id="{C7D18761-E499-296F-8F1E-B2AB1ECC3D6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6"/>
                </p:custDataLst>
              </p:nvPr>
            </p:nvPicPr>
            <p:blipFill>
              <a:blip r:embed="rId117"/>
              <a:srcRect r="62799"/>
              <a:stretch>
                <a:fillRect/>
              </a:stretch>
            </p:blipFill>
            <p:spPr>
              <a:xfrm>
                <a:off x="322" y="5354"/>
                <a:ext cx="2857" cy="5760"/>
              </a:xfrm>
              <a:prstGeom prst="rect">
                <a:avLst/>
              </a:prstGeom>
            </p:spPr>
          </p:pic>
          <p:pic>
            <p:nvPicPr>
              <p:cNvPr id="911" name="图片 910" descr="天数智芯-removebg-preview (1)">
                <a:extLst>
                  <a:ext uri="{FF2B5EF4-FFF2-40B4-BE49-F238E27FC236}">
                    <a16:creationId xmlns:a16="http://schemas.microsoft.com/office/drawing/2014/main" id="{46D56637-635A-6EA2-C22F-B171FBF80D4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7"/>
                </p:custDataLst>
              </p:nvPr>
            </p:nvPicPr>
            <p:blipFill>
              <a:blip r:embed="rId118">
                <a:extLst>
                  <a:ext uri="{BEBA8EAE-BF5A-486C-A8C5-ECC9F3942E4B}">
                    <a14:imgProps xmlns:a14="http://schemas.microsoft.com/office/drawing/2010/main">
                      <a14:imgLayer r:embed="rId119">
                        <a14:imgEffect>
                          <a14:brightnessContrast bright="-62000"/>
                        </a14:imgEffect>
                      </a14:imgLayer>
                    </a14:imgProps>
                  </a:ext>
                </a:extLst>
              </a:blip>
              <a:srcRect l="35885"/>
              <a:stretch>
                <a:fillRect/>
              </a:stretch>
            </p:blipFill>
            <p:spPr>
              <a:xfrm>
                <a:off x="3161" y="5272"/>
                <a:ext cx="4924" cy="5760"/>
              </a:xfrm>
              <a:prstGeom prst="rect">
                <a:avLst/>
              </a:prstGeom>
            </p:spPr>
          </p:pic>
        </p:grpSp>
        <p:pic>
          <p:nvPicPr>
            <p:cNvPr id="779" name="图片 778">
              <a:extLst>
                <a:ext uri="{FF2B5EF4-FFF2-40B4-BE49-F238E27FC236}">
                  <a16:creationId xmlns:a16="http://schemas.microsoft.com/office/drawing/2014/main" id="{A1ED4F7A-4C73-230B-B4BF-AE4C1E5029AE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734333" y="5688606"/>
              <a:ext cx="711286" cy="711286"/>
            </a:xfrm>
            <a:prstGeom prst="rect">
              <a:avLst/>
            </a:prstGeom>
          </p:spPr>
        </p:pic>
        <p:grpSp>
          <p:nvGrpSpPr>
            <p:cNvPr id="780" name="组合 779">
              <a:extLst>
                <a:ext uri="{FF2B5EF4-FFF2-40B4-BE49-F238E27FC236}">
                  <a16:creationId xmlns:a16="http://schemas.microsoft.com/office/drawing/2014/main" id="{F57996D1-5C56-8DC0-1E3D-3D036A4CC400}"/>
                </a:ext>
              </a:extLst>
            </p:cNvPr>
            <p:cNvGrpSpPr/>
            <p:nvPr/>
          </p:nvGrpSpPr>
          <p:grpSpPr>
            <a:xfrm>
              <a:off x="4151219" y="5941295"/>
              <a:ext cx="746125" cy="236855"/>
              <a:chOff x="2650" y="6619"/>
              <a:chExt cx="5686" cy="1803"/>
            </a:xfrm>
          </p:grpSpPr>
          <p:pic>
            <p:nvPicPr>
              <p:cNvPr id="908" name="图片 907">
                <a:extLst>
                  <a:ext uri="{FF2B5EF4-FFF2-40B4-BE49-F238E27FC236}">
                    <a16:creationId xmlns:a16="http://schemas.microsoft.com/office/drawing/2014/main" id="{8EBCD0C7-193F-424D-AC81-6CD76084F95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4"/>
                </p:custDataLst>
              </p:nvPr>
            </p:nvPicPr>
            <p:blipFill>
              <a:blip r:embed="rId121"/>
              <a:srcRect r="65735"/>
              <a:stretch>
                <a:fillRect/>
              </a:stretch>
            </p:blipFill>
            <p:spPr>
              <a:xfrm>
                <a:off x="2650" y="6622"/>
                <a:ext cx="1912" cy="1800"/>
              </a:xfrm>
              <a:prstGeom prst="rect">
                <a:avLst/>
              </a:prstGeom>
            </p:spPr>
          </p:pic>
          <p:pic>
            <p:nvPicPr>
              <p:cNvPr id="909" name="图片 908">
                <a:extLst>
                  <a:ext uri="{FF2B5EF4-FFF2-40B4-BE49-F238E27FC236}">
                    <a16:creationId xmlns:a16="http://schemas.microsoft.com/office/drawing/2014/main" id="{D960F3CA-43E7-085A-A6C4-800DCC2C6EC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5"/>
                </p:custDataLst>
              </p:nvPr>
            </p:nvPicPr>
            <p:blipFill>
              <a:blip r:embed="rId122"/>
              <a:srcRect l="32384"/>
              <a:stretch>
                <a:fillRect/>
              </a:stretch>
            </p:blipFill>
            <p:spPr>
              <a:xfrm>
                <a:off x="4563" y="6619"/>
                <a:ext cx="3773" cy="1800"/>
              </a:xfrm>
              <a:prstGeom prst="rect">
                <a:avLst/>
              </a:prstGeom>
            </p:spPr>
          </p:pic>
        </p:grpSp>
        <p:grpSp>
          <p:nvGrpSpPr>
            <p:cNvPr id="781" name="组合 780">
              <a:extLst>
                <a:ext uri="{FF2B5EF4-FFF2-40B4-BE49-F238E27FC236}">
                  <a16:creationId xmlns:a16="http://schemas.microsoft.com/office/drawing/2014/main" id="{236594EF-46BB-F363-9EBD-B6C4D3EA6822}"/>
                </a:ext>
              </a:extLst>
            </p:cNvPr>
            <p:cNvGrpSpPr/>
            <p:nvPr/>
          </p:nvGrpSpPr>
          <p:grpSpPr>
            <a:xfrm>
              <a:off x="8797226" y="5853901"/>
              <a:ext cx="935242" cy="364512"/>
              <a:chOff x="17297" y="6094"/>
              <a:chExt cx="3626" cy="1412"/>
            </a:xfrm>
          </p:grpSpPr>
          <p:pic>
            <p:nvPicPr>
              <p:cNvPr id="906" name="图片 905">
                <a:extLst>
                  <a:ext uri="{FF2B5EF4-FFF2-40B4-BE49-F238E27FC236}">
                    <a16:creationId xmlns:a16="http://schemas.microsoft.com/office/drawing/2014/main" id="{7AB6FE6D-45E3-8226-557D-904D84C1F3A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2"/>
                </p:custDataLst>
              </p:nvPr>
            </p:nvPicPr>
            <p:blipFill>
              <a:blip r:embed="rId123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l="42363" b="20167"/>
              <a:stretch>
                <a:fillRect/>
              </a:stretch>
            </p:blipFill>
            <p:spPr>
              <a:xfrm>
                <a:off x="18608" y="6094"/>
                <a:ext cx="2315" cy="1284"/>
              </a:xfrm>
              <a:prstGeom prst="rect">
                <a:avLst/>
              </a:prstGeom>
            </p:spPr>
          </p:pic>
          <p:pic>
            <p:nvPicPr>
              <p:cNvPr id="907" name="图片 906" descr="/private/var/folders/ft/_tvslxd50299yts55yzbphgh0000gn/T/com.kingsoft.wpsoffice.mac/kaimatting/20240111160832/output_aiMatting_20240111160851.pngoutput_aiMatting_20240111160851">
                <a:extLst>
                  <a:ext uri="{FF2B5EF4-FFF2-40B4-BE49-F238E27FC236}">
                    <a16:creationId xmlns:a16="http://schemas.microsoft.com/office/drawing/2014/main" id="{4D5A54B9-D2F9-5C23-C83A-678564DB5A1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3"/>
                </p:custDataLst>
              </p:nvPr>
            </p:nvPicPr>
            <p:blipFill>
              <a:blip r:embed="rId124"/>
              <a:stretch>
                <a:fillRect/>
              </a:stretch>
            </p:blipFill>
            <p:spPr>
              <a:xfrm>
                <a:off x="17297" y="6303"/>
                <a:ext cx="1313" cy="1203"/>
              </a:xfrm>
              <a:prstGeom prst="rect">
                <a:avLst/>
              </a:prstGeom>
            </p:spPr>
          </p:pic>
        </p:grpSp>
        <p:sp>
          <p:nvSpPr>
            <p:cNvPr id="782" name="圆角矩形 781">
              <a:extLst>
                <a:ext uri="{FF2B5EF4-FFF2-40B4-BE49-F238E27FC236}">
                  <a16:creationId xmlns:a16="http://schemas.microsoft.com/office/drawing/2014/main" id="{23A29E20-CBF2-03B7-7EB9-4F82A16C3CBC}"/>
                </a:ext>
              </a:extLst>
            </p:cNvPr>
            <p:cNvSpPr/>
            <p:nvPr/>
          </p:nvSpPr>
          <p:spPr>
            <a:xfrm>
              <a:off x="2647341" y="1450340"/>
              <a:ext cx="5906689" cy="977900"/>
            </a:xfrm>
            <a:prstGeom prst="roundRect">
              <a:avLst>
                <a:gd name="adj" fmla="val 5463"/>
              </a:avLst>
            </a:prstGeom>
            <a:solidFill>
              <a:srgbClr val="FFFFFF"/>
            </a:solidFill>
            <a:ln w="31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pic>
          <p:nvPicPr>
            <p:cNvPr id="783" name="图片 782" descr="/private/var/folders/36/v8vsywkd3s55vd95gz_8d8fw0000gn/T/com.kingsoft.wpsoffice.mac/photoeditapp/20250313154502/temp.pngtemp">
              <a:extLst>
                <a:ext uri="{FF2B5EF4-FFF2-40B4-BE49-F238E27FC236}">
                  <a16:creationId xmlns:a16="http://schemas.microsoft.com/office/drawing/2014/main" id="{8E750931-7C32-9F81-24D9-264A6039C480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25">
              <a:extLst>
                <a:ext uri="{BEBA8EAE-BF5A-486C-A8C5-ECC9F3942E4B}">
                  <a14:imgProps xmlns:a14="http://schemas.microsoft.com/office/drawing/2010/main">
                    <a14:imgLayer r:embed="rId126">
                      <a14:imgEffect>
                        <a14:brightnessContrast bright="1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5520" y="5936615"/>
              <a:ext cx="781045" cy="198755"/>
            </a:xfrm>
            <a:prstGeom prst="rect">
              <a:avLst/>
            </a:prstGeom>
          </p:spPr>
        </p:pic>
        <p:sp>
          <p:nvSpPr>
            <p:cNvPr id="784" name="文本框 783">
              <a:extLst>
                <a:ext uri="{FF2B5EF4-FFF2-40B4-BE49-F238E27FC236}">
                  <a16:creationId xmlns:a16="http://schemas.microsoft.com/office/drawing/2014/main" id="{38B4D11E-E6B8-B1EA-5D98-30C9F2139E95}"/>
                </a:ext>
              </a:extLst>
            </p:cNvPr>
            <p:cNvSpPr txBox="1"/>
            <p:nvPr/>
          </p:nvSpPr>
          <p:spPr>
            <a:xfrm>
              <a:off x="2804917" y="2618130"/>
              <a:ext cx="852289" cy="39177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tIns="0" bIns="72000" rtlCol="0" anchor="ctr">
              <a:noAutofit/>
            </a:bodyPr>
            <a:lstStyle/>
            <a:p>
              <a:pPr marL="0" marR="0" lvl="0" indent="0" algn="ctr" defTabSz="914400" rtl="0" eaLnBrk="1" fontAlgn="ctr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数据准备</a:t>
              </a:r>
            </a:p>
          </p:txBody>
        </p:sp>
        <p:sp>
          <p:nvSpPr>
            <p:cNvPr id="785" name="文本框 784">
              <a:extLst>
                <a:ext uri="{FF2B5EF4-FFF2-40B4-BE49-F238E27FC236}">
                  <a16:creationId xmlns:a16="http://schemas.microsoft.com/office/drawing/2014/main" id="{D9CE1143-D0B0-C419-CE95-5C22294B428B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746059" y="2613228"/>
              <a:ext cx="1125021" cy="38464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tIns="0" bIns="72000" rtlCol="0" anchor="ctr">
              <a:noAutofit/>
            </a:bodyPr>
            <a:lstStyle>
              <a:defPPr>
                <a:defRPr lang="zh-CN"/>
              </a:defPPr>
              <a:lvl1pPr algn="ctr" fontAlgn="ctr">
                <a:lnSpc>
                  <a:spcPct val="150000"/>
                </a:lnSpc>
                <a:defRPr sz="1000" b="1">
                  <a:solidFill>
                    <a:schemeClr val="bg1"/>
                  </a:solidFill>
                  <a:latin typeface="Noto Sans SC" panose="020B0A00000000000000" pitchFamily="34" charset="-128"/>
                  <a:ea typeface="Noto Sans SC" panose="020B0A00000000000000" pitchFamily="34" charset="-128"/>
                </a:defRPr>
              </a:lvl1pPr>
            </a:lstStyle>
            <a:p>
              <a:pPr marL="0" marR="0" lvl="0" indent="0" algn="ctr" defTabSz="914400" rtl="0" eaLnBrk="1" fontAlgn="ctr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算法开发</a:t>
              </a:r>
            </a:p>
          </p:txBody>
        </p:sp>
        <p:sp>
          <p:nvSpPr>
            <p:cNvPr id="786" name="文本框 785">
              <a:extLst>
                <a:ext uri="{FF2B5EF4-FFF2-40B4-BE49-F238E27FC236}">
                  <a16:creationId xmlns:a16="http://schemas.microsoft.com/office/drawing/2014/main" id="{914260B6-1E0F-4F6B-0F4D-016AE86B5F1A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4961984" y="2604099"/>
              <a:ext cx="1170146" cy="38354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模型训练</a:t>
              </a:r>
            </a:p>
          </p:txBody>
        </p:sp>
        <p:grpSp>
          <p:nvGrpSpPr>
            <p:cNvPr id="787" name="组合 786">
              <a:extLst>
                <a:ext uri="{FF2B5EF4-FFF2-40B4-BE49-F238E27FC236}">
                  <a16:creationId xmlns:a16="http://schemas.microsoft.com/office/drawing/2014/main" id="{9F49239D-52C5-12E8-BDEC-9FE7671614B5}"/>
                </a:ext>
              </a:extLst>
            </p:cNvPr>
            <p:cNvGrpSpPr/>
            <p:nvPr/>
          </p:nvGrpSpPr>
          <p:grpSpPr>
            <a:xfrm>
              <a:off x="2781693" y="1877695"/>
              <a:ext cx="1923478" cy="449580"/>
              <a:chOff x="4880" y="3337"/>
              <a:chExt cx="3158" cy="708"/>
            </a:xfrm>
          </p:grpSpPr>
          <p:sp>
            <p:nvSpPr>
              <p:cNvPr id="904" name="文本框 903">
                <a:extLst>
                  <a:ext uri="{FF2B5EF4-FFF2-40B4-BE49-F238E27FC236}">
                    <a16:creationId xmlns:a16="http://schemas.microsoft.com/office/drawing/2014/main" id="{80885DC5-8A89-CDA6-F85A-23AE9F1AB813}"/>
                  </a:ext>
                </a:extLst>
              </p:cNvPr>
              <p:cNvSpPr txBox="1"/>
              <p:nvPr>
                <p:custDataLst>
                  <p:tags r:id="rId100"/>
                </p:custDataLst>
              </p:nvPr>
            </p:nvSpPr>
            <p:spPr>
              <a:xfrm>
                <a:off x="4880" y="3337"/>
                <a:ext cx="3158" cy="708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模型推理加速</a:t>
                </a:r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B2B7E137-E814-01BE-844F-62769BFD09E0}"/>
                  </a:ext>
                </a:extLst>
              </p:cNvPr>
              <p:cNvSpPr/>
              <p:nvPr>
                <p:custDataLst>
                  <p:tags r:id="rId101"/>
                </p:custDataLst>
              </p:nvPr>
            </p:nvSpPr>
            <p:spPr>
              <a:xfrm>
                <a:off x="5351" y="3764"/>
                <a:ext cx="2046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vLLM</a:t>
                </a: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/</a:t>
                </a:r>
                <a:r>
                  <a:rPr kumimoji="0" lang="en-US" altLang="zh-CN" sz="5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SGLang</a:t>
                </a:r>
                <a:endPara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endParaRPr>
              </a:p>
            </p:txBody>
          </p:sp>
        </p:grpSp>
        <p:sp>
          <p:nvSpPr>
            <p:cNvPr id="788" name="矩形 787">
              <a:extLst>
                <a:ext uri="{FF2B5EF4-FFF2-40B4-BE49-F238E27FC236}">
                  <a16:creationId xmlns:a16="http://schemas.microsoft.com/office/drawing/2014/main" id="{6EBFBF9B-83B6-FC5E-FEBB-D80E0FC8A58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948754" y="2777454"/>
              <a:ext cx="1245571" cy="238125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C4C4C">
                      <a:alpha val="94000"/>
                    </a:srgbClr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Pytorch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/</a:t>
              </a:r>
              <a:r>
                <a:rPr kumimoji="0" lang="en-US" altLang="zh-CN" sz="5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Tensorflow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 </a:t>
              </a:r>
              <a:endParaRPr kumimoji="0" lang="zh-CN" alt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  <a:sym typeface="宋体" pitchFamily="2" charset="-122"/>
              </a:endParaRPr>
            </a:p>
          </p:txBody>
        </p:sp>
        <p:sp>
          <p:nvSpPr>
            <p:cNvPr id="789" name="圆角矩形 59">
              <a:extLst>
                <a:ext uri="{FF2B5EF4-FFF2-40B4-BE49-F238E27FC236}">
                  <a16:creationId xmlns:a16="http://schemas.microsoft.com/office/drawing/2014/main" id="{CBFB69C1-EF52-6A0A-CD98-26C16A81172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864411" y="1459229"/>
              <a:ext cx="743495" cy="994410"/>
            </a:xfrm>
            <a:prstGeom prst="roundRect">
              <a:avLst>
                <a:gd name="adj" fmla="val 6469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大模型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服务</a:t>
              </a:r>
            </a:p>
          </p:txBody>
        </p:sp>
        <p:sp>
          <p:nvSpPr>
            <p:cNvPr id="790" name="圆角矩形 59">
              <a:extLst>
                <a:ext uri="{FF2B5EF4-FFF2-40B4-BE49-F238E27FC236}">
                  <a16:creationId xmlns:a16="http://schemas.microsoft.com/office/drawing/2014/main" id="{7398FCDE-4AD9-D80C-8A9E-6BB0FD52019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801024" y="2453644"/>
              <a:ext cx="895528" cy="676275"/>
            </a:xfrm>
            <a:prstGeom prst="roundRect">
              <a:avLst>
                <a:gd name="adj" fmla="val 6469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机器学习服务</a:t>
              </a:r>
            </a:p>
          </p:txBody>
        </p:sp>
        <p:sp>
          <p:nvSpPr>
            <p:cNvPr id="791" name="圆角矩形 59">
              <a:extLst>
                <a:ext uri="{FF2B5EF4-FFF2-40B4-BE49-F238E27FC236}">
                  <a16:creationId xmlns:a16="http://schemas.microsoft.com/office/drawing/2014/main" id="{F875F3D3-4161-A1E3-7A74-5C3F2DCEDCE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909184" y="5817205"/>
              <a:ext cx="677507" cy="518795"/>
            </a:xfrm>
            <a:prstGeom prst="roundRect">
              <a:avLst>
                <a:gd name="adj" fmla="val 6469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算力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硬件</a:t>
              </a:r>
            </a:p>
          </p:txBody>
        </p:sp>
        <p:sp>
          <p:nvSpPr>
            <p:cNvPr id="792" name="圆角矩形 791">
              <a:extLst>
                <a:ext uri="{FF2B5EF4-FFF2-40B4-BE49-F238E27FC236}">
                  <a16:creationId xmlns:a16="http://schemas.microsoft.com/office/drawing/2014/main" id="{347FE470-B5E1-C366-239F-6ECCB08FAEE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626596" y="5764530"/>
              <a:ext cx="7274598" cy="608965"/>
            </a:xfrm>
            <a:prstGeom prst="roundRect">
              <a:avLst>
                <a:gd name="adj" fmla="val 5463"/>
              </a:avLst>
            </a:prstGeom>
            <a:noFill/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793" name="圆角矩形 59">
              <a:extLst>
                <a:ext uri="{FF2B5EF4-FFF2-40B4-BE49-F238E27FC236}">
                  <a16:creationId xmlns:a16="http://schemas.microsoft.com/office/drawing/2014/main" id="{EEFA4CB0-C8B7-316A-B631-7510AC827FD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909184" y="3646805"/>
              <a:ext cx="670718" cy="2037715"/>
            </a:xfrm>
            <a:prstGeom prst="roundRect">
              <a:avLst>
                <a:gd name="adj" fmla="val 6469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2AF4E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智能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2AF4E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算力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2AF4E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2AF4E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调度</a:t>
              </a:r>
            </a:p>
          </p:txBody>
        </p:sp>
        <p:sp>
          <p:nvSpPr>
            <p:cNvPr id="794" name="圆角矩形 59">
              <a:extLst>
                <a:ext uri="{FF2B5EF4-FFF2-40B4-BE49-F238E27FC236}">
                  <a16:creationId xmlns:a16="http://schemas.microsoft.com/office/drawing/2014/main" id="{DBB478B9-AC32-39E8-1838-CE1806E0D28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3699777" y="5297805"/>
              <a:ext cx="4716311" cy="272415"/>
            </a:xfrm>
            <a:prstGeom prst="rect">
              <a:avLst/>
            </a:prstGeom>
            <a:noFill/>
            <a:ln w="6350" cap="flat" cmpd="sng" algn="ctr">
              <a:solidFill>
                <a:srgbClr val="338EFE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lIns="36000" tIns="43200" rIns="36000" bIns="432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Noto Sans SC" panose="020B0A00000000000000" pitchFamily="34" charset="-128"/>
                <a:ea typeface="맑은 고딕" panose="020B0503020000020004" pitchFamily="34" charset="-127"/>
                <a:cs typeface="Arial" panose="020B0604020202090204" pitchFamily="34" charset="0"/>
              </a:endParaRPr>
            </a:p>
          </p:txBody>
        </p:sp>
        <p:grpSp>
          <p:nvGrpSpPr>
            <p:cNvPr id="795" name="组合 794">
              <a:extLst>
                <a:ext uri="{FF2B5EF4-FFF2-40B4-BE49-F238E27FC236}">
                  <a16:creationId xmlns:a16="http://schemas.microsoft.com/office/drawing/2014/main" id="{EDB39C4F-EC92-80A3-26F8-2B0BDF435BB1}"/>
                </a:ext>
              </a:extLst>
            </p:cNvPr>
            <p:cNvGrpSpPr/>
            <p:nvPr/>
          </p:nvGrpSpPr>
          <p:grpSpPr>
            <a:xfrm>
              <a:off x="5010876" y="5348053"/>
              <a:ext cx="763179" cy="158115"/>
              <a:chOff x="3766" y="6580"/>
              <a:chExt cx="11390" cy="2140"/>
            </a:xfrm>
          </p:grpSpPr>
          <p:pic>
            <p:nvPicPr>
              <p:cNvPr id="902" name="图片 901">
                <a:extLst>
                  <a:ext uri="{FF2B5EF4-FFF2-40B4-BE49-F238E27FC236}">
                    <a16:creationId xmlns:a16="http://schemas.microsoft.com/office/drawing/2014/main" id="{8BFC48D6-FE34-BC28-8E74-7DA17105ECF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8"/>
                </p:custDataLst>
              </p:nvPr>
            </p:nvPicPr>
            <p:blipFill>
              <a:blip r:embed="rId127"/>
              <a:stretch>
                <a:fillRect/>
              </a:stretch>
            </p:blipFill>
            <p:spPr>
              <a:xfrm>
                <a:off x="3766" y="6580"/>
                <a:ext cx="2207" cy="2141"/>
              </a:xfrm>
              <a:prstGeom prst="rect">
                <a:avLst/>
              </a:prstGeom>
            </p:spPr>
          </p:pic>
          <p:pic>
            <p:nvPicPr>
              <p:cNvPr id="903" name="图片 902" descr="name_white">
                <a:extLst>
                  <a:ext uri="{FF2B5EF4-FFF2-40B4-BE49-F238E27FC236}">
                    <a16:creationId xmlns:a16="http://schemas.microsoft.com/office/drawing/2014/main" id="{233CF003-924C-4233-A0A4-5E569A4C04F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9"/>
                </p:custDataLst>
              </p:nvPr>
            </p:nvPicPr>
            <p:blipFill>
              <a:blip r:embed="rId128">
                <a:extLst>
                  <a:ext uri="{BEBA8EAE-BF5A-486C-A8C5-ECC9F3942E4B}">
                    <a14:imgProps xmlns:a14="http://schemas.microsoft.com/office/drawing/2010/main">
                      <a14:imgLayer r:embed="rId129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622" y="7018"/>
                <a:ext cx="8534" cy="1264"/>
              </a:xfrm>
              <a:prstGeom prst="rect">
                <a:avLst/>
              </a:prstGeom>
            </p:spPr>
          </p:pic>
        </p:grpSp>
        <p:sp>
          <p:nvSpPr>
            <p:cNvPr id="796" name="圆角矩形 59">
              <a:extLst>
                <a:ext uri="{FF2B5EF4-FFF2-40B4-BE49-F238E27FC236}">
                  <a16:creationId xmlns:a16="http://schemas.microsoft.com/office/drawing/2014/main" id="{47F267B9-4EA8-BD23-552F-9B04ED45253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622968" y="1450340"/>
              <a:ext cx="600547" cy="4234815"/>
            </a:xfrm>
            <a:prstGeom prst="roundRect">
              <a:avLst>
                <a:gd name="adj" fmla="val 6469"/>
              </a:avLst>
            </a:prstGeom>
            <a:noFill/>
            <a:ln w="9525" cap="flat" cmpd="sng" algn="ctr">
              <a:solidFill>
                <a:srgbClr val="11D05C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C475">
                      <a:alpha val="11392"/>
                    </a:srgbClr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797" name="文本框 796">
              <a:extLst>
                <a:ext uri="{FF2B5EF4-FFF2-40B4-BE49-F238E27FC236}">
                  <a16:creationId xmlns:a16="http://schemas.microsoft.com/office/drawing/2014/main" id="{50794AC0-3FE0-2739-ECF6-2D6EBA07EFE7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5844042" y="5328819"/>
              <a:ext cx="1756590" cy="2406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AI</a:t>
              </a: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 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 </a:t>
              </a: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算力调度的事实标准</a:t>
              </a:r>
            </a:p>
          </p:txBody>
        </p:sp>
        <p:sp>
          <p:nvSpPr>
            <p:cNvPr id="798" name="文本框 797">
              <a:extLst>
                <a:ext uri="{FF2B5EF4-FFF2-40B4-BE49-F238E27FC236}">
                  <a16:creationId xmlns:a16="http://schemas.microsoft.com/office/drawing/2014/main" id="{CC6983C8-9544-57C0-B65F-C7CABC1BD687}"/>
                </a:ext>
              </a:extLst>
            </p:cNvPr>
            <p:cNvSpPr txBox="1"/>
            <p:nvPr/>
          </p:nvSpPr>
          <p:spPr>
            <a:xfrm>
              <a:off x="2769353" y="5026999"/>
              <a:ext cx="1096955" cy="468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算力资源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12AF4E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池化</a:t>
              </a:r>
            </a:p>
          </p:txBody>
        </p:sp>
        <p:grpSp>
          <p:nvGrpSpPr>
            <p:cNvPr id="799" name="组合 798">
              <a:extLst>
                <a:ext uri="{FF2B5EF4-FFF2-40B4-BE49-F238E27FC236}">
                  <a16:creationId xmlns:a16="http://schemas.microsoft.com/office/drawing/2014/main" id="{633D1D76-1A5C-2CFF-19A9-B9BAA686C504}"/>
                </a:ext>
              </a:extLst>
            </p:cNvPr>
            <p:cNvGrpSpPr/>
            <p:nvPr/>
          </p:nvGrpSpPr>
          <p:grpSpPr>
            <a:xfrm>
              <a:off x="3713834" y="4859296"/>
              <a:ext cx="1366778" cy="385445"/>
              <a:chOff x="6769" y="7602"/>
              <a:chExt cx="2244" cy="607"/>
            </a:xfrm>
          </p:grpSpPr>
          <p:sp>
            <p:nvSpPr>
              <p:cNvPr id="899" name="矩形 898">
                <a:extLst>
                  <a:ext uri="{FF2B5EF4-FFF2-40B4-BE49-F238E27FC236}">
                    <a16:creationId xmlns:a16="http://schemas.microsoft.com/office/drawing/2014/main" id="{B7EA2575-1E61-21FF-6A45-D8CDE7FF011C}"/>
                  </a:ext>
                </a:extLst>
              </p:cNvPr>
              <p:cNvSpPr/>
              <p:nvPr>
                <p:custDataLst>
                  <p:tags r:id="rId95"/>
                </p:custDataLst>
              </p:nvPr>
            </p:nvSpPr>
            <p:spPr>
              <a:xfrm>
                <a:off x="6769" y="7602"/>
                <a:ext cx="2244" cy="607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15D2E397-CD88-9D26-3EC3-EFFE43236A50}"/>
                  </a:ext>
                </a:extLst>
              </p:cNvPr>
              <p:cNvSpPr txBox="1"/>
              <p:nvPr>
                <p:custDataLst>
                  <p:tags r:id="rId96"/>
                </p:custDataLst>
              </p:nvPr>
            </p:nvSpPr>
            <p:spPr>
              <a:xfrm>
                <a:off x="6937" y="7673"/>
                <a:ext cx="1900" cy="2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异构计算</a:t>
                </a:r>
              </a:p>
            </p:txBody>
          </p:sp>
          <p:sp>
            <p:nvSpPr>
              <p:cNvPr id="901" name="矩形 900">
                <a:extLst>
                  <a:ext uri="{FF2B5EF4-FFF2-40B4-BE49-F238E27FC236}">
                    <a16:creationId xmlns:a16="http://schemas.microsoft.com/office/drawing/2014/main" id="{3D68C84C-9A56-9713-917B-62768A710E37}"/>
                  </a:ext>
                </a:extLst>
              </p:cNvPr>
              <p:cNvSpPr/>
              <p:nvPr>
                <p:custDataLst>
                  <p:tags r:id="rId97"/>
                </p:custDataLst>
              </p:nvPr>
            </p:nvSpPr>
            <p:spPr>
              <a:xfrm>
                <a:off x="6863" y="7894"/>
                <a:ext cx="2046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DRA</a:t>
                </a:r>
              </a:p>
            </p:txBody>
          </p:sp>
        </p:grpSp>
        <p:sp>
          <p:nvSpPr>
            <p:cNvPr id="800" name="文本框 799">
              <a:extLst>
                <a:ext uri="{FF2B5EF4-FFF2-40B4-BE49-F238E27FC236}">
                  <a16:creationId xmlns:a16="http://schemas.microsoft.com/office/drawing/2014/main" id="{AD1FF5FA-5EF9-B03B-5D04-B8C6621169FE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2751925" y="4352989"/>
              <a:ext cx="971740" cy="468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算力资源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12AF4E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优化</a:t>
              </a:r>
            </a:p>
          </p:txBody>
        </p:sp>
        <p:sp>
          <p:nvSpPr>
            <p:cNvPr id="801" name="文本框 800">
              <a:extLst>
                <a:ext uri="{FF2B5EF4-FFF2-40B4-BE49-F238E27FC236}">
                  <a16:creationId xmlns:a16="http://schemas.microsoft.com/office/drawing/2014/main" id="{0E0094F3-CE80-420B-DEF0-174304882E8C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3810875" y="4358048"/>
              <a:ext cx="1157254" cy="16256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GPU </a:t>
              </a: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共享</a:t>
              </a:r>
            </a:p>
          </p:txBody>
        </p:sp>
        <p:sp>
          <p:nvSpPr>
            <p:cNvPr id="802" name="矩形 801">
              <a:extLst>
                <a:ext uri="{FF2B5EF4-FFF2-40B4-BE49-F238E27FC236}">
                  <a16:creationId xmlns:a16="http://schemas.microsoft.com/office/drawing/2014/main" id="{6DDAA114-CA81-5923-A850-EB6D57A1F9C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785394" y="4506739"/>
              <a:ext cx="1246180" cy="154305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C4C4C">
                      <a:alpha val="94000"/>
                    </a:srgbClr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HAMi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 </a:t>
              </a: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/ MIG</a:t>
              </a:r>
            </a:p>
          </p:txBody>
        </p:sp>
        <p:sp>
          <p:nvSpPr>
            <p:cNvPr id="803" name="文本框 802">
              <a:extLst>
                <a:ext uri="{FF2B5EF4-FFF2-40B4-BE49-F238E27FC236}">
                  <a16:creationId xmlns:a16="http://schemas.microsoft.com/office/drawing/2014/main" id="{E644D242-401F-D147-69FE-D1DFD858978C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7002123" y="4358048"/>
              <a:ext cx="1157254" cy="16256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GPU </a:t>
              </a: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管理</a:t>
              </a:r>
            </a:p>
          </p:txBody>
        </p:sp>
        <p:sp>
          <p:nvSpPr>
            <p:cNvPr id="804" name="矩形 803">
              <a:extLst>
                <a:ext uri="{FF2B5EF4-FFF2-40B4-BE49-F238E27FC236}">
                  <a16:creationId xmlns:a16="http://schemas.microsoft.com/office/drawing/2014/main" id="{D03C3603-2362-14B9-D557-B13681A01F5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639688" y="4500810"/>
              <a:ext cx="1828356" cy="208391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C4C4C">
                      <a:alpha val="94000"/>
                    </a:srgbClr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rPr>
                <a:t>GPU Operator/ Network Operator</a:t>
              </a:r>
            </a:p>
          </p:txBody>
        </p:sp>
        <p:grpSp>
          <p:nvGrpSpPr>
            <p:cNvPr id="805" name="组合 804">
              <a:extLst>
                <a:ext uri="{FF2B5EF4-FFF2-40B4-BE49-F238E27FC236}">
                  <a16:creationId xmlns:a16="http://schemas.microsoft.com/office/drawing/2014/main" id="{0476DCCD-1950-9870-8E98-605A700ECD80}"/>
                </a:ext>
              </a:extLst>
            </p:cNvPr>
            <p:cNvGrpSpPr/>
            <p:nvPr/>
          </p:nvGrpSpPr>
          <p:grpSpPr>
            <a:xfrm>
              <a:off x="3745945" y="3745230"/>
              <a:ext cx="1163345" cy="385445"/>
              <a:chOff x="7061" y="5858"/>
              <a:chExt cx="1910" cy="607"/>
            </a:xfrm>
          </p:grpSpPr>
          <p:sp>
            <p:nvSpPr>
              <p:cNvPr id="896" name="矩形 895">
                <a:extLst>
                  <a:ext uri="{FF2B5EF4-FFF2-40B4-BE49-F238E27FC236}">
                    <a16:creationId xmlns:a16="http://schemas.microsoft.com/office/drawing/2014/main" id="{4DD7C39C-38B6-C222-D27C-77AB37E6371E}"/>
                  </a:ext>
                </a:extLst>
              </p:cNvPr>
              <p:cNvSpPr/>
              <p:nvPr>
                <p:custDataLst>
                  <p:tags r:id="rId92"/>
                </p:custDataLst>
              </p:nvPr>
            </p:nvSpPr>
            <p:spPr>
              <a:xfrm>
                <a:off x="7061" y="5858"/>
                <a:ext cx="1847" cy="607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A29A4B46-7918-EE95-AF3B-63B92A4D4EEA}"/>
                  </a:ext>
                </a:extLst>
              </p:cNvPr>
              <p:cNvSpPr txBox="1"/>
              <p:nvPr>
                <p:custDataLst>
                  <p:tags r:id="rId93"/>
                </p:custDataLst>
              </p:nvPr>
            </p:nvSpPr>
            <p:spPr>
              <a:xfrm>
                <a:off x="7305" y="5901"/>
                <a:ext cx="1666" cy="31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作业队列调度</a:t>
                </a:r>
              </a:p>
            </p:txBody>
          </p:sp>
          <p:sp>
            <p:nvSpPr>
              <p:cNvPr id="898" name="矩形 897">
                <a:extLst>
                  <a:ext uri="{FF2B5EF4-FFF2-40B4-BE49-F238E27FC236}">
                    <a16:creationId xmlns:a16="http://schemas.microsoft.com/office/drawing/2014/main" id="{69918C6E-CB1C-9E2A-109E-21B293C87F9D}"/>
                  </a:ext>
                </a:extLst>
              </p:cNvPr>
              <p:cNvSpPr/>
              <p:nvPr>
                <p:custDataLst>
                  <p:tags r:id="rId94"/>
                </p:custDataLst>
              </p:nvPr>
            </p:nvSpPr>
            <p:spPr>
              <a:xfrm>
                <a:off x="7190" y="6109"/>
                <a:ext cx="1615" cy="35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Kueue/Volcano</a:t>
                </a:r>
                <a:endPara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endParaRPr>
              </a:p>
            </p:txBody>
          </p:sp>
        </p:grpSp>
        <p:grpSp>
          <p:nvGrpSpPr>
            <p:cNvPr id="806" name="组合 805">
              <a:extLst>
                <a:ext uri="{FF2B5EF4-FFF2-40B4-BE49-F238E27FC236}">
                  <a16:creationId xmlns:a16="http://schemas.microsoft.com/office/drawing/2014/main" id="{3E8C2387-449B-400E-9505-F3D993A96448}"/>
                </a:ext>
              </a:extLst>
            </p:cNvPr>
            <p:cNvGrpSpPr/>
            <p:nvPr/>
          </p:nvGrpSpPr>
          <p:grpSpPr>
            <a:xfrm>
              <a:off x="6223919" y="3745230"/>
              <a:ext cx="1109745" cy="382270"/>
              <a:chOff x="15620" y="5863"/>
              <a:chExt cx="1822" cy="602"/>
            </a:xfrm>
          </p:grpSpPr>
          <p:sp>
            <p:nvSpPr>
              <p:cNvPr id="893" name="矩形 892">
                <a:extLst>
                  <a:ext uri="{FF2B5EF4-FFF2-40B4-BE49-F238E27FC236}">
                    <a16:creationId xmlns:a16="http://schemas.microsoft.com/office/drawing/2014/main" id="{4F242D31-B7D2-6225-A9B4-0CB7AE175258}"/>
                  </a:ext>
                </a:extLst>
              </p:cNvPr>
              <p:cNvSpPr/>
              <p:nvPr>
                <p:custDataLst>
                  <p:tags r:id="rId89"/>
                </p:custDataLst>
              </p:nvPr>
            </p:nvSpPr>
            <p:spPr>
              <a:xfrm>
                <a:off x="15620" y="5863"/>
                <a:ext cx="1603" cy="602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94" name="文本框 893">
                <a:extLst>
                  <a:ext uri="{FF2B5EF4-FFF2-40B4-BE49-F238E27FC236}">
                    <a16:creationId xmlns:a16="http://schemas.microsoft.com/office/drawing/2014/main" id="{4FB29307-F946-B7B3-F2C1-0EB535F31D65}"/>
                  </a:ext>
                </a:extLst>
              </p:cNvPr>
              <p:cNvSpPr txBox="1"/>
              <p:nvPr>
                <p:custDataLst>
                  <p:tags r:id="rId90"/>
                </p:custDataLst>
              </p:nvPr>
            </p:nvSpPr>
            <p:spPr>
              <a:xfrm>
                <a:off x="15648" y="5927"/>
                <a:ext cx="1794" cy="32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分布式推理调度</a:t>
                </a:r>
              </a:p>
            </p:txBody>
          </p:sp>
          <p:sp>
            <p:nvSpPr>
              <p:cNvPr id="895" name="矩形 894">
                <a:extLst>
                  <a:ext uri="{FF2B5EF4-FFF2-40B4-BE49-F238E27FC236}">
                    <a16:creationId xmlns:a16="http://schemas.microsoft.com/office/drawing/2014/main" id="{AB786D06-B00B-EDB9-F6AB-D7507A3B7162}"/>
                  </a:ext>
                </a:extLst>
              </p:cNvPr>
              <p:cNvSpPr/>
              <p:nvPr>
                <p:custDataLst>
                  <p:tags r:id="rId91"/>
                </p:custDataLst>
              </p:nvPr>
            </p:nvSpPr>
            <p:spPr>
              <a:xfrm>
                <a:off x="15685" y="6166"/>
                <a:ext cx="1459" cy="267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LWS</a:t>
                </a:r>
              </a:p>
            </p:txBody>
          </p:sp>
        </p:grpSp>
        <p:sp>
          <p:nvSpPr>
            <p:cNvPr id="807" name="文本框 806">
              <a:extLst>
                <a:ext uri="{FF2B5EF4-FFF2-40B4-BE49-F238E27FC236}">
                  <a16:creationId xmlns:a16="http://schemas.microsoft.com/office/drawing/2014/main" id="{5783B96B-6D50-BABF-3AEC-0CC92750C5B8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2759435" y="3770429"/>
              <a:ext cx="964230" cy="468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算力感知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12AF4E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调度</a:t>
              </a:r>
            </a:p>
          </p:txBody>
        </p:sp>
        <p:sp>
          <p:nvSpPr>
            <p:cNvPr id="808" name="圆角矩形 59">
              <a:extLst>
                <a:ext uri="{FF2B5EF4-FFF2-40B4-BE49-F238E27FC236}">
                  <a16:creationId xmlns:a16="http://schemas.microsoft.com/office/drawing/2014/main" id="{CEBFFF70-7353-A423-B8AD-4137558640D2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965650" y="635635"/>
              <a:ext cx="572329" cy="676275"/>
            </a:xfrm>
            <a:prstGeom prst="roundRect">
              <a:avLst>
                <a:gd name="adj" fmla="val 6469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应用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场景</a:t>
              </a:r>
            </a:p>
          </p:txBody>
        </p:sp>
        <p:sp>
          <p:nvSpPr>
            <p:cNvPr id="809" name="圆角矩形 808">
              <a:extLst>
                <a:ext uri="{FF2B5EF4-FFF2-40B4-BE49-F238E27FC236}">
                  <a16:creationId xmlns:a16="http://schemas.microsoft.com/office/drawing/2014/main" id="{897A391E-26B7-4489-04BC-99F8785667E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876800" y="635635"/>
              <a:ext cx="5024393" cy="676910"/>
            </a:xfrm>
            <a:prstGeom prst="roundRect">
              <a:avLst>
                <a:gd name="adj" fmla="val 5463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pic>
          <p:nvPicPr>
            <p:cNvPr id="810" name="图片 809">
              <a:extLst>
                <a:ext uri="{FF2B5EF4-FFF2-40B4-BE49-F238E27FC236}">
                  <a16:creationId xmlns:a16="http://schemas.microsoft.com/office/drawing/2014/main" id="{9023D2A4-AEEF-4C92-FD67-ECAA041E2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143334" y="755825"/>
              <a:ext cx="302610" cy="302610"/>
            </a:xfrm>
            <a:prstGeom prst="rect">
              <a:avLst/>
            </a:prstGeom>
          </p:spPr>
        </p:pic>
        <p:pic>
          <p:nvPicPr>
            <p:cNvPr id="811" name="图片 810">
              <a:extLst>
                <a:ext uri="{FF2B5EF4-FFF2-40B4-BE49-F238E27FC236}">
                  <a16:creationId xmlns:a16="http://schemas.microsoft.com/office/drawing/2014/main" id="{884896D6-1C50-EE2C-1552-6C757D4A5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963049" y="758507"/>
              <a:ext cx="284480" cy="284480"/>
            </a:xfrm>
            <a:prstGeom prst="rect">
              <a:avLst/>
            </a:prstGeom>
          </p:spPr>
        </p:pic>
        <p:pic>
          <p:nvPicPr>
            <p:cNvPr id="812" name="图片 811">
              <a:extLst>
                <a:ext uri="{FF2B5EF4-FFF2-40B4-BE49-F238E27FC236}">
                  <a16:creationId xmlns:a16="http://schemas.microsoft.com/office/drawing/2014/main" id="{5A5BD221-E083-59EC-6656-8A07734E8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164130" y="741332"/>
              <a:ext cx="312859" cy="312859"/>
            </a:xfrm>
            <a:prstGeom prst="rect">
              <a:avLst/>
            </a:prstGeom>
          </p:spPr>
        </p:pic>
        <p:sp>
          <p:nvSpPr>
            <p:cNvPr id="813" name="文本框 812">
              <a:extLst>
                <a:ext uri="{FF2B5EF4-FFF2-40B4-BE49-F238E27FC236}">
                  <a16:creationId xmlns:a16="http://schemas.microsoft.com/office/drawing/2014/main" id="{182F68F1-709A-65B0-4C50-A94C12FC78A2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9285330" y="884986"/>
              <a:ext cx="441784" cy="164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···</a:t>
              </a:r>
            </a:p>
          </p:txBody>
        </p:sp>
        <p:sp>
          <p:nvSpPr>
            <p:cNvPr id="814" name="文本框 813">
              <a:extLst>
                <a:ext uri="{FF2B5EF4-FFF2-40B4-BE49-F238E27FC236}">
                  <a16:creationId xmlns:a16="http://schemas.microsoft.com/office/drawing/2014/main" id="{ED9DD7EA-96B8-61FA-C48A-C83C0EE36125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4996290" y="1039337"/>
              <a:ext cx="650874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金融</a:t>
              </a:r>
            </a:p>
          </p:txBody>
        </p:sp>
        <p:pic>
          <p:nvPicPr>
            <p:cNvPr id="815" name="图片 814">
              <a:extLst>
                <a:ext uri="{FF2B5EF4-FFF2-40B4-BE49-F238E27FC236}">
                  <a16:creationId xmlns:a16="http://schemas.microsoft.com/office/drawing/2014/main" id="{F16EBB2A-7CA4-2734-58AB-2AF6D738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731795" y="746279"/>
              <a:ext cx="319405" cy="319305"/>
            </a:xfrm>
            <a:prstGeom prst="rect">
              <a:avLst/>
            </a:prstGeom>
          </p:spPr>
        </p:pic>
        <p:sp>
          <p:nvSpPr>
            <p:cNvPr id="816" name="文本框 815">
              <a:extLst>
                <a:ext uri="{FF2B5EF4-FFF2-40B4-BE49-F238E27FC236}">
                  <a16:creationId xmlns:a16="http://schemas.microsoft.com/office/drawing/2014/main" id="{A0364BF2-6B17-F836-2B6C-183FB814F27B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8578761" y="1039370"/>
              <a:ext cx="650874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医疗</a:t>
              </a:r>
            </a:p>
          </p:txBody>
        </p:sp>
        <p:sp>
          <p:nvSpPr>
            <p:cNvPr id="817" name="文本框 816">
              <a:extLst>
                <a:ext uri="{FF2B5EF4-FFF2-40B4-BE49-F238E27FC236}">
                  <a16:creationId xmlns:a16="http://schemas.microsoft.com/office/drawing/2014/main" id="{3C7B3F72-1729-0BA4-A5F6-F4A0923D6024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6781121" y="1039337"/>
              <a:ext cx="650874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科研</a:t>
              </a:r>
            </a:p>
          </p:txBody>
        </p:sp>
        <p:pic>
          <p:nvPicPr>
            <p:cNvPr id="818" name="图片 817">
              <a:extLst>
                <a:ext uri="{FF2B5EF4-FFF2-40B4-BE49-F238E27FC236}">
                  <a16:creationId xmlns:a16="http://schemas.microsoft.com/office/drawing/2014/main" id="{A379762C-733B-D4D3-6BA0-89CE5FC03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53960" y="742315"/>
              <a:ext cx="268605" cy="268605"/>
            </a:xfrm>
            <a:prstGeom prst="rect">
              <a:avLst/>
            </a:prstGeom>
          </p:spPr>
        </p:pic>
        <p:sp>
          <p:nvSpPr>
            <p:cNvPr id="819" name="文本框 818">
              <a:extLst>
                <a:ext uri="{FF2B5EF4-FFF2-40B4-BE49-F238E27FC236}">
                  <a16:creationId xmlns:a16="http://schemas.microsoft.com/office/drawing/2014/main" id="{3680D942-C99A-E4B4-0486-5A3E97C6BF89}"/>
                </a:ext>
              </a:extLst>
            </p:cNvPr>
            <p:cNvSpPr txBox="1"/>
            <p:nvPr>
              <p:custDataLst>
                <p:tags r:id="rId33"/>
              </p:custDataLst>
            </p:nvPr>
          </p:nvSpPr>
          <p:spPr>
            <a:xfrm>
              <a:off x="7372985" y="1039337"/>
              <a:ext cx="650874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制造</a:t>
              </a:r>
            </a:p>
          </p:txBody>
        </p:sp>
        <p:sp>
          <p:nvSpPr>
            <p:cNvPr id="820" name="文本框 819">
              <a:extLst>
                <a:ext uri="{FF2B5EF4-FFF2-40B4-BE49-F238E27FC236}">
                  <a16:creationId xmlns:a16="http://schemas.microsoft.com/office/drawing/2014/main" id="{8C44F561-1117-2BF5-4AF4-09DA10328B5F}"/>
                </a:ext>
              </a:extLst>
            </p:cNvPr>
            <p:cNvSpPr txBox="1"/>
            <p:nvPr>
              <p:custDataLst>
                <p:tags r:id="rId34"/>
              </p:custDataLst>
            </p:nvPr>
          </p:nvSpPr>
          <p:spPr>
            <a:xfrm>
              <a:off x="7966055" y="1039337"/>
              <a:ext cx="650874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政务</a:t>
              </a:r>
            </a:p>
          </p:txBody>
        </p:sp>
        <p:pic>
          <p:nvPicPr>
            <p:cNvPr id="821" name="图片 820">
              <a:extLst>
                <a:ext uri="{FF2B5EF4-FFF2-40B4-BE49-F238E27FC236}">
                  <a16:creationId xmlns:a16="http://schemas.microsoft.com/office/drawing/2014/main" id="{C317A294-4D0C-DE3B-DE8E-DCDA9B53B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399441" y="750569"/>
              <a:ext cx="319405" cy="319405"/>
            </a:xfrm>
            <a:prstGeom prst="rect">
              <a:avLst/>
            </a:prstGeom>
          </p:spPr>
        </p:pic>
        <p:sp>
          <p:nvSpPr>
            <p:cNvPr id="822" name="文本框 821">
              <a:extLst>
                <a:ext uri="{FF2B5EF4-FFF2-40B4-BE49-F238E27FC236}">
                  <a16:creationId xmlns:a16="http://schemas.microsoft.com/office/drawing/2014/main" id="{1E70117F-5454-1F50-B164-516926C27AB0}"/>
                </a:ext>
              </a:extLst>
            </p:cNvPr>
            <p:cNvSpPr txBox="1"/>
            <p:nvPr>
              <p:custDataLst>
                <p:tags r:id="rId35"/>
              </p:custDataLst>
            </p:nvPr>
          </p:nvSpPr>
          <p:spPr>
            <a:xfrm>
              <a:off x="6235612" y="1039337"/>
              <a:ext cx="650874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教育</a:t>
              </a:r>
            </a:p>
          </p:txBody>
        </p:sp>
        <p:pic>
          <p:nvPicPr>
            <p:cNvPr id="823" name="图片 822">
              <a:extLst>
                <a:ext uri="{FF2B5EF4-FFF2-40B4-BE49-F238E27FC236}">
                  <a16:creationId xmlns:a16="http://schemas.microsoft.com/office/drawing/2014/main" id="{8CC62ADE-B8D0-8F3E-FA04-FE4F7693A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72150" y="741045"/>
              <a:ext cx="307975" cy="307975"/>
            </a:xfrm>
            <a:prstGeom prst="rect">
              <a:avLst/>
            </a:prstGeom>
          </p:spPr>
        </p:pic>
        <p:sp>
          <p:nvSpPr>
            <p:cNvPr id="824" name="文本框 823">
              <a:extLst>
                <a:ext uri="{FF2B5EF4-FFF2-40B4-BE49-F238E27FC236}">
                  <a16:creationId xmlns:a16="http://schemas.microsoft.com/office/drawing/2014/main" id="{4601234E-FFFB-1515-6C3A-32F389DC53F5}"/>
                </a:ext>
              </a:extLst>
            </p:cNvPr>
            <p:cNvSpPr txBox="1"/>
            <p:nvPr>
              <p:custDataLst>
                <p:tags r:id="rId36"/>
              </p:custDataLst>
            </p:nvPr>
          </p:nvSpPr>
          <p:spPr>
            <a:xfrm>
              <a:off x="5606414" y="1039337"/>
              <a:ext cx="678160" cy="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自动驾驶</a:t>
              </a:r>
            </a:p>
          </p:txBody>
        </p:sp>
        <p:sp>
          <p:nvSpPr>
            <p:cNvPr id="825" name="文本框 824">
              <a:extLst>
                <a:ext uri="{FF2B5EF4-FFF2-40B4-BE49-F238E27FC236}">
                  <a16:creationId xmlns:a16="http://schemas.microsoft.com/office/drawing/2014/main" id="{8446B6CF-D32B-CBA2-1AE0-340A5313B63D}"/>
                </a:ext>
              </a:extLst>
            </p:cNvPr>
            <p:cNvSpPr txBox="1"/>
            <p:nvPr>
              <p:custDataLst>
                <p:tags r:id="rId37"/>
              </p:custDataLst>
            </p:nvPr>
          </p:nvSpPr>
          <p:spPr>
            <a:xfrm>
              <a:off x="8588354" y="1512142"/>
              <a:ext cx="676849" cy="2840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运维</a:t>
              </a:r>
              <a:endParaRPr kumimoji="0" lang="en-US" altLang="zh-CN" sz="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可观测</a:t>
              </a:r>
            </a:p>
          </p:txBody>
        </p:sp>
        <p:sp>
          <p:nvSpPr>
            <p:cNvPr id="826" name="虚尾箭头 64">
              <a:extLst>
                <a:ext uri="{FF2B5EF4-FFF2-40B4-BE49-F238E27FC236}">
                  <a16:creationId xmlns:a16="http://schemas.microsoft.com/office/drawing/2014/main" id="{4A4066AA-C13F-CFB2-8245-6ECE314BEE6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 rot="16200000">
              <a:off x="7649467" y="1266446"/>
              <a:ext cx="270631" cy="217805"/>
            </a:xfrm>
            <a:prstGeom prst="stripedRightArrow">
              <a:avLst/>
            </a:prstGeom>
            <a:gradFill rotWithShape="0">
              <a:gsLst>
                <a:gs pos="100000">
                  <a:srgbClr val="11D05C">
                    <a:lumMod val="40000"/>
                    <a:lumOff val="60000"/>
                    <a:alpha val="65000"/>
                  </a:srgbClr>
                </a:gs>
                <a:gs pos="0">
                  <a:srgbClr val="11D05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</a:endParaRPr>
            </a:p>
          </p:txBody>
        </p:sp>
        <p:sp>
          <p:nvSpPr>
            <p:cNvPr id="827" name="虚尾箭头 64">
              <a:extLst>
                <a:ext uri="{FF2B5EF4-FFF2-40B4-BE49-F238E27FC236}">
                  <a16:creationId xmlns:a16="http://schemas.microsoft.com/office/drawing/2014/main" id="{77584241-F658-8434-2DFA-7FA932F9B61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 rot="16200000">
              <a:off x="5693032" y="1257556"/>
              <a:ext cx="270631" cy="217805"/>
            </a:xfrm>
            <a:prstGeom prst="stripedRightArrow">
              <a:avLst/>
            </a:prstGeom>
            <a:gradFill rotWithShape="0">
              <a:gsLst>
                <a:gs pos="100000">
                  <a:srgbClr val="11D05C">
                    <a:lumMod val="40000"/>
                    <a:lumOff val="60000"/>
                    <a:alpha val="65000"/>
                  </a:srgbClr>
                </a:gs>
                <a:gs pos="0">
                  <a:srgbClr val="11D05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</a:endParaRPr>
            </a:p>
          </p:txBody>
        </p:sp>
        <p:sp>
          <p:nvSpPr>
            <p:cNvPr id="828" name="虚尾箭头 64">
              <a:extLst>
                <a:ext uri="{FF2B5EF4-FFF2-40B4-BE49-F238E27FC236}">
                  <a16:creationId xmlns:a16="http://schemas.microsoft.com/office/drawing/2014/main" id="{A88A4B12-C99A-D9C9-F05B-A40B6FA006F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 rot="16200000">
              <a:off x="3526631" y="1262220"/>
              <a:ext cx="279083" cy="217805"/>
            </a:xfrm>
            <a:prstGeom prst="stripedRightArrow">
              <a:avLst/>
            </a:prstGeom>
            <a:gradFill rotWithShape="0">
              <a:gsLst>
                <a:gs pos="100000">
                  <a:srgbClr val="11D05C">
                    <a:lumMod val="40000"/>
                    <a:lumOff val="60000"/>
                    <a:alpha val="65000"/>
                  </a:srgbClr>
                </a:gs>
                <a:gs pos="0">
                  <a:srgbClr val="11D05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</a:endParaRPr>
            </a:p>
          </p:txBody>
        </p:sp>
        <p:grpSp>
          <p:nvGrpSpPr>
            <p:cNvPr id="829" name="组合 828">
              <a:extLst>
                <a:ext uri="{FF2B5EF4-FFF2-40B4-BE49-F238E27FC236}">
                  <a16:creationId xmlns:a16="http://schemas.microsoft.com/office/drawing/2014/main" id="{505BC4FD-4F0A-4182-1A2A-918FB5939582}"/>
                </a:ext>
              </a:extLst>
            </p:cNvPr>
            <p:cNvGrpSpPr/>
            <p:nvPr/>
          </p:nvGrpSpPr>
          <p:grpSpPr>
            <a:xfrm>
              <a:off x="7292948" y="3757295"/>
              <a:ext cx="1133499" cy="378460"/>
              <a:chOff x="8110" y="5888"/>
              <a:chExt cx="1861" cy="596"/>
            </a:xfrm>
          </p:grpSpPr>
          <p:sp>
            <p:nvSpPr>
              <p:cNvPr id="890" name="矩形 889">
                <a:extLst>
                  <a:ext uri="{FF2B5EF4-FFF2-40B4-BE49-F238E27FC236}">
                    <a16:creationId xmlns:a16="http://schemas.microsoft.com/office/drawing/2014/main" id="{8FD5692F-9F52-A911-6700-2BAFB32CD667}"/>
                  </a:ext>
                </a:extLst>
              </p:cNvPr>
              <p:cNvSpPr/>
              <p:nvPr>
                <p:custDataLst>
                  <p:tags r:id="rId86"/>
                </p:custDataLst>
              </p:nvPr>
            </p:nvSpPr>
            <p:spPr>
              <a:xfrm>
                <a:off x="8110" y="5888"/>
                <a:ext cx="1861" cy="596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91" name="文本框 890">
                <a:extLst>
                  <a:ext uri="{FF2B5EF4-FFF2-40B4-BE49-F238E27FC236}">
                    <a16:creationId xmlns:a16="http://schemas.microsoft.com/office/drawing/2014/main" id="{3C4B0F38-9C51-0F81-D669-7F8E153CC6CE}"/>
                  </a:ext>
                </a:extLst>
              </p:cNvPr>
              <p:cNvSpPr txBox="1"/>
              <p:nvPr>
                <p:custDataLst>
                  <p:tags r:id="rId87"/>
                </p:custDataLst>
              </p:nvPr>
            </p:nvSpPr>
            <p:spPr>
              <a:xfrm>
                <a:off x="8136" y="5933"/>
                <a:ext cx="1835" cy="34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分布式训练调度</a:t>
                </a:r>
              </a:p>
            </p:txBody>
          </p:sp>
          <p:sp>
            <p:nvSpPr>
              <p:cNvPr id="892" name="矩形 891">
                <a:extLst>
                  <a:ext uri="{FF2B5EF4-FFF2-40B4-BE49-F238E27FC236}">
                    <a16:creationId xmlns:a16="http://schemas.microsoft.com/office/drawing/2014/main" id="{9B6723EA-DECC-9028-F605-460EB3147E02}"/>
                  </a:ext>
                </a:extLst>
              </p:cNvPr>
              <p:cNvSpPr/>
              <p:nvPr>
                <p:custDataLst>
                  <p:tags r:id="rId88"/>
                </p:custDataLst>
              </p:nvPr>
            </p:nvSpPr>
            <p:spPr>
              <a:xfrm>
                <a:off x="8340" y="6147"/>
                <a:ext cx="1407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Job Set</a:t>
                </a:r>
              </a:p>
            </p:txBody>
          </p:sp>
        </p:grpSp>
        <p:grpSp>
          <p:nvGrpSpPr>
            <p:cNvPr id="830" name="组合 829">
              <a:extLst>
                <a:ext uri="{FF2B5EF4-FFF2-40B4-BE49-F238E27FC236}">
                  <a16:creationId xmlns:a16="http://schemas.microsoft.com/office/drawing/2014/main" id="{227AADD1-1D76-BAAE-B032-E2A52150D6E5}"/>
                </a:ext>
              </a:extLst>
            </p:cNvPr>
            <p:cNvGrpSpPr/>
            <p:nvPr/>
          </p:nvGrpSpPr>
          <p:grpSpPr>
            <a:xfrm>
              <a:off x="5144655" y="4862830"/>
              <a:ext cx="1480676" cy="385445"/>
              <a:chOff x="6559" y="7602"/>
              <a:chExt cx="2431" cy="607"/>
            </a:xfrm>
          </p:grpSpPr>
          <p:sp>
            <p:nvSpPr>
              <p:cNvPr id="887" name="矩形 886">
                <a:extLst>
                  <a:ext uri="{FF2B5EF4-FFF2-40B4-BE49-F238E27FC236}">
                    <a16:creationId xmlns:a16="http://schemas.microsoft.com/office/drawing/2014/main" id="{DB43A5AB-057F-D4FB-FA55-C8991F63F83D}"/>
                  </a:ext>
                </a:extLst>
              </p:cNvPr>
              <p:cNvSpPr/>
              <p:nvPr>
                <p:custDataLst>
                  <p:tags r:id="rId83"/>
                </p:custDataLst>
              </p:nvPr>
            </p:nvSpPr>
            <p:spPr>
              <a:xfrm>
                <a:off x="6559" y="7602"/>
                <a:ext cx="2431" cy="607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88" name="文本框 887">
                <a:extLst>
                  <a:ext uri="{FF2B5EF4-FFF2-40B4-BE49-F238E27FC236}">
                    <a16:creationId xmlns:a16="http://schemas.microsoft.com/office/drawing/2014/main" id="{B68B658A-597F-93B8-B1F1-A789D3AC06D7}"/>
                  </a:ext>
                </a:extLst>
              </p:cNvPr>
              <p:cNvSpPr txBox="1"/>
              <p:nvPr>
                <p:custDataLst>
                  <p:tags r:id="rId84"/>
                </p:custDataLst>
              </p:nvPr>
            </p:nvSpPr>
            <p:spPr>
              <a:xfrm>
                <a:off x="6815" y="7653"/>
                <a:ext cx="1900" cy="2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+mn-ea"/>
                  </a:rPr>
                  <a:t>高性能网络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endParaRPr>
              </a:p>
            </p:txBody>
          </p:sp>
          <p:sp>
            <p:nvSpPr>
              <p:cNvPr id="889" name="矩形 888">
                <a:extLst>
                  <a:ext uri="{FF2B5EF4-FFF2-40B4-BE49-F238E27FC236}">
                    <a16:creationId xmlns:a16="http://schemas.microsoft.com/office/drawing/2014/main" id="{A9817EBE-AA7D-13BA-5791-8318CDFBE56D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>
              <a:xfrm>
                <a:off x="6742" y="7900"/>
                <a:ext cx="2046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NVLink/RDMA</a:t>
                </a:r>
              </a:p>
            </p:txBody>
          </p:sp>
        </p:grpSp>
        <p:grpSp>
          <p:nvGrpSpPr>
            <p:cNvPr id="831" name="组合 830">
              <a:extLst>
                <a:ext uri="{FF2B5EF4-FFF2-40B4-BE49-F238E27FC236}">
                  <a16:creationId xmlns:a16="http://schemas.microsoft.com/office/drawing/2014/main" id="{E46BA1A0-8DE8-B2DF-A998-0DD4B1213206}"/>
                </a:ext>
              </a:extLst>
            </p:cNvPr>
            <p:cNvGrpSpPr/>
            <p:nvPr/>
          </p:nvGrpSpPr>
          <p:grpSpPr>
            <a:xfrm>
              <a:off x="6706105" y="4870809"/>
              <a:ext cx="1710300" cy="385445"/>
              <a:chOff x="6232" y="7602"/>
              <a:chExt cx="2808" cy="607"/>
            </a:xfrm>
          </p:grpSpPr>
          <p:sp>
            <p:nvSpPr>
              <p:cNvPr id="884" name="矩形 883">
                <a:extLst>
                  <a:ext uri="{FF2B5EF4-FFF2-40B4-BE49-F238E27FC236}">
                    <a16:creationId xmlns:a16="http://schemas.microsoft.com/office/drawing/2014/main" id="{366C0067-3284-BAB1-EBF5-4BDCBB6B65C9}"/>
                  </a:ext>
                </a:extLst>
              </p:cNvPr>
              <p:cNvSpPr/>
              <p:nvPr>
                <p:custDataLst>
                  <p:tags r:id="rId80"/>
                </p:custDataLst>
              </p:nvPr>
            </p:nvSpPr>
            <p:spPr>
              <a:xfrm>
                <a:off x="6232" y="7602"/>
                <a:ext cx="2808" cy="607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85" name="文本框 884">
                <a:extLst>
                  <a:ext uri="{FF2B5EF4-FFF2-40B4-BE49-F238E27FC236}">
                    <a16:creationId xmlns:a16="http://schemas.microsoft.com/office/drawing/2014/main" id="{5DE57285-9E9B-48D2-9CB2-ABC1DFE06666}"/>
                  </a:ext>
                </a:extLst>
              </p:cNvPr>
              <p:cNvSpPr txBox="1"/>
              <p:nvPr>
                <p:custDataLst>
                  <p:tags r:id="rId81"/>
                </p:custDataLst>
              </p:nvPr>
            </p:nvSpPr>
            <p:spPr>
              <a:xfrm>
                <a:off x="6703" y="7655"/>
                <a:ext cx="1900" cy="2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+mn-ea"/>
                  </a:rPr>
                  <a:t>高速分布式存储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endParaRPr>
              </a:p>
            </p:txBody>
          </p:sp>
          <p:sp>
            <p:nvSpPr>
              <p:cNvPr id="886" name="矩形 885">
                <a:extLst>
                  <a:ext uri="{FF2B5EF4-FFF2-40B4-BE49-F238E27FC236}">
                    <a16:creationId xmlns:a16="http://schemas.microsoft.com/office/drawing/2014/main" id="{865006CD-4BE0-6C1C-CFCF-7D7BC2950B57}"/>
                  </a:ext>
                </a:extLst>
              </p:cNvPr>
              <p:cNvSpPr/>
              <p:nvPr>
                <p:custDataLst>
                  <p:tags r:id="rId82"/>
                </p:custDataLst>
              </p:nvPr>
            </p:nvSpPr>
            <p:spPr>
              <a:xfrm>
                <a:off x="6630" y="7902"/>
                <a:ext cx="2046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Lustre/Hwameistor</a:t>
                </a:r>
              </a:p>
            </p:txBody>
          </p:sp>
        </p:grpSp>
        <p:grpSp>
          <p:nvGrpSpPr>
            <p:cNvPr id="832" name="组合 831">
              <a:extLst>
                <a:ext uri="{FF2B5EF4-FFF2-40B4-BE49-F238E27FC236}">
                  <a16:creationId xmlns:a16="http://schemas.microsoft.com/office/drawing/2014/main" id="{49B295A7-03A3-0816-267D-B95FFF8BF6EC}"/>
                </a:ext>
              </a:extLst>
            </p:cNvPr>
            <p:cNvGrpSpPr/>
            <p:nvPr/>
          </p:nvGrpSpPr>
          <p:grpSpPr>
            <a:xfrm>
              <a:off x="5158663" y="4328160"/>
              <a:ext cx="1466667" cy="385445"/>
              <a:chOff x="6550" y="7602"/>
              <a:chExt cx="2408" cy="607"/>
            </a:xfrm>
          </p:grpSpPr>
          <p:sp>
            <p:nvSpPr>
              <p:cNvPr id="881" name="矩形 880">
                <a:extLst>
                  <a:ext uri="{FF2B5EF4-FFF2-40B4-BE49-F238E27FC236}">
                    <a16:creationId xmlns:a16="http://schemas.microsoft.com/office/drawing/2014/main" id="{C1627D28-B482-37BC-92E0-ABF630E87E2F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6550" y="7602"/>
                <a:ext cx="2408" cy="607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82" name="文本框 881">
                <a:extLst>
                  <a:ext uri="{FF2B5EF4-FFF2-40B4-BE49-F238E27FC236}">
                    <a16:creationId xmlns:a16="http://schemas.microsoft.com/office/drawing/2014/main" id="{EFE5D311-66A9-C4D8-3677-38A57FC1E589}"/>
                  </a:ext>
                </a:extLst>
              </p:cNvPr>
              <p:cNvSpPr txBox="1"/>
              <p:nvPr>
                <p:custDataLst>
                  <p:tags r:id="rId78"/>
                </p:custDataLst>
              </p:nvPr>
            </p:nvSpPr>
            <p:spPr>
              <a:xfrm>
                <a:off x="6784" y="7666"/>
                <a:ext cx="1900" cy="2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微软雅黑" charset="0"/>
                    <a:sym typeface="+mn-ea"/>
                  </a:rPr>
                  <a:t>GPU </a:t>
                </a: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微软雅黑" charset="0"/>
                    <a:sym typeface="+mn-ea"/>
                  </a:rPr>
                  <a:t>网络加速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endParaRPr>
              </a:p>
            </p:txBody>
          </p:sp>
          <p:sp>
            <p:nvSpPr>
              <p:cNvPr id="883" name="矩形 882">
                <a:extLst>
                  <a:ext uri="{FF2B5EF4-FFF2-40B4-BE49-F238E27FC236}">
                    <a16:creationId xmlns:a16="http://schemas.microsoft.com/office/drawing/2014/main" id="{BC107751-9E11-CC59-A642-0EDF8C223F72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6711" y="7897"/>
                <a:ext cx="2046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微软雅黑" charset="0"/>
                    <a:sym typeface="宋体" pitchFamily="2" charset="-122"/>
                  </a:rPr>
                  <a:t>Spiderpool</a:t>
                </a:r>
                <a:endPara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宋体" pitchFamily="2" charset="-122"/>
                </a:endParaRPr>
              </a:p>
            </p:txBody>
          </p:sp>
        </p:grpSp>
        <p:grpSp>
          <p:nvGrpSpPr>
            <p:cNvPr id="833" name="组合 832">
              <a:extLst>
                <a:ext uri="{FF2B5EF4-FFF2-40B4-BE49-F238E27FC236}">
                  <a16:creationId xmlns:a16="http://schemas.microsoft.com/office/drawing/2014/main" id="{A08FD006-36FC-A095-CE3B-8BEDE9B0EF35}"/>
                </a:ext>
              </a:extLst>
            </p:cNvPr>
            <p:cNvGrpSpPr/>
            <p:nvPr/>
          </p:nvGrpSpPr>
          <p:grpSpPr>
            <a:xfrm>
              <a:off x="4918639" y="3747135"/>
              <a:ext cx="1366169" cy="410845"/>
              <a:chOff x="8752" y="5861"/>
              <a:chExt cx="2243" cy="647"/>
            </a:xfrm>
          </p:grpSpPr>
          <p:sp>
            <p:nvSpPr>
              <p:cNvPr id="878" name="矩形 877">
                <a:extLst>
                  <a:ext uri="{FF2B5EF4-FFF2-40B4-BE49-F238E27FC236}">
                    <a16:creationId xmlns:a16="http://schemas.microsoft.com/office/drawing/2014/main" id="{8BA15C86-EBCA-BBB9-DBCC-1883BE4E5DBB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8823" y="5861"/>
                <a:ext cx="1939" cy="596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endParaRPr>
              </a:p>
            </p:txBody>
          </p:sp>
          <p:sp>
            <p:nvSpPr>
              <p:cNvPr id="879" name="文本框 878">
                <a:extLst>
                  <a:ext uri="{FF2B5EF4-FFF2-40B4-BE49-F238E27FC236}">
                    <a16:creationId xmlns:a16="http://schemas.microsoft.com/office/drawing/2014/main" id="{96DEF398-AD71-7717-631D-A509E6065B5C}"/>
                  </a:ext>
                </a:extLst>
              </p:cNvPr>
              <p:cNvSpPr txBox="1"/>
              <p:nvPr>
                <p:custDataLst>
                  <p:tags r:id="rId75"/>
                </p:custDataLst>
              </p:nvPr>
            </p:nvSpPr>
            <p:spPr>
              <a:xfrm>
                <a:off x="9072" y="5957"/>
                <a:ext cx="1662" cy="29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资源分配调度</a:t>
                </a:r>
              </a:p>
            </p:txBody>
          </p:sp>
          <p:sp>
            <p:nvSpPr>
              <p:cNvPr id="880" name="矩形 879">
                <a:extLst>
                  <a:ext uri="{FF2B5EF4-FFF2-40B4-BE49-F238E27FC236}">
                    <a16:creationId xmlns:a16="http://schemas.microsoft.com/office/drawing/2014/main" id="{3E114E09-E01D-F31A-CD5E-FA6D269E9335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8752" y="6185"/>
                <a:ext cx="2243" cy="32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Gang/Binpack/Spread</a:t>
                </a:r>
              </a:p>
            </p:txBody>
          </p:sp>
        </p:grpSp>
        <p:sp>
          <p:nvSpPr>
            <p:cNvPr id="834" name="圆角矩形 59">
              <a:extLst>
                <a:ext uri="{FF2B5EF4-FFF2-40B4-BE49-F238E27FC236}">
                  <a16:creationId xmlns:a16="http://schemas.microsoft.com/office/drawing/2014/main" id="{C7E7A3D7-BAAD-0538-C813-97587E6CDED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300646" y="1449705"/>
              <a:ext cx="600547" cy="4216400"/>
            </a:xfrm>
            <a:prstGeom prst="roundRect">
              <a:avLst>
                <a:gd name="adj" fmla="val 6469"/>
              </a:avLst>
            </a:prstGeom>
            <a:noFill/>
            <a:ln w="9525" cap="flat" cmpd="sng" algn="ctr">
              <a:solidFill>
                <a:srgbClr val="11D05C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C475">
                      <a:alpha val="11392"/>
                    </a:srgbClr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35" name="文本框 834">
              <a:extLst>
                <a:ext uri="{FF2B5EF4-FFF2-40B4-BE49-F238E27FC236}">
                  <a16:creationId xmlns:a16="http://schemas.microsoft.com/office/drawing/2014/main" id="{CD222236-4909-4D4D-34EA-5F7743315A11}"/>
                </a:ext>
              </a:extLst>
            </p:cNvPr>
            <p:cNvSpPr txBox="1"/>
            <p:nvPr>
              <p:custDataLst>
                <p:tags r:id="rId42"/>
              </p:custDataLst>
            </p:nvPr>
          </p:nvSpPr>
          <p:spPr>
            <a:xfrm>
              <a:off x="9356418" y="1478152"/>
              <a:ext cx="558226" cy="318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+mn-ea"/>
                </a:rPr>
                <a:t>运营管理</a:t>
              </a:r>
            </a:p>
          </p:txBody>
        </p:sp>
        <p:sp>
          <p:nvSpPr>
            <p:cNvPr id="836" name="矩形 835">
              <a:extLst>
                <a:ext uri="{FF2B5EF4-FFF2-40B4-BE49-F238E27FC236}">
                  <a16:creationId xmlns:a16="http://schemas.microsoft.com/office/drawing/2014/main" id="{ABBA1097-9513-CCC7-5ECF-E8E438C5065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691773" y="1922389"/>
              <a:ext cx="479003" cy="389890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仪表盘</a:t>
              </a:r>
            </a:p>
          </p:txBody>
        </p:sp>
        <p:sp>
          <p:nvSpPr>
            <p:cNvPr id="837" name="矩形 836">
              <a:extLst>
                <a:ext uri="{FF2B5EF4-FFF2-40B4-BE49-F238E27FC236}">
                  <a16:creationId xmlns:a16="http://schemas.microsoft.com/office/drawing/2014/main" id="{6A1508A4-2CD5-CBA9-8962-B52A8DF641A3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691773" y="2918068"/>
              <a:ext cx="479003" cy="384209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资源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监控</a:t>
              </a:r>
              <a:endParaRPr kumimoji="0" lang="zh-CN" alt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</p:txBody>
        </p:sp>
        <p:sp>
          <p:nvSpPr>
            <p:cNvPr id="838" name="矩形 837">
              <a:extLst>
                <a:ext uri="{FF2B5EF4-FFF2-40B4-BE49-F238E27FC236}">
                  <a16:creationId xmlns:a16="http://schemas.microsoft.com/office/drawing/2014/main" id="{45541CB5-A88D-21DE-1CF8-A59F5B8C28F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691773" y="3415908"/>
              <a:ext cx="479003" cy="379371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故障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追踪</a:t>
              </a:r>
            </a:p>
          </p:txBody>
        </p:sp>
        <p:sp>
          <p:nvSpPr>
            <p:cNvPr id="839" name="矩形 838">
              <a:extLst>
                <a:ext uri="{FF2B5EF4-FFF2-40B4-BE49-F238E27FC236}">
                  <a16:creationId xmlns:a16="http://schemas.microsoft.com/office/drawing/2014/main" id="{26A2E06D-4A7D-06DE-EB91-F55F659C46B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691773" y="3913748"/>
              <a:ext cx="479003" cy="373691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日志采集查询</a:t>
              </a:r>
            </a:p>
          </p:txBody>
        </p:sp>
        <p:sp>
          <p:nvSpPr>
            <p:cNvPr id="840" name="矩形 839">
              <a:extLst>
                <a:ext uri="{FF2B5EF4-FFF2-40B4-BE49-F238E27FC236}">
                  <a16:creationId xmlns:a16="http://schemas.microsoft.com/office/drawing/2014/main" id="{7E6EAEB7-E6D4-72D0-D464-0522FA481E71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691773" y="2420229"/>
              <a:ext cx="479003" cy="384210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告警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中心</a:t>
              </a:r>
            </a:p>
          </p:txBody>
        </p:sp>
        <p:sp>
          <p:nvSpPr>
            <p:cNvPr id="841" name="矩形 840">
              <a:extLst>
                <a:ext uri="{FF2B5EF4-FFF2-40B4-BE49-F238E27FC236}">
                  <a16:creationId xmlns:a16="http://schemas.microsoft.com/office/drawing/2014/main" id="{9A9B5B02-68DB-4B87-065A-BB2DA8A16D6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382150" y="1922388"/>
              <a:ext cx="479003" cy="372501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多租户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配置</a:t>
              </a:r>
            </a:p>
          </p:txBody>
        </p:sp>
        <p:sp>
          <p:nvSpPr>
            <p:cNvPr id="842" name="矩形 841">
              <a:extLst>
                <a:ext uri="{FF2B5EF4-FFF2-40B4-BE49-F238E27FC236}">
                  <a16:creationId xmlns:a16="http://schemas.microsoft.com/office/drawing/2014/main" id="{D63F5418-095D-8CF9-C644-0B285B8ECCF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370086" y="2421117"/>
              <a:ext cx="479003" cy="372500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权限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/</a:t>
              </a: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角色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管理</a:t>
              </a:r>
            </a:p>
          </p:txBody>
        </p:sp>
        <p:sp>
          <p:nvSpPr>
            <p:cNvPr id="843" name="矩形 842">
              <a:extLst>
                <a:ext uri="{FF2B5EF4-FFF2-40B4-BE49-F238E27FC236}">
                  <a16:creationId xmlns:a16="http://schemas.microsoft.com/office/drawing/2014/main" id="{DD17BBAA-0E8B-BCB7-12A3-5053173508B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370086" y="4416027"/>
              <a:ext cx="479003" cy="372499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计量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计费</a:t>
              </a:r>
            </a:p>
          </p:txBody>
        </p:sp>
        <p:sp>
          <p:nvSpPr>
            <p:cNvPr id="844" name="矩形 843">
              <a:extLst>
                <a:ext uri="{FF2B5EF4-FFF2-40B4-BE49-F238E27FC236}">
                  <a16:creationId xmlns:a16="http://schemas.microsoft.com/office/drawing/2014/main" id="{3DED9081-F72F-D906-EA4A-23F301E2F9E7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370086" y="3418573"/>
              <a:ext cx="479003" cy="372499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统一身份认证</a:t>
              </a:r>
            </a:p>
          </p:txBody>
        </p:sp>
        <p:sp>
          <p:nvSpPr>
            <p:cNvPr id="845" name="矩形 844">
              <a:extLst>
                <a:ext uri="{FF2B5EF4-FFF2-40B4-BE49-F238E27FC236}">
                  <a16:creationId xmlns:a16="http://schemas.microsoft.com/office/drawing/2014/main" id="{796EDF86-4E4A-CC7E-CA0F-01661AD2E1B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370086" y="3917300"/>
              <a:ext cx="479003" cy="372499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配额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管理</a:t>
              </a:r>
            </a:p>
          </p:txBody>
        </p:sp>
        <p:grpSp>
          <p:nvGrpSpPr>
            <p:cNvPr id="846" name="组合 845">
              <a:extLst>
                <a:ext uri="{FF2B5EF4-FFF2-40B4-BE49-F238E27FC236}">
                  <a16:creationId xmlns:a16="http://schemas.microsoft.com/office/drawing/2014/main" id="{13B7E75E-E53E-4219-5CC7-C8E404F2DC82}"/>
                </a:ext>
              </a:extLst>
            </p:cNvPr>
            <p:cNvGrpSpPr/>
            <p:nvPr/>
          </p:nvGrpSpPr>
          <p:grpSpPr>
            <a:xfrm>
              <a:off x="6845275" y="1898015"/>
              <a:ext cx="1581175" cy="454660"/>
              <a:chOff x="11714" y="3349"/>
              <a:chExt cx="2596" cy="716"/>
            </a:xfrm>
          </p:grpSpPr>
          <p:sp>
            <p:nvSpPr>
              <p:cNvPr id="876" name="文本框 875">
                <a:extLst>
                  <a:ext uri="{FF2B5EF4-FFF2-40B4-BE49-F238E27FC236}">
                    <a16:creationId xmlns:a16="http://schemas.microsoft.com/office/drawing/2014/main" id="{640F9CC8-F56E-50C3-4D3A-84B3D1075720}"/>
                  </a:ext>
                </a:extLst>
              </p:cNvPr>
              <p:cNvSpPr txBox="1"/>
              <p:nvPr>
                <p:custDataLst>
                  <p:tags r:id="rId72"/>
                </p:custDataLst>
              </p:nvPr>
            </p:nvSpPr>
            <p:spPr>
              <a:xfrm>
                <a:off x="11714" y="3349"/>
                <a:ext cx="2596" cy="71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用量统计</a:t>
                </a:r>
              </a:p>
            </p:txBody>
          </p:sp>
          <p:sp>
            <p:nvSpPr>
              <p:cNvPr id="877" name="矩形 876">
                <a:extLst>
                  <a:ext uri="{FF2B5EF4-FFF2-40B4-BE49-F238E27FC236}">
                    <a16:creationId xmlns:a16="http://schemas.microsoft.com/office/drawing/2014/main" id="{A321C2B1-1019-E9EA-039E-D066142425F9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2048" y="3731"/>
                <a:ext cx="2046" cy="243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API Key/</a:t>
                </a:r>
                <a:r>
                  <a:rPr kumimoji="0" lang="zh-CN" alt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调用记录</a:t>
                </a:r>
              </a:p>
            </p:txBody>
          </p:sp>
        </p:grpSp>
        <p:sp>
          <p:nvSpPr>
            <p:cNvPr id="847" name="文本框 846">
              <a:extLst>
                <a:ext uri="{FF2B5EF4-FFF2-40B4-BE49-F238E27FC236}">
                  <a16:creationId xmlns:a16="http://schemas.microsoft.com/office/drawing/2014/main" id="{CEE9C8F9-1973-F112-FBCC-DF3F20AFAF7C}"/>
                </a:ext>
              </a:extLst>
            </p:cNvPr>
            <p:cNvSpPr txBox="1"/>
            <p:nvPr>
              <p:custDataLst>
                <p:tags r:id="rId53"/>
              </p:custDataLst>
            </p:nvPr>
          </p:nvSpPr>
          <p:spPr>
            <a:xfrm>
              <a:off x="2799714" y="761484"/>
              <a:ext cx="675441" cy="390085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lIns="0" r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知识库</a:t>
              </a:r>
            </a:p>
          </p:txBody>
        </p:sp>
        <p:sp>
          <p:nvSpPr>
            <p:cNvPr id="848" name="文本框 847">
              <a:extLst>
                <a:ext uri="{FF2B5EF4-FFF2-40B4-BE49-F238E27FC236}">
                  <a16:creationId xmlns:a16="http://schemas.microsoft.com/office/drawing/2014/main" id="{A8BE38A8-9AE9-CA81-BABB-04B981C63E29}"/>
                </a:ext>
              </a:extLst>
            </p:cNvPr>
            <p:cNvSpPr txBox="1"/>
            <p:nvPr>
              <p:custDataLst>
                <p:tags r:id="rId54"/>
              </p:custDataLst>
            </p:nvPr>
          </p:nvSpPr>
          <p:spPr>
            <a:xfrm>
              <a:off x="3550086" y="761484"/>
              <a:ext cx="711200" cy="390085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智能体</a:t>
              </a:r>
            </a:p>
          </p:txBody>
        </p:sp>
        <p:sp>
          <p:nvSpPr>
            <p:cNvPr id="849" name="文本框 848">
              <a:extLst>
                <a:ext uri="{FF2B5EF4-FFF2-40B4-BE49-F238E27FC236}">
                  <a16:creationId xmlns:a16="http://schemas.microsoft.com/office/drawing/2014/main" id="{6D6E197A-CC35-7979-446D-D8A00273F3AA}"/>
                </a:ext>
              </a:extLst>
            </p:cNvPr>
            <p:cNvSpPr txBox="1"/>
            <p:nvPr>
              <p:custDataLst>
                <p:tags r:id="rId55"/>
              </p:custDataLst>
            </p:nvPr>
          </p:nvSpPr>
          <p:spPr>
            <a:xfrm>
              <a:off x="4314749" y="761484"/>
              <a:ext cx="351664" cy="390085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…</a:t>
              </a:r>
              <a:endParaRPr kumimoji="0" lang="zh-CN" altLang="en-US" sz="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grpSp>
          <p:nvGrpSpPr>
            <p:cNvPr id="850" name="组合 849">
              <a:extLst>
                <a:ext uri="{FF2B5EF4-FFF2-40B4-BE49-F238E27FC236}">
                  <a16:creationId xmlns:a16="http://schemas.microsoft.com/office/drawing/2014/main" id="{D24A1A1F-7D61-B14E-25F9-CB6CDF3FF7DD}"/>
                </a:ext>
              </a:extLst>
            </p:cNvPr>
            <p:cNvGrpSpPr/>
            <p:nvPr/>
          </p:nvGrpSpPr>
          <p:grpSpPr>
            <a:xfrm>
              <a:off x="4693079" y="1886585"/>
              <a:ext cx="2099503" cy="514985"/>
              <a:chOff x="8565" y="3351"/>
              <a:chExt cx="3447" cy="811"/>
            </a:xfrm>
          </p:grpSpPr>
          <p:sp>
            <p:nvSpPr>
              <p:cNvPr id="874" name="文本框 873">
                <a:extLst>
                  <a:ext uri="{FF2B5EF4-FFF2-40B4-BE49-F238E27FC236}">
                    <a16:creationId xmlns:a16="http://schemas.microsoft.com/office/drawing/2014/main" id="{24C0F91D-BA0B-C7C7-4A06-9C2E4477DBBE}"/>
                  </a:ext>
                </a:extLst>
              </p:cNvPr>
              <p:cNvSpPr txBox="1"/>
              <p:nvPr>
                <p:custDataLst>
                  <p:tags r:id="rId70"/>
                </p:custDataLst>
              </p:nvPr>
            </p:nvSpPr>
            <p:spPr>
              <a:xfrm>
                <a:off x="8565" y="3351"/>
                <a:ext cx="3422" cy="734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大模型</a:t>
                </a:r>
                <a:r>
                  <a:rPr kumimoji="0" lang="en-US" altLang="zh-CN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 AI </a:t>
                </a:r>
                <a:r>
                  <a:rPr kumimoji="0" lang="zh-CN" altLang="en-US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</a:rPr>
                  <a:t>网关</a:t>
                </a:r>
              </a:p>
            </p:txBody>
          </p:sp>
          <p:sp>
            <p:nvSpPr>
              <p:cNvPr id="875" name="矩形 874">
                <a:extLst>
                  <a:ext uri="{FF2B5EF4-FFF2-40B4-BE49-F238E27FC236}">
                    <a16:creationId xmlns:a16="http://schemas.microsoft.com/office/drawing/2014/main" id="{6BC43B62-FAC0-6454-B1D7-221BBAD682C8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8689" y="3752"/>
                <a:ext cx="3323" cy="410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C4C4C">
                        <a:alpha val="94000"/>
                      </a:srgbClr>
                    </a:solidFill>
                  </a14:hiddenFill>
                </a:ext>
              </a:ex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路由管理</a:t>
                </a: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/</a:t>
                </a:r>
                <a:r>
                  <a:rPr kumimoji="0" lang="zh-CN" alt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负载均衡</a:t>
                </a: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/</a:t>
                </a:r>
                <a:r>
                  <a:rPr kumimoji="0" lang="zh-CN" alt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流量控制</a:t>
                </a:r>
                <a:r>
                  <a:rPr kumimoji="0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/</a:t>
                </a:r>
                <a:r>
                  <a:rPr kumimoji="0" lang="zh-CN" alt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SC" panose="020B0A00000000000000" pitchFamily="34" charset="-128"/>
                    <a:ea typeface="Noto Sans SC" panose="020B0A00000000000000" pitchFamily="34" charset="-128"/>
                    <a:cs typeface="+mn-cs"/>
                    <a:sym typeface="宋体" pitchFamily="2" charset="-122"/>
                  </a:rPr>
                  <a:t>合规安全</a:t>
                </a:r>
              </a:p>
            </p:txBody>
          </p:sp>
        </p:grpSp>
        <p:sp>
          <p:nvSpPr>
            <p:cNvPr id="851" name="文本框 850">
              <a:extLst>
                <a:ext uri="{FF2B5EF4-FFF2-40B4-BE49-F238E27FC236}">
                  <a16:creationId xmlns:a16="http://schemas.microsoft.com/office/drawing/2014/main" id="{A74758F5-5DF6-A5DE-A328-62F38DC19EE5}"/>
                </a:ext>
              </a:extLst>
            </p:cNvPr>
            <p:cNvSpPr txBox="1"/>
            <p:nvPr>
              <p:custDataLst>
                <p:tags r:id="rId56"/>
              </p:custDataLst>
            </p:nvPr>
          </p:nvSpPr>
          <p:spPr>
            <a:xfrm>
              <a:off x="7292761" y="2613399"/>
              <a:ext cx="1123327" cy="385735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模型评估</a:t>
              </a:r>
            </a:p>
          </p:txBody>
        </p:sp>
        <p:sp>
          <p:nvSpPr>
            <p:cNvPr id="852" name="矩形 851">
              <a:extLst>
                <a:ext uri="{FF2B5EF4-FFF2-40B4-BE49-F238E27FC236}">
                  <a16:creationId xmlns:a16="http://schemas.microsoft.com/office/drawing/2014/main" id="{BDF6CC71-20EB-88CF-93D9-D87E28BEC00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691773" y="4411588"/>
              <a:ext cx="479003" cy="373689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链路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查询</a:t>
              </a:r>
            </a:p>
          </p:txBody>
        </p:sp>
        <p:sp>
          <p:nvSpPr>
            <p:cNvPr id="853" name="矩形 852">
              <a:extLst>
                <a:ext uri="{FF2B5EF4-FFF2-40B4-BE49-F238E27FC236}">
                  <a16:creationId xmlns:a16="http://schemas.microsoft.com/office/drawing/2014/main" id="{6BED6E0A-CF63-9672-AA06-A74DDED2633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9364688" y="4914752"/>
              <a:ext cx="479003" cy="372499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数据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报表</a:t>
              </a:r>
            </a:p>
          </p:txBody>
        </p:sp>
        <p:sp>
          <p:nvSpPr>
            <p:cNvPr id="854" name="矩形 853">
              <a:extLst>
                <a:ext uri="{FF2B5EF4-FFF2-40B4-BE49-F238E27FC236}">
                  <a16:creationId xmlns:a16="http://schemas.microsoft.com/office/drawing/2014/main" id="{CF673E4C-4DF0-683B-18B3-1DE3C32E4C2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9370086" y="2919845"/>
              <a:ext cx="479003" cy="372500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访问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</a:rPr>
                <a:t>控制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微软雅黑" charset="0"/>
              </a:endParaRPr>
            </a:p>
          </p:txBody>
        </p:sp>
        <p:sp>
          <p:nvSpPr>
            <p:cNvPr id="855" name="虚尾箭头 64">
              <a:extLst>
                <a:ext uri="{FF2B5EF4-FFF2-40B4-BE49-F238E27FC236}">
                  <a16:creationId xmlns:a16="http://schemas.microsoft.com/office/drawing/2014/main" id="{FB9B182E-AEA0-40DC-72F6-AC35902F5B2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 rot="16200000">
              <a:off x="9131878" y="1223596"/>
              <a:ext cx="270631" cy="217805"/>
            </a:xfrm>
            <a:prstGeom prst="stripedRightArrow">
              <a:avLst/>
            </a:prstGeom>
            <a:gradFill rotWithShape="0">
              <a:gsLst>
                <a:gs pos="100000">
                  <a:srgbClr val="11D05C">
                    <a:lumMod val="40000"/>
                    <a:lumOff val="60000"/>
                    <a:alpha val="65000"/>
                  </a:srgbClr>
                </a:gs>
                <a:gs pos="0">
                  <a:srgbClr val="11D05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</a:endParaRPr>
            </a:p>
          </p:txBody>
        </p:sp>
        <p:sp>
          <p:nvSpPr>
            <p:cNvPr id="856" name="矩形 855">
              <a:extLst>
                <a:ext uri="{FF2B5EF4-FFF2-40B4-BE49-F238E27FC236}">
                  <a16:creationId xmlns:a16="http://schemas.microsoft.com/office/drawing/2014/main" id="{FE61C5B8-F564-4AAA-68C6-FD7D45FDEC0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691773" y="4909428"/>
              <a:ext cx="479003" cy="368851"/>
            </a:xfrm>
            <a:prstGeom prst="rect">
              <a:avLst/>
            </a:prstGeom>
            <a:solidFill>
              <a:srgbClr val="F2F2F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72000" rIns="7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AI </a:t>
              </a: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微软雅黑" charset="0"/>
                  <a:sym typeface="+mn-ea"/>
                </a:rPr>
                <a:t>网络监控</a:t>
              </a:r>
            </a:p>
          </p:txBody>
        </p:sp>
        <p:sp>
          <p:nvSpPr>
            <p:cNvPr id="857" name="矩形 856">
              <a:extLst>
                <a:ext uri="{FF2B5EF4-FFF2-40B4-BE49-F238E27FC236}">
                  <a16:creationId xmlns:a16="http://schemas.microsoft.com/office/drawing/2014/main" id="{D010EAD8-FFED-D9A9-ADA6-75075A6EC421}"/>
                </a:ext>
              </a:extLst>
            </p:cNvPr>
            <p:cNvSpPr/>
            <p:nvPr/>
          </p:nvSpPr>
          <p:spPr>
            <a:xfrm>
              <a:off x="2781693" y="1510030"/>
              <a:ext cx="1807060" cy="291465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58" name="文本框 857">
              <a:extLst>
                <a:ext uri="{FF2B5EF4-FFF2-40B4-BE49-F238E27FC236}">
                  <a16:creationId xmlns:a16="http://schemas.microsoft.com/office/drawing/2014/main" id="{3140E5BE-E2D4-9881-F269-6CBE58CB4DA5}"/>
                </a:ext>
              </a:extLst>
            </p:cNvPr>
            <p:cNvSpPr txBox="1"/>
            <p:nvPr/>
          </p:nvSpPr>
          <p:spPr>
            <a:xfrm>
              <a:off x="2765978" y="1482727"/>
              <a:ext cx="781730" cy="332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tx1">
                      <a:lumMod val="95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+mn-ea"/>
                </a:rPr>
                <a:t>模型广场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  <a:sym typeface="+mn-ea"/>
              </a:endParaRPr>
            </a:p>
          </p:txBody>
        </p:sp>
        <p:sp>
          <p:nvSpPr>
            <p:cNvPr id="859" name="矩形 858">
              <a:extLst>
                <a:ext uri="{FF2B5EF4-FFF2-40B4-BE49-F238E27FC236}">
                  <a16:creationId xmlns:a16="http://schemas.microsoft.com/office/drawing/2014/main" id="{6BA4F907-F570-A018-63F0-31A6211A06D8}"/>
                </a:ext>
              </a:extLst>
            </p:cNvPr>
            <p:cNvSpPr/>
            <p:nvPr/>
          </p:nvSpPr>
          <p:spPr>
            <a:xfrm>
              <a:off x="4701392" y="1508308"/>
              <a:ext cx="884476" cy="28956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500000000000000" pitchFamily="34" charset="-128"/>
                  <a:ea typeface="Noto Sans SC" panose="020B0500000000000000" pitchFamily="34" charset="-128"/>
                  <a:cs typeface="+mn-cs"/>
                </a:rPr>
                <a:t>模型管理</a:t>
              </a:r>
            </a:p>
          </p:txBody>
        </p:sp>
        <p:sp>
          <p:nvSpPr>
            <p:cNvPr id="860" name="矩形 859">
              <a:extLst>
                <a:ext uri="{FF2B5EF4-FFF2-40B4-BE49-F238E27FC236}">
                  <a16:creationId xmlns:a16="http://schemas.microsoft.com/office/drawing/2014/main" id="{CC5CBADD-C09C-2389-85F2-C89E53D5863C}"/>
                </a:ext>
              </a:extLst>
            </p:cNvPr>
            <p:cNvSpPr/>
            <p:nvPr/>
          </p:nvSpPr>
          <p:spPr>
            <a:xfrm>
              <a:off x="5647163" y="1513823"/>
              <a:ext cx="758081" cy="28956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500000000000000" pitchFamily="34" charset="-128"/>
                  <a:ea typeface="Noto Sans SC" panose="020B0500000000000000" pitchFamily="34" charset="-128"/>
                  <a:cs typeface="+mn-cs"/>
                  <a:sym typeface="+mn-ea"/>
                </a:rPr>
                <a:t>模型服务</a:t>
              </a:r>
            </a:p>
          </p:txBody>
        </p:sp>
        <p:sp>
          <p:nvSpPr>
            <p:cNvPr id="861" name="矩形 860">
              <a:extLst>
                <a:ext uri="{FF2B5EF4-FFF2-40B4-BE49-F238E27FC236}">
                  <a16:creationId xmlns:a16="http://schemas.microsoft.com/office/drawing/2014/main" id="{55F4A8B8-DC74-9B23-52DF-E6FA7B63478D}"/>
                </a:ext>
              </a:extLst>
            </p:cNvPr>
            <p:cNvSpPr/>
            <p:nvPr/>
          </p:nvSpPr>
          <p:spPr>
            <a:xfrm>
              <a:off x="6501669" y="1508125"/>
              <a:ext cx="900526" cy="28956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500000000000000" pitchFamily="34" charset="-128"/>
                  <a:ea typeface="Noto Sans SC" panose="020B0500000000000000" pitchFamily="34" charset="-128"/>
                  <a:cs typeface="+mn-cs"/>
                  <a:sym typeface="+mn-ea"/>
                </a:rPr>
                <a:t>模型体验</a:t>
              </a:r>
            </a:p>
          </p:txBody>
        </p:sp>
        <p:sp>
          <p:nvSpPr>
            <p:cNvPr id="862" name="圆角矩形 59">
              <a:extLst>
                <a:ext uri="{FF2B5EF4-FFF2-40B4-BE49-F238E27FC236}">
                  <a16:creationId xmlns:a16="http://schemas.microsoft.com/office/drawing/2014/main" id="{B7D875F4-3DF5-62C3-7928-BE9EABF7645D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2638834" y="3173247"/>
              <a:ext cx="5902591" cy="411963"/>
            </a:xfrm>
            <a:prstGeom prst="roundRect">
              <a:avLst>
                <a:gd name="adj" fmla="val 6469"/>
              </a:avLst>
            </a:prstGeom>
            <a:solidFill>
              <a:srgbClr val="17C475">
                <a:alpha val="11392"/>
              </a:srgbClr>
            </a:solidFill>
            <a:ln w="9525" cap="flat" cmpd="sng" algn="ctr">
              <a:solidFill>
                <a:srgbClr val="11D05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63" name="圆角矩形 59">
              <a:extLst>
                <a:ext uri="{FF2B5EF4-FFF2-40B4-BE49-F238E27FC236}">
                  <a16:creationId xmlns:a16="http://schemas.microsoft.com/office/drawing/2014/main" id="{2C3B0CCC-8152-C267-9D3B-B384ECCBCE5D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909843" y="3162619"/>
              <a:ext cx="659246" cy="435291"/>
            </a:xfrm>
            <a:prstGeom prst="roundRect">
              <a:avLst>
                <a:gd name="adj" fmla="val 6469"/>
              </a:avLst>
            </a:prstGeom>
            <a:solidFill>
              <a:srgbClr val="E5F8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算力</a:t>
              </a: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Arial" panose="020B060402020209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Arial" panose="020B0604020202090204" pitchFamily="34" charset="0"/>
                  <a:sym typeface="+mn-ea"/>
                </a:rPr>
                <a:t>服务</a:t>
              </a:r>
            </a:p>
          </p:txBody>
        </p:sp>
        <p:sp>
          <p:nvSpPr>
            <p:cNvPr id="864" name="矩形 863">
              <a:extLst>
                <a:ext uri="{FF2B5EF4-FFF2-40B4-BE49-F238E27FC236}">
                  <a16:creationId xmlns:a16="http://schemas.microsoft.com/office/drawing/2014/main" id="{94D2F189-5442-62F7-1A4D-0A534C74A79F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2782584" y="3257980"/>
              <a:ext cx="883629" cy="25611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VSCode</a:t>
              </a:r>
              <a:endParaRPr kumimoji="0" lang="en-US" altLang="zh-CN" sz="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865" name="矩形 864">
              <a:extLst>
                <a:ext uri="{FF2B5EF4-FFF2-40B4-BE49-F238E27FC236}">
                  <a16:creationId xmlns:a16="http://schemas.microsoft.com/office/drawing/2014/main" id="{EC039449-FA51-F5B7-A5AD-B4659A7F7181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3742784" y="3262496"/>
              <a:ext cx="1134015" cy="251594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Jupyter</a:t>
              </a:r>
              <a:endParaRPr kumimoji="0" lang="en-US" altLang="zh-CN" sz="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866" name="矩形 865">
              <a:extLst>
                <a:ext uri="{FF2B5EF4-FFF2-40B4-BE49-F238E27FC236}">
                  <a16:creationId xmlns:a16="http://schemas.microsoft.com/office/drawing/2014/main" id="{9915BDCE-1960-E62B-F746-9186B1542EA9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4961984" y="3256915"/>
              <a:ext cx="1170146" cy="257175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容器实例</a:t>
              </a:r>
            </a:p>
          </p:txBody>
        </p:sp>
        <p:sp>
          <p:nvSpPr>
            <p:cNvPr id="867" name="矩形 866">
              <a:extLst>
                <a:ext uri="{FF2B5EF4-FFF2-40B4-BE49-F238E27FC236}">
                  <a16:creationId xmlns:a16="http://schemas.microsoft.com/office/drawing/2014/main" id="{D9963B58-D851-7FBE-C5CB-34ED83E9BAB2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216826" y="3244250"/>
              <a:ext cx="989154" cy="25611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数据存储</a:t>
              </a:r>
            </a:p>
          </p:txBody>
        </p:sp>
        <p:sp>
          <p:nvSpPr>
            <p:cNvPr id="868" name="矩形 867">
              <a:extLst>
                <a:ext uri="{FF2B5EF4-FFF2-40B4-BE49-F238E27FC236}">
                  <a16:creationId xmlns:a16="http://schemas.microsoft.com/office/drawing/2014/main" id="{113429D3-B40C-A5BB-1AE8-B7F48261DD1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290676" y="3239412"/>
              <a:ext cx="1125412" cy="25908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镜像仓库</a:t>
              </a:r>
            </a:p>
          </p:txBody>
        </p:sp>
        <p:sp>
          <p:nvSpPr>
            <p:cNvPr id="869" name="文本框 868">
              <a:extLst>
                <a:ext uri="{FF2B5EF4-FFF2-40B4-BE49-F238E27FC236}">
                  <a16:creationId xmlns:a16="http://schemas.microsoft.com/office/drawing/2014/main" id="{CBD16130-CDA8-EF80-F3AC-9345E2F10A05}"/>
                </a:ext>
              </a:extLst>
            </p:cNvPr>
            <p:cNvSpPr txBox="1"/>
            <p:nvPr>
              <p:custDataLst>
                <p:tags r:id="rId69"/>
              </p:custDataLst>
            </p:nvPr>
          </p:nvSpPr>
          <p:spPr>
            <a:xfrm>
              <a:off x="6207556" y="2611272"/>
              <a:ext cx="1009778" cy="38024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  <a:sym typeface="+mn-ea"/>
                </a:rPr>
                <a:t>模型精调</a:t>
              </a:r>
              <a:endParaRPr kumimoji="0" lang="zh-CN" alt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A00000000000000" pitchFamily="34" charset="-128"/>
                <a:ea typeface="Noto Sans SC" panose="020B0A00000000000000" pitchFamily="34" charset="-128"/>
                <a:cs typeface="+mn-cs"/>
              </a:endParaRPr>
            </a:p>
          </p:txBody>
        </p:sp>
        <p:sp>
          <p:nvSpPr>
            <p:cNvPr id="870" name="矩形 869">
              <a:extLst>
                <a:ext uri="{FF2B5EF4-FFF2-40B4-BE49-F238E27FC236}">
                  <a16:creationId xmlns:a16="http://schemas.microsoft.com/office/drawing/2014/main" id="{58842BD3-2DE3-AB3E-9475-F8AA8AC7485E}"/>
                </a:ext>
              </a:extLst>
            </p:cNvPr>
            <p:cNvSpPr/>
            <p:nvPr/>
          </p:nvSpPr>
          <p:spPr>
            <a:xfrm>
              <a:off x="7494310" y="1501775"/>
              <a:ext cx="941030" cy="28956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500000000000000" pitchFamily="34" charset="-128"/>
                  <a:ea typeface="Noto Sans SC" panose="020B0500000000000000" pitchFamily="34" charset="-128"/>
                  <a:cs typeface="+mn-cs"/>
                  <a:sym typeface="+mn-ea"/>
                </a:rPr>
                <a:t>MCP Server</a:t>
              </a:r>
              <a:endParaRPr kumimoji="0" lang="zh-CN" alt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500000000000000" pitchFamily="34" charset="-128"/>
                <a:ea typeface="Noto Sans SC" panose="020B0500000000000000" pitchFamily="34" charset="-128"/>
                <a:cs typeface="+mn-cs"/>
                <a:sym typeface="+mn-ea"/>
              </a:endParaRPr>
            </a:p>
          </p:txBody>
        </p:sp>
        <p:pic>
          <p:nvPicPr>
            <p:cNvPr id="871" name="图片 870">
              <a:extLst>
                <a:ext uri="{FF2B5EF4-FFF2-40B4-BE49-F238E27FC236}">
                  <a16:creationId xmlns:a16="http://schemas.microsoft.com/office/drawing/2014/main" id="{5C122BD3-0459-33C0-E41A-C3B0D873DA67}"/>
                </a:ext>
              </a:extLst>
            </p:cNvPr>
            <p:cNvPicPr/>
            <p:nvPr/>
          </p:nvPicPr>
          <p:blipFill>
            <a:blip r:embed="rId137">
              <a:clrChange>
                <a:clrFrom>
                  <a:srgbClr val="FEFEFE">
                    <a:alpha val="100000"/>
                  </a:srgbClr>
                </a:clrFrom>
                <a:clrTo>
                  <a:srgbClr val="FEFEFE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916279" y="1551622"/>
              <a:ext cx="214397" cy="213360"/>
            </a:xfrm>
            <a:prstGeom prst="rect">
              <a:avLst/>
            </a:prstGeom>
          </p:spPr>
        </p:pic>
        <p:sp>
          <p:nvSpPr>
            <p:cNvPr id="872" name="文本框 871">
              <a:extLst>
                <a:ext uri="{FF2B5EF4-FFF2-40B4-BE49-F238E27FC236}">
                  <a16:creationId xmlns:a16="http://schemas.microsoft.com/office/drawing/2014/main" id="{6FE9B75B-D333-257B-05A0-9E2EB1E72022}"/>
                </a:ext>
              </a:extLst>
            </p:cNvPr>
            <p:cNvSpPr txBox="1"/>
            <p:nvPr/>
          </p:nvSpPr>
          <p:spPr>
            <a:xfrm>
              <a:off x="4208055" y="1510158"/>
              <a:ext cx="349003" cy="2609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SC" panose="020B0A00000000000000" pitchFamily="34" charset="-128"/>
                  <a:ea typeface="Noto Sans SC" panose="020B0A00000000000000" pitchFamily="34" charset="-128"/>
                  <a:cs typeface="+mn-cs"/>
                </a:rPr>
                <a:t>...</a:t>
              </a:r>
            </a:p>
          </p:txBody>
        </p:sp>
        <p:pic>
          <p:nvPicPr>
            <p:cNvPr id="873" name="图片 872">
              <a:extLst>
                <a:ext uri="{FF2B5EF4-FFF2-40B4-BE49-F238E27FC236}">
                  <a16:creationId xmlns:a16="http://schemas.microsoft.com/office/drawing/2014/main" id="{62BBFD5F-AE98-5457-3D9E-A716E158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6696" y="1472609"/>
              <a:ext cx="356414" cy="371581"/>
            </a:xfrm>
            <a:prstGeom prst="rect">
              <a:avLst/>
            </a:prstGeom>
          </p:spPr>
        </p:pic>
      </p:grpSp>
      <p:grpSp>
        <p:nvGrpSpPr>
          <p:cNvPr id="920" name="图形 914">
            <a:extLst>
              <a:ext uri="{FF2B5EF4-FFF2-40B4-BE49-F238E27FC236}">
                <a16:creationId xmlns:a16="http://schemas.microsoft.com/office/drawing/2014/main" id="{CD43CFFD-C781-A4A6-14CD-FFE49756711E}"/>
              </a:ext>
            </a:extLst>
          </p:cNvPr>
          <p:cNvGrpSpPr/>
          <p:nvPr/>
        </p:nvGrpSpPr>
        <p:grpSpPr>
          <a:xfrm>
            <a:off x="6591300" y="712544"/>
            <a:ext cx="4668240" cy="623345"/>
            <a:chOff x="6591300" y="814142"/>
            <a:chExt cx="4668240" cy="623345"/>
          </a:xfrm>
        </p:grpSpPr>
        <p:sp>
          <p:nvSpPr>
            <p:cNvPr id="921" name="任意形状 920">
              <a:extLst>
                <a:ext uri="{FF2B5EF4-FFF2-40B4-BE49-F238E27FC236}">
                  <a16:creationId xmlns:a16="http://schemas.microsoft.com/office/drawing/2014/main" id="{A8CE6693-79E0-4D3C-8831-51311AE79309}"/>
                </a:ext>
              </a:extLst>
            </p:cNvPr>
            <p:cNvSpPr/>
            <p:nvPr/>
          </p:nvSpPr>
          <p:spPr>
            <a:xfrm>
              <a:off x="6591300" y="814142"/>
              <a:ext cx="4668240" cy="623345"/>
            </a:xfrm>
            <a:custGeom>
              <a:avLst/>
              <a:gdLst>
                <a:gd name="connsiteX0" fmla="*/ 0 w 4668240"/>
                <a:gd name="connsiteY0" fmla="*/ 0 h 623345"/>
                <a:gd name="connsiteX1" fmla="*/ 4668240 w 4668240"/>
                <a:gd name="connsiteY1" fmla="*/ 0 h 623345"/>
                <a:gd name="connsiteX2" fmla="*/ 4668240 w 4668240"/>
                <a:gd name="connsiteY2" fmla="*/ 623345 h 623345"/>
                <a:gd name="connsiteX3" fmla="*/ 0 w 4668240"/>
                <a:gd name="connsiteY3" fmla="*/ 623345 h 623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8240" h="623345">
                  <a:moveTo>
                    <a:pt x="0" y="0"/>
                  </a:moveTo>
                  <a:lnTo>
                    <a:pt x="4668240" y="0"/>
                  </a:lnTo>
                  <a:lnTo>
                    <a:pt x="4668240" y="623345"/>
                  </a:lnTo>
                  <a:lnTo>
                    <a:pt x="0" y="623345"/>
                  </a:lnTo>
                  <a:close/>
                </a:path>
              </a:pathLst>
            </a:custGeom>
            <a:solidFill>
              <a:srgbClr val="F5F5F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" name="文本框 921">
              <a:extLst>
                <a:ext uri="{FF2B5EF4-FFF2-40B4-BE49-F238E27FC236}">
                  <a16:creationId xmlns:a16="http://schemas.microsoft.com/office/drawing/2014/main" id="{2E377EDC-5031-776E-3436-D358CEF67592}"/>
                </a:ext>
              </a:extLst>
            </p:cNvPr>
            <p:cNvSpPr txBox="1"/>
            <p:nvPr/>
          </p:nvSpPr>
          <p:spPr>
            <a:xfrm>
              <a:off x="6673370" y="980254"/>
              <a:ext cx="9925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/>
                  <a:solidFill>
                    <a:srgbClr val="07000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智能算力调度</a:t>
              </a:r>
            </a:p>
          </p:txBody>
        </p:sp>
        <p:sp>
          <p:nvSpPr>
            <p:cNvPr id="923" name="文本框 922">
              <a:extLst>
                <a:ext uri="{FF2B5EF4-FFF2-40B4-BE49-F238E27FC236}">
                  <a16:creationId xmlns:a16="http://schemas.microsoft.com/office/drawing/2014/main" id="{2C9AB411-D4A0-688E-2D9D-E3833F66228B}"/>
                </a:ext>
              </a:extLst>
            </p:cNvPr>
            <p:cNvSpPr txBox="1"/>
            <p:nvPr/>
          </p:nvSpPr>
          <p:spPr>
            <a:xfrm>
              <a:off x="7891043" y="935387"/>
              <a:ext cx="132279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提升资源利用率至 80% 以上</a:t>
              </a:r>
            </a:p>
          </p:txBody>
        </p:sp>
        <p:sp>
          <p:nvSpPr>
            <p:cNvPr id="924" name="文本框 923">
              <a:extLst>
                <a:ext uri="{FF2B5EF4-FFF2-40B4-BE49-F238E27FC236}">
                  <a16:creationId xmlns:a16="http://schemas.microsoft.com/office/drawing/2014/main" id="{9EE2D269-96BF-9AEA-1098-5E202267B537}"/>
                </a:ext>
              </a:extLst>
            </p:cNvPr>
            <p:cNvSpPr txBox="1"/>
            <p:nvPr/>
          </p:nvSpPr>
          <p:spPr>
            <a:xfrm>
              <a:off x="7891043" y="1094758"/>
              <a:ext cx="126188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灵活应对大模型高并发场景</a:t>
              </a:r>
            </a:p>
          </p:txBody>
        </p:sp>
        <p:sp>
          <p:nvSpPr>
            <p:cNvPr id="925" name="文本框 924">
              <a:extLst>
                <a:ext uri="{FF2B5EF4-FFF2-40B4-BE49-F238E27FC236}">
                  <a16:creationId xmlns:a16="http://schemas.microsoft.com/office/drawing/2014/main" id="{6B52A604-E875-4921-6ED1-13FFAE886E75}"/>
                </a:ext>
              </a:extLst>
            </p:cNvPr>
            <p:cNvSpPr txBox="1"/>
            <p:nvPr/>
          </p:nvSpPr>
          <p:spPr>
            <a:xfrm>
              <a:off x="9496703" y="923703"/>
              <a:ext cx="108234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统一纳管多元异构算力</a:t>
              </a:r>
            </a:p>
          </p:txBody>
        </p:sp>
        <p:sp>
          <p:nvSpPr>
            <p:cNvPr id="926" name="文本框 925">
              <a:extLst>
                <a:ext uri="{FF2B5EF4-FFF2-40B4-BE49-F238E27FC236}">
                  <a16:creationId xmlns:a16="http://schemas.microsoft.com/office/drawing/2014/main" id="{E1434BF2-4C02-2FA8-5C3B-788E626B1DE2}"/>
                </a:ext>
              </a:extLst>
            </p:cNvPr>
            <p:cNvSpPr txBox="1"/>
            <p:nvPr/>
          </p:nvSpPr>
          <p:spPr>
            <a:xfrm>
              <a:off x="9496703" y="1083074"/>
              <a:ext cx="126188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实现多租户资源隔离与管理</a:t>
              </a:r>
            </a:p>
          </p:txBody>
        </p:sp>
        <p:sp>
          <p:nvSpPr>
            <p:cNvPr id="927" name="任意形状 926">
              <a:extLst>
                <a:ext uri="{FF2B5EF4-FFF2-40B4-BE49-F238E27FC236}">
                  <a16:creationId xmlns:a16="http://schemas.microsoft.com/office/drawing/2014/main" id="{10A79A39-7704-A8D2-38C8-DFDEB9B70EF9}"/>
                </a:ext>
              </a:extLst>
            </p:cNvPr>
            <p:cNvSpPr/>
            <p:nvPr/>
          </p:nvSpPr>
          <p:spPr>
            <a:xfrm>
              <a:off x="7894953" y="1032867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7" y="36454"/>
                    <a:pt x="0" y="28294"/>
                    <a:pt x="0" y="18227"/>
                  </a:cubicBezTo>
                  <a:cubicBezTo>
                    <a:pt x="0" y="8161"/>
                    <a:pt x="8317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8" name="任意形状 927">
              <a:extLst>
                <a:ext uri="{FF2B5EF4-FFF2-40B4-BE49-F238E27FC236}">
                  <a16:creationId xmlns:a16="http://schemas.microsoft.com/office/drawing/2014/main" id="{A7E6FB51-8AE9-5C55-65E2-F28A4434E55C}"/>
                </a:ext>
              </a:extLst>
            </p:cNvPr>
            <p:cNvSpPr/>
            <p:nvPr/>
          </p:nvSpPr>
          <p:spPr>
            <a:xfrm>
              <a:off x="7894953" y="1191888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7" y="36454"/>
                    <a:pt x="0" y="28294"/>
                    <a:pt x="0" y="18227"/>
                  </a:cubicBezTo>
                  <a:cubicBezTo>
                    <a:pt x="0" y="8161"/>
                    <a:pt x="8317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9" name="任意形状 928">
              <a:extLst>
                <a:ext uri="{FF2B5EF4-FFF2-40B4-BE49-F238E27FC236}">
                  <a16:creationId xmlns:a16="http://schemas.microsoft.com/office/drawing/2014/main" id="{DE183834-C32B-DF8D-3931-326C7AEDEDDE}"/>
                </a:ext>
              </a:extLst>
            </p:cNvPr>
            <p:cNvSpPr/>
            <p:nvPr/>
          </p:nvSpPr>
          <p:spPr>
            <a:xfrm>
              <a:off x="9498589" y="1021183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8" y="36454"/>
                    <a:pt x="0" y="28294"/>
                    <a:pt x="0" y="18227"/>
                  </a:cubicBezTo>
                  <a:cubicBezTo>
                    <a:pt x="0" y="8161"/>
                    <a:pt x="8318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0" name="任意形状 929">
              <a:extLst>
                <a:ext uri="{FF2B5EF4-FFF2-40B4-BE49-F238E27FC236}">
                  <a16:creationId xmlns:a16="http://schemas.microsoft.com/office/drawing/2014/main" id="{30E9B7B6-316E-AE42-9205-886F4412E777}"/>
                </a:ext>
              </a:extLst>
            </p:cNvPr>
            <p:cNvSpPr/>
            <p:nvPr/>
          </p:nvSpPr>
          <p:spPr>
            <a:xfrm>
              <a:off x="9498589" y="1180204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8" y="36454"/>
                    <a:pt x="0" y="28294"/>
                    <a:pt x="0" y="18227"/>
                  </a:cubicBezTo>
                  <a:cubicBezTo>
                    <a:pt x="0" y="8161"/>
                    <a:pt x="8318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31" name="图形 916">
            <a:extLst>
              <a:ext uri="{FF2B5EF4-FFF2-40B4-BE49-F238E27FC236}">
                <a16:creationId xmlns:a16="http://schemas.microsoft.com/office/drawing/2014/main" id="{4A1279A5-0300-E4A2-E62A-B05AF9839B4C}"/>
              </a:ext>
            </a:extLst>
          </p:cNvPr>
          <p:cNvGrpSpPr/>
          <p:nvPr/>
        </p:nvGrpSpPr>
        <p:grpSpPr>
          <a:xfrm>
            <a:off x="6591300" y="1419511"/>
            <a:ext cx="4668240" cy="751021"/>
            <a:chOff x="6591300" y="1521109"/>
            <a:chExt cx="4668240" cy="751021"/>
          </a:xfrm>
        </p:grpSpPr>
        <p:sp>
          <p:nvSpPr>
            <p:cNvPr id="932" name="任意形状 931">
              <a:extLst>
                <a:ext uri="{FF2B5EF4-FFF2-40B4-BE49-F238E27FC236}">
                  <a16:creationId xmlns:a16="http://schemas.microsoft.com/office/drawing/2014/main" id="{88D5BEC9-3153-A129-12F3-CED3349D9C6B}"/>
                </a:ext>
              </a:extLst>
            </p:cNvPr>
            <p:cNvSpPr/>
            <p:nvPr/>
          </p:nvSpPr>
          <p:spPr>
            <a:xfrm>
              <a:off x="6591300" y="1521109"/>
              <a:ext cx="4668240" cy="751021"/>
            </a:xfrm>
            <a:custGeom>
              <a:avLst/>
              <a:gdLst>
                <a:gd name="connsiteX0" fmla="*/ 0 w 4668240"/>
                <a:gd name="connsiteY0" fmla="*/ 0 h 751021"/>
                <a:gd name="connsiteX1" fmla="*/ 4668240 w 4668240"/>
                <a:gd name="connsiteY1" fmla="*/ 0 h 751021"/>
                <a:gd name="connsiteX2" fmla="*/ 4668240 w 4668240"/>
                <a:gd name="connsiteY2" fmla="*/ 751021 h 751021"/>
                <a:gd name="connsiteX3" fmla="*/ 0 w 4668240"/>
                <a:gd name="connsiteY3" fmla="*/ 751021 h 75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8240" h="751021">
                  <a:moveTo>
                    <a:pt x="0" y="0"/>
                  </a:moveTo>
                  <a:lnTo>
                    <a:pt x="4668240" y="0"/>
                  </a:lnTo>
                  <a:lnTo>
                    <a:pt x="4668240" y="751021"/>
                  </a:lnTo>
                  <a:lnTo>
                    <a:pt x="0" y="751021"/>
                  </a:lnTo>
                  <a:close/>
                </a:path>
              </a:pathLst>
            </a:custGeom>
            <a:solidFill>
              <a:srgbClr val="F5F5F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" name="文本框 932">
              <a:extLst>
                <a:ext uri="{FF2B5EF4-FFF2-40B4-BE49-F238E27FC236}">
                  <a16:creationId xmlns:a16="http://schemas.microsoft.com/office/drawing/2014/main" id="{734513D9-F347-64D3-A512-5110D07C3882}"/>
                </a:ext>
              </a:extLst>
            </p:cNvPr>
            <p:cNvSpPr txBox="1"/>
            <p:nvPr/>
          </p:nvSpPr>
          <p:spPr>
            <a:xfrm>
              <a:off x="6675038" y="1657695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/>
                  <a:solidFill>
                    <a:srgbClr val="07000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企业级</a:t>
              </a:r>
            </a:p>
          </p:txBody>
        </p:sp>
        <p:sp>
          <p:nvSpPr>
            <p:cNvPr id="934" name="文本框 933">
              <a:extLst>
                <a:ext uri="{FF2B5EF4-FFF2-40B4-BE49-F238E27FC236}">
                  <a16:creationId xmlns:a16="http://schemas.microsoft.com/office/drawing/2014/main" id="{56950EA8-4EE9-3B17-3EE5-DB9C131C7211}"/>
                </a:ext>
              </a:extLst>
            </p:cNvPr>
            <p:cNvSpPr txBox="1"/>
            <p:nvPr/>
          </p:nvSpPr>
          <p:spPr>
            <a:xfrm>
              <a:off x="6675038" y="1823891"/>
              <a:ext cx="8258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/>
                  <a:solidFill>
                    <a:srgbClr val="07000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大模型服务</a:t>
              </a:r>
            </a:p>
          </p:txBody>
        </p:sp>
        <p:sp>
          <p:nvSpPr>
            <p:cNvPr id="935" name="文本框 934">
              <a:extLst>
                <a:ext uri="{FF2B5EF4-FFF2-40B4-BE49-F238E27FC236}">
                  <a16:creationId xmlns:a16="http://schemas.microsoft.com/office/drawing/2014/main" id="{6BE8A90F-914B-8646-0434-E9102732E6E9}"/>
                </a:ext>
              </a:extLst>
            </p:cNvPr>
            <p:cNvSpPr txBox="1"/>
            <p:nvPr/>
          </p:nvSpPr>
          <p:spPr>
            <a:xfrm>
              <a:off x="7891043" y="1615287"/>
              <a:ext cx="126188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多样化模型服务，开箱即用</a:t>
              </a:r>
            </a:p>
          </p:txBody>
        </p:sp>
        <p:sp>
          <p:nvSpPr>
            <p:cNvPr id="936" name="文本框 935">
              <a:extLst>
                <a:ext uri="{FF2B5EF4-FFF2-40B4-BE49-F238E27FC236}">
                  <a16:creationId xmlns:a16="http://schemas.microsoft.com/office/drawing/2014/main" id="{E2BFAA99-D802-7949-378D-242CFB2689BF}"/>
                </a:ext>
              </a:extLst>
            </p:cNvPr>
            <p:cNvSpPr txBox="1"/>
            <p:nvPr/>
          </p:nvSpPr>
          <p:spPr>
            <a:xfrm>
              <a:off x="7891043" y="1776863"/>
              <a:ext cx="144142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高性能推理服务，极致推理体验</a:t>
              </a:r>
            </a:p>
          </p:txBody>
        </p:sp>
        <p:sp>
          <p:nvSpPr>
            <p:cNvPr id="937" name="文本框 936">
              <a:extLst>
                <a:ext uri="{FF2B5EF4-FFF2-40B4-BE49-F238E27FC236}">
                  <a16:creationId xmlns:a16="http://schemas.microsoft.com/office/drawing/2014/main" id="{72A14D36-2097-66A3-D07D-B29261BCE6C6}"/>
                </a:ext>
              </a:extLst>
            </p:cNvPr>
            <p:cNvSpPr txBox="1"/>
            <p:nvPr/>
          </p:nvSpPr>
          <p:spPr>
            <a:xfrm>
              <a:off x="7891043" y="1938439"/>
              <a:ext cx="99257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全链路护航数据安全</a:t>
              </a:r>
            </a:p>
          </p:txBody>
        </p:sp>
        <p:sp>
          <p:nvSpPr>
            <p:cNvPr id="938" name="文本框 937">
              <a:extLst>
                <a:ext uri="{FF2B5EF4-FFF2-40B4-BE49-F238E27FC236}">
                  <a16:creationId xmlns:a16="http://schemas.microsoft.com/office/drawing/2014/main" id="{C3F231ED-848C-1071-FBB3-D3696C0E6DC2}"/>
                </a:ext>
              </a:extLst>
            </p:cNvPr>
            <p:cNvSpPr txBox="1"/>
            <p:nvPr/>
          </p:nvSpPr>
          <p:spPr>
            <a:xfrm>
              <a:off x="9496703" y="1615287"/>
              <a:ext cx="15311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零代码高效调用，业务落地更轻松</a:t>
              </a:r>
            </a:p>
          </p:txBody>
        </p:sp>
        <p:sp>
          <p:nvSpPr>
            <p:cNvPr id="939" name="文本框 938">
              <a:extLst>
                <a:ext uri="{FF2B5EF4-FFF2-40B4-BE49-F238E27FC236}">
                  <a16:creationId xmlns:a16="http://schemas.microsoft.com/office/drawing/2014/main" id="{76EC6A95-6A14-6B3A-4A6D-CC2ECCB24122}"/>
                </a:ext>
              </a:extLst>
            </p:cNvPr>
            <p:cNvSpPr txBox="1"/>
            <p:nvPr/>
          </p:nvSpPr>
          <p:spPr>
            <a:xfrm>
              <a:off x="9496703" y="1776863"/>
              <a:ext cx="135165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深度模型性能洞察保障高可用</a:t>
              </a:r>
            </a:p>
          </p:txBody>
        </p:sp>
        <p:sp>
          <p:nvSpPr>
            <p:cNvPr id="940" name="任意形状 939">
              <a:extLst>
                <a:ext uri="{FF2B5EF4-FFF2-40B4-BE49-F238E27FC236}">
                  <a16:creationId xmlns:a16="http://schemas.microsoft.com/office/drawing/2014/main" id="{4A7CCF34-A638-7FDC-92E8-703A7A46F25F}"/>
                </a:ext>
              </a:extLst>
            </p:cNvPr>
            <p:cNvSpPr/>
            <p:nvPr/>
          </p:nvSpPr>
          <p:spPr>
            <a:xfrm>
              <a:off x="7894953" y="1713365"/>
              <a:ext cx="37155" cy="36958"/>
            </a:xfrm>
            <a:custGeom>
              <a:avLst/>
              <a:gdLst>
                <a:gd name="connsiteX0" fmla="*/ 37155 w 37155"/>
                <a:gd name="connsiteY0" fmla="*/ 18479 h 36958"/>
                <a:gd name="connsiteX1" fmla="*/ 18578 w 37155"/>
                <a:gd name="connsiteY1" fmla="*/ 36959 h 36958"/>
                <a:gd name="connsiteX2" fmla="*/ 0 w 37155"/>
                <a:gd name="connsiteY2" fmla="*/ 18479 h 36958"/>
                <a:gd name="connsiteX3" fmla="*/ 18578 w 37155"/>
                <a:gd name="connsiteY3" fmla="*/ 0 h 36958"/>
                <a:gd name="connsiteX4" fmla="*/ 37155 w 37155"/>
                <a:gd name="connsiteY4" fmla="*/ 18479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958">
                  <a:moveTo>
                    <a:pt x="37155" y="18479"/>
                  </a:moveTo>
                  <a:cubicBezTo>
                    <a:pt x="37155" y="28685"/>
                    <a:pt x="28838" y="36959"/>
                    <a:pt x="18578" y="36959"/>
                  </a:cubicBezTo>
                  <a:cubicBezTo>
                    <a:pt x="8317" y="36959"/>
                    <a:pt x="0" y="28685"/>
                    <a:pt x="0" y="18479"/>
                  </a:cubicBezTo>
                  <a:cubicBezTo>
                    <a:pt x="0" y="8274"/>
                    <a:pt x="8317" y="0"/>
                    <a:pt x="18578" y="0"/>
                  </a:cubicBezTo>
                  <a:cubicBezTo>
                    <a:pt x="28838" y="0"/>
                    <a:pt x="37155" y="8274"/>
                    <a:pt x="37155" y="18479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1" name="任意形状 940">
              <a:extLst>
                <a:ext uri="{FF2B5EF4-FFF2-40B4-BE49-F238E27FC236}">
                  <a16:creationId xmlns:a16="http://schemas.microsoft.com/office/drawing/2014/main" id="{2731CED8-D652-0F8B-F2AB-9A9A893F4770}"/>
                </a:ext>
              </a:extLst>
            </p:cNvPr>
            <p:cNvSpPr/>
            <p:nvPr/>
          </p:nvSpPr>
          <p:spPr>
            <a:xfrm>
              <a:off x="7894953" y="1874586"/>
              <a:ext cx="37155" cy="36958"/>
            </a:xfrm>
            <a:custGeom>
              <a:avLst/>
              <a:gdLst>
                <a:gd name="connsiteX0" fmla="*/ 37155 w 37155"/>
                <a:gd name="connsiteY0" fmla="*/ 18479 h 36958"/>
                <a:gd name="connsiteX1" fmla="*/ 18578 w 37155"/>
                <a:gd name="connsiteY1" fmla="*/ 36959 h 36958"/>
                <a:gd name="connsiteX2" fmla="*/ 0 w 37155"/>
                <a:gd name="connsiteY2" fmla="*/ 18479 h 36958"/>
                <a:gd name="connsiteX3" fmla="*/ 18578 w 37155"/>
                <a:gd name="connsiteY3" fmla="*/ 0 h 36958"/>
                <a:gd name="connsiteX4" fmla="*/ 37155 w 37155"/>
                <a:gd name="connsiteY4" fmla="*/ 18479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958">
                  <a:moveTo>
                    <a:pt x="37155" y="18479"/>
                  </a:moveTo>
                  <a:cubicBezTo>
                    <a:pt x="37155" y="28685"/>
                    <a:pt x="28838" y="36959"/>
                    <a:pt x="18578" y="36959"/>
                  </a:cubicBezTo>
                  <a:cubicBezTo>
                    <a:pt x="8317" y="36959"/>
                    <a:pt x="0" y="28685"/>
                    <a:pt x="0" y="18479"/>
                  </a:cubicBezTo>
                  <a:cubicBezTo>
                    <a:pt x="0" y="8273"/>
                    <a:pt x="8317" y="0"/>
                    <a:pt x="18578" y="0"/>
                  </a:cubicBezTo>
                  <a:cubicBezTo>
                    <a:pt x="28838" y="0"/>
                    <a:pt x="37155" y="8274"/>
                    <a:pt x="37155" y="18479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" name="任意形状 941">
              <a:extLst>
                <a:ext uri="{FF2B5EF4-FFF2-40B4-BE49-F238E27FC236}">
                  <a16:creationId xmlns:a16="http://schemas.microsoft.com/office/drawing/2014/main" id="{36166286-C407-F5CD-4C80-C885B0FD86C0}"/>
                </a:ext>
              </a:extLst>
            </p:cNvPr>
            <p:cNvSpPr/>
            <p:nvPr/>
          </p:nvSpPr>
          <p:spPr>
            <a:xfrm>
              <a:off x="7894953" y="2037347"/>
              <a:ext cx="37155" cy="36958"/>
            </a:xfrm>
            <a:custGeom>
              <a:avLst/>
              <a:gdLst>
                <a:gd name="connsiteX0" fmla="*/ 37155 w 37155"/>
                <a:gd name="connsiteY0" fmla="*/ 18479 h 36958"/>
                <a:gd name="connsiteX1" fmla="*/ 18578 w 37155"/>
                <a:gd name="connsiteY1" fmla="*/ 36959 h 36958"/>
                <a:gd name="connsiteX2" fmla="*/ 0 w 37155"/>
                <a:gd name="connsiteY2" fmla="*/ 18479 h 36958"/>
                <a:gd name="connsiteX3" fmla="*/ 18578 w 37155"/>
                <a:gd name="connsiteY3" fmla="*/ 0 h 36958"/>
                <a:gd name="connsiteX4" fmla="*/ 37155 w 37155"/>
                <a:gd name="connsiteY4" fmla="*/ 18479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958">
                  <a:moveTo>
                    <a:pt x="37155" y="18479"/>
                  </a:moveTo>
                  <a:cubicBezTo>
                    <a:pt x="37155" y="28685"/>
                    <a:pt x="28838" y="36959"/>
                    <a:pt x="18578" y="36959"/>
                  </a:cubicBezTo>
                  <a:cubicBezTo>
                    <a:pt x="8317" y="36959"/>
                    <a:pt x="0" y="28685"/>
                    <a:pt x="0" y="18479"/>
                  </a:cubicBezTo>
                  <a:cubicBezTo>
                    <a:pt x="0" y="8273"/>
                    <a:pt x="8317" y="0"/>
                    <a:pt x="18578" y="0"/>
                  </a:cubicBezTo>
                  <a:cubicBezTo>
                    <a:pt x="28838" y="0"/>
                    <a:pt x="37155" y="8273"/>
                    <a:pt x="37155" y="18479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3" name="任意形状 942">
              <a:extLst>
                <a:ext uri="{FF2B5EF4-FFF2-40B4-BE49-F238E27FC236}">
                  <a16:creationId xmlns:a16="http://schemas.microsoft.com/office/drawing/2014/main" id="{66D28491-B3CD-4320-13B4-6C1AF9F88603}"/>
                </a:ext>
              </a:extLst>
            </p:cNvPr>
            <p:cNvSpPr/>
            <p:nvPr/>
          </p:nvSpPr>
          <p:spPr>
            <a:xfrm>
              <a:off x="9498589" y="1713365"/>
              <a:ext cx="37155" cy="36958"/>
            </a:xfrm>
            <a:custGeom>
              <a:avLst/>
              <a:gdLst>
                <a:gd name="connsiteX0" fmla="*/ 37155 w 37155"/>
                <a:gd name="connsiteY0" fmla="*/ 18479 h 36958"/>
                <a:gd name="connsiteX1" fmla="*/ 18578 w 37155"/>
                <a:gd name="connsiteY1" fmla="*/ 36959 h 36958"/>
                <a:gd name="connsiteX2" fmla="*/ 0 w 37155"/>
                <a:gd name="connsiteY2" fmla="*/ 18479 h 36958"/>
                <a:gd name="connsiteX3" fmla="*/ 18578 w 37155"/>
                <a:gd name="connsiteY3" fmla="*/ 0 h 36958"/>
                <a:gd name="connsiteX4" fmla="*/ 37155 w 37155"/>
                <a:gd name="connsiteY4" fmla="*/ 18479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958">
                  <a:moveTo>
                    <a:pt x="37155" y="18479"/>
                  </a:moveTo>
                  <a:cubicBezTo>
                    <a:pt x="37155" y="28685"/>
                    <a:pt x="28838" y="36959"/>
                    <a:pt x="18578" y="36959"/>
                  </a:cubicBezTo>
                  <a:cubicBezTo>
                    <a:pt x="8318" y="36959"/>
                    <a:pt x="0" y="28685"/>
                    <a:pt x="0" y="18479"/>
                  </a:cubicBezTo>
                  <a:cubicBezTo>
                    <a:pt x="0" y="8274"/>
                    <a:pt x="8318" y="0"/>
                    <a:pt x="18578" y="0"/>
                  </a:cubicBezTo>
                  <a:cubicBezTo>
                    <a:pt x="28838" y="0"/>
                    <a:pt x="37155" y="8274"/>
                    <a:pt x="37155" y="18479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4" name="任意形状 943">
              <a:extLst>
                <a:ext uri="{FF2B5EF4-FFF2-40B4-BE49-F238E27FC236}">
                  <a16:creationId xmlns:a16="http://schemas.microsoft.com/office/drawing/2014/main" id="{24705E36-EFBB-D511-9AA3-1E2AE05FD86A}"/>
                </a:ext>
              </a:extLst>
            </p:cNvPr>
            <p:cNvSpPr/>
            <p:nvPr/>
          </p:nvSpPr>
          <p:spPr>
            <a:xfrm>
              <a:off x="9498589" y="1874586"/>
              <a:ext cx="37155" cy="36958"/>
            </a:xfrm>
            <a:custGeom>
              <a:avLst/>
              <a:gdLst>
                <a:gd name="connsiteX0" fmla="*/ 37155 w 37155"/>
                <a:gd name="connsiteY0" fmla="*/ 18479 h 36958"/>
                <a:gd name="connsiteX1" fmla="*/ 18578 w 37155"/>
                <a:gd name="connsiteY1" fmla="*/ 36959 h 36958"/>
                <a:gd name="connsiteX2" fmla="*/ 0 w 37155"/>
                <a:gd name="connsiteY2" fmla="*/ 18479 h 36958"/>
                <a:gd name="connsiteX3" fmla="*/ 18578 w 37155"/>
                <a:gd name="connsiteY3" fmla="*/ 0 h 36958"/>
                <a:gd name="connsiteX4" fmla="*/ 37155 w 37155"/>
                <a:gd name="connsiteY4" fmla="*/ 18479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958">
                  <a:moveTo>
                    <a:pt x="37155" y="18479"/>
                  </a:moveTo>
                  <a:cubicBezTo>
                    <a:pt x="37155" y="28685"/>
                    <a:pt x="28838" y="36959"/>
                    <a:pt x="18578" y="36959"/>
                  </a:cubicBezTo>
                  <a:cubicBezTo>
                    <a:pt x="8318" y="36959"/>
                    <a:pt x="0" y="28685"/>
                    <a:pt x="0" y="18479"/>
                  </a:cubicBezTo>
                  <a:cubicBezTo>
                    <a:pt x="0" y="8273"/>
                    <a:pt x="8318" y="0"/>
                    <a:pt x="18578" y="0"/>
                  </a:cubicBezTo>
                  <a:cubicBezTo>
                    <a:pt x="28838" y="0"/>
                    <a:pt x="37155" y="8274"/>
                    <a:pt x="37155" y="18479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45" name="图形 918">
            <a:extLst>
              <a:ext uri="{FF2B5EF4-FFF2-40B4-BE49-F238E27FC236}">
                <a16:creationId xmlns:a16="http://schemas.microsoft.com/office/drawing/2014/main" id="{8BC620B9-007D-889A-C9F7-2E0E71C2AC36}"/>
              </a:ext>
            </a:extLst>
          </p:cNvPr>
          <p:cNvGrpSpPr/>
          <p:nvPr/>
        </p:nvGrpSpPr>
        <p:grpSpPr>
          <a:xfrm>
            <a:off x="6591300" y="2253505"/>
            <a:ext cx="4668240" cy="623345"/>
            <a:chOff x="6591300" y="2355103"/>
            <a:chExt cx="4668240" cy="623345"/>
          </a:xfrm>
        </p:grpSpPr>
        <p:sp>
          <p:nvSpPr>
            <p:cNvPr id="946" name="任意形状 945">
              <a:extLst>
                <a:ext uri="{FF2B5EF4-FFF2-40B4-BE49-F238E27FC236}">
                  <a16:creationId xmlns:a16="http://schemas.microsoft.com/office/drawing/2014/main" id="{95BCD967-1404-040F-5943-9D4A5A45FDEB}"/>
                </a:ext>
              </a:extLst>
            </p:cNvPr>
            <p:cNvSpPr/>
            <p:nvPr/>
          </p:nvSpPr>
          <p:spPr>
            <a:xfrm>
              <a:off x="6591300" y="2355103"/>
              <a:ext cx="4668240" cy="623345"/>
            </a:xfrm>
            <a:custGeom>
              <a:avLst/>
              <a:gdLst>
                <a:gd name="connsiteX0" fmla="*/ 0 w 4668240"/>
                <a:gd name="connsiteY0" fmla="*/ 0 h 623345"/>
                <a:gd name="connsiteX1" fmla="*/ 4668240 w 4668240"/>
                <a:gd name="connsiteY1" fmla="*/ 0 h 623345"/>
                <a:gd name="connsiteX2" fmla="*/ 4668240 w 4668240"/>
                <a:gd name="connsiteY2" fmla="*/ 623345 h 623345"/>
                <a:gd name="connsiteX3" fmla="*/ 0 w 4668240"/>
                <a:gd name="connsiteY3" fmla="*/ 623345 h 623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8240" h="623345">
                  <a:moveTo>
                    <a:pt x="0" y="0"/>
                  </a:moveTo>
                  <a:lnTo>
                    <a:pt x="4668240" y="0"/>
                  </a:lnTo>
                  <a:lnTo>
                    <a:pt x="4668240" y="623345"/>
                  </a:lnTo>
                  <a:lnTo>
                    <a:pt x="0" y="623345"/>
                  </a:lnTo>
                  <a:close/>
                </a:path>
              </a:pathLst>
            </a:custGeom>
            <a:solidFill>
              <a:srgbClr val="F5F5F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7" name="文本框 946">
              <a:extLst>
                <a:ext uri="{FF2B5EF4-FFF2-40B4-BE49-F238E27FC236}">
                  <a16:creationId xmlns:a16="http://schemas.microsoft.com/office/drawing/2014/main" id="{A98ACD49-69C4-E847-EE16-C0AADD2DB775}"/>
                </a:ext>
              </a:extLst>
            </p:cNvPr>
            <p:cNvSpPr txBox="1"/>
            <p:nvPr/>
          </p:nvSpPr>
          <p:spPr>
            <a:xfrm>
              <a:off x="6674799" y="2446437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/>
                  <a:solidFill>
                    <a:srgbClr val="07000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一站式</a:t>
              </a:r>
            </a:p>
          </p:txBody>
        </p:sp>
        <p:sp>
          <p:nvSpPr>
            <p:cNvPr id="948" name="文本框 947">
              <a:extLst>
                <a:ext uri="{FF2B5EF4-FFF2-40B4-BE49-F238E27FC236}">
                  <a16:creationId xmlns:a16="http://schemas.microsoft.com/office/drawing/2014/main" id="{E7A60F85-EB33-825A-F233-69EAAA21011D}"/>
                </a:ext>
              </a:extLst>
            </p:cNvPr>
            <p:cNvSpPr txBox="1"/>
            <p:nvPr/>
          </p:nvSpPr>
          <p:spPr>
            <a:xfrm>
              <a:off x="6674799" y="2610364"/>
              <a:ext cx="9541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/>
                  <a:solidFill>
                    <a:srgbClr val="07000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机器学习服务</a:t>
              </a:r>
            </a:p>
          </p:txBody>
        </p:sp>
        <p:sp>
          <p:nvSpPr>
            <p:cNvPr id="949" name="文本框 948">
              <a:extLst>
                <a:ext uri="{FF2B5EF4-FFF2-40B4-BE49-F238E27FC236}">
                  <a16:creationId xmlns:a16="http://schemas.microsoft.com/office/drawing/2014/main" id="{2ABB3121-3350-00B4-2DF6-71D3BDFDA66D}"/>
                </a:ext>
              </a:extLst>
            </p:cNvPr>
            <p:cNvSpPr txBox="1"/>
            <p:nvPr/>
          </p:nvSpPr>
          <p:spPr>
            <a:xfrm>
              <a:off x="7891043" y="2470623"/>
              <a:ext cx="15840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打造 AI 模型工程化全流程服务体系</a:t>
              </a:r>
            </a:p>
          </p:txBody>
        </p:sp>
        <p:sp>
          <p:nvSpPr>
            <p:cNvPr id="950" name="文本框 949">
              <a:extLst>
                <a:ext uri="{FF2B5EF4-FFF2-40B4-BE49-F238E27FC236}">
                  <a16:creationId xmlns:a16="http://schemas.microsoft.com/office/drawing/2014/main" id="{7290FF7A-D19D-A137-EFD8-5084C9BF14D9}"/>
                </a:ext>
              </a:extLst>
            </p:cNvPr>
            <p:cNvSpPr txBox="1"/>
            <p:nvPr/>
          </p:nvSpPr>
          <p:spPr>
            <a:xfrm>
              <a:off x="7891043" y="2629994"/>
              <a:ext cx="11721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精准匹配开发者开发需求</a:t>
              </a:r>
            </a:p>
          </p:txBody>
        </p:sp>
        <p:sp>
          <p:nvSpPr>
            <p:cNvPr id="951" name="文本框 950">
              <a:extLst>
                <a:ext uri="{FF2B5EF4-FFF2-40B4-BE49-F238E27FC236}">
                  <a16:creationId xmlns:a16="http://schemas.microsoft.com/office/drawing/2014/main" id="{611B81A4-2327-AF2B-4A84-41697DEEB8F3}"/>
                </a:ext>
              </a:extLst>
            </p:cNvPr>
            <p:cNvSpPr txBox="1"/>
            <p:nvPr/>
          </p:nvSpPr>
          <p:spPr>
            <a:xfrm>
              <a:off x="9496703" y="2470623"/>
              <a:ext cx="126188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提供高效数据管理编排服务</a:t>
              </a:r>
            </a:p>
          </p:txBody>
        </p:sp>
        <p:sp>
          <p:nvSpPr>
            <p:cNvPr id="952" name="文本框 951">
              <a:extLst>
                <a:ext uri="{FF2B5EF4-FFF2-40B4-BE49-F238E27FC236}">
                  <a16:creationId xmlns:a16="http://schemas.microsoft.com/office/drawing/2014/main" id="{3FB3E68E-1CA8-D107-DADB-8FD8E6E1F44F}"/>
                </a:ext>
              </a:extLst>
            </p:cNvPr>
            <p:cNvSpPr txBox="1"/>
            <p:nvPr/>
          </p:nvSpPr>
          <p:spPr>
            <a:xfrm>
              <a:off x="9496703" y="2629994"/>
              <a:ext cx="135165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/>
                  <a:solidFill>
                    <a:srgbClr val="231815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Noto Sans SC"/>
                  <a:rtl val="0"/>
                </a:rPr>
                <a:t>多策略助力大模型迭代快稳准</a:t>
              </a:r>
            </a:p>
          </p:txBody>
        </p:sp>
        <p:sp>
          <p:nvSpPr>
            <p:cNvPr id="953" name="任意形状 952">
              <a:extLst>
                <a:ext uri="{FF2B5EF4-FFF2-40B4-BE49-F238E27FC236}">
                  <a16:creationId xmlns:a16="http://schemas.microsoft.com/office/drawing/2014/main" id="{F131D5CD-6BAE-5D16-1BAF-E9F7B3E82A5F}"/>
                </a:ext>
              </a:extLst>
            </p:cNvPr>
            <p:cNvSpPr/>
            <p:nvPr/>
          </p:nvSpPr>
          <p:spPr>
            <a:xfrm>
              <a:off x="7894953" y="2568103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7" y="36454"/>
                    <a:pt x="0" y="28294"/>
                    <a:pt x="0" y="18227"/>
                  </a:cubicBezTo>
                  <a:cubicBezTo>
                    <a:pt x="0" y="8161"/>
                    <a:pt x="8317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4" name="任意形状 953">
              <a:extLst>
                <a:ext uri="{FF2B5EF4-FFF2-40B4-BE49-F238E27FC236}">
                  <a16:creationId xmlns:a16="http://schemas.microsoft.com/office/drawing/2014/main" id="{D498ECE0-2E8E-15D4-D54D-CBFA0CD9A4B9}"/>
                </a:ext>
              </a:extLst>
            </p:cNvPr>
            <p:cNvSpPr/>
            <p:nvPr/>
          </p:nvSpPr>
          <p:spPr>
            <a:xfrm>
              <a:off x="7894953" y="2727123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7" y="36454"/>
                    <a:pt x="0" y="28294"/>
                    <a:pt x="0" y="18227"/>
                  </a:cubicBezTo>
                  <a:cubicBezTo>
                    <a:pt x="0" y="8161"/>
                    <a:pt x="8317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5" name="任意形状 954">
              <a:extLst>
                <a:ext uri="{FF2B5EF4-FFF2-40B4-BE49-F238E27FC236}">
                  <a16:creationId xmlns:a16="http://schemas.microsoft.com/office/drawing/2014/main" id="{0D2D6622-11AC-BABC-E9EB-20A4DFB41E8A}"/>
                </a:ext>
              </a:extLst>
            </p:cNvPr>
            <p:cNvSpPr/>
            <p:nvPr/>
          </p:nvSpPr>
          <p:spPr>
            <a:xfrm>
              <a:off x="9498589" y="2568103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8" y="36454"/>
                    <a:pt x="0" y="28294"/>
                    <a:pt x="0" y="18227"/>
                  </a:cubicBezTo>
                  <a:cubicBezTo>
                    <a:pt x="0" y="8161"/>
                    <a:pt x="8318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6" name="任意形状 955">
              <a:extLst>
                <a:ext uri="{FF2B5EF4-FFF2-40B4-BE49-F238E27FC236}">
                  <a16:creationId xmlns:a16="http://schemas.microsoft.com/office/drawing/2014/main" id="{E78B9454-5720-278F-B22A-0F9741850CD9}"/>
                </a:ext>
              </a:extLst>
            </p:cNvPr>
            <p:cNvSpPr/>
            <p:nvPr/>
          </p:nvSpPr>
          <p:spPr>
            <a:xfrm>
              <a:off x="9498589" y="2727123"/>
              <a:ext cx="37155" cy="36454"/>
            </a:xfrm>
            <a:custGeom>
              <a:avLst/>
              <a:gdLst>
                <a:gd name="connsiteX0" fmla="*/ 37155 w 37155"/>
                <a:gd name="connsiteY0" fmla="*/ 18227 h 36454"/>
                <a:gd name="connsiteX1" fmla="*/ 18578 w 37155"/>
                <a:gd name="connsiteY1" fmla="*/ 36454 h 36454"/>
                <a:gd name="connsiteX2" fmla="*/ 0 w 37155"/>
                <a:gd name="connsiteY2" fmla="*/ 18227 h 36454"/>
                <a:gd name="connsiteX3" fmla="*/ 18578 w 37155"/>
                <a:gd name="connsiteY3" fmla="*/ 0 h 36454"/>
                <a:gd name="connsiteX4" fmla="*/ 37155 w 37155"/>
                <a:gd name="connsiteY4" fmla="*/ 18227 h 36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55" h="36454">
                  <a:moveTo>
                    <a:pt x="37155" y="18227"/>
                  </a:moveTo>
                  <a:cubicBezTo>
                    <a:pt x="37155" y="28294"/>
                    <a:pt x="28838" y="36454"/>
                    <a:pt x="18578" y="36454"/>
                  </a:cubicBezTo>
                  <a:cubicBezTo>
                    <a:pt x="8318" y="36454"/>
                    <a:pt x="0" y="28294"/>
                    <a:pt x="0" y="18227"/>
                  </a:cubicBezTo>
                  <a:cubicBezTo>
                    <a:pt x="0" y="8161"/>
                    <a:pt x="8318" y="0"/>
                    <a:pt x="18578" y="0"/>
                  </a:cubicBezTo>
                  <a:cubicBezTo>
                    <a:pt x="28838" y="0"/>
                    <a:pt x="37155" y="8161"/>
                    <a:pt x="37155" y="18227"/>
                  </a:cubicBezTo>
                  <a:close/>
                </a:path>
              </a:pathLst>
            </a:custGeom>
            <a:solidFill>
              <a:srgbClr val="19C475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7" name="文本框 956">
            <a:extLst>
              <a:ext uri="{FF2B5EF4-FFF2-40B4-BE49-F238E27FC236}">
                <a16:creationId xmlns:a16="http://schemas.microsoft.com/office/drawing/2014/main" id="{90DCE6B9-7C61-A994-9C03-E54216D0FA2F}"/>
              </a:ext>
            </a:extLst>
          </p:cNvPr>
          <p:cNvSpPr txBox="1"/>
          <p:nvPr/>
        </p:nvSpPr>
        <p:spPr>
          <a:xfrm>
            <a:off x="7560227" y="3149102"/>
            <a:ext cx="3003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灵活满足企业及开发者多种需求</a:t>
            </a:r>
          </a:p>
        </p:txBody>
      </p:sp>
      <p:grpSp>
        <p:nvGrpSpPr>
          <p:cNvPr id="1034" name="图形 1032">
            <a:extLst>
              <a:ext uri="{FF2B5EF4-FFF2-40B4-BE49-F238E27FC236}">
                <a16:creationId xmlns:a16="http://schemas.microsoft.com/office/drawing/2014/main" id="{3146910B-FA69-B066-F72E-6D20ED0B074E}"/>
              </a:ext>
            </a:extLst>
          </p:cNvPr>
          <p:cNvGrpSpPr/>
          <p:nvPr/>
        </p:nvGrpSpPr>
        <p:grpSpPr>
          <a:xfrm>
            <a:off x="6590924" y="3579926"/>
            <a:ext cx="4651827" cy="2528583"/>
            <a:chOff x="6590924" y="3681524"/>
            <a:chExt cx="4651827" cy="2528583"/>
          </a:xfrm>
        </p:grpSpPr>
        <p:grpSp>
          <p:nvGrpSpPr>
            <p:cNvPr id="1035" name="图形 1032">
              <a:extLst>
                <a:ext uri="{FF2B5EF4-FFF2-40B4-BE49-F238E27FC236}">
                  <a16:creationId xmlns:a16="http://schemas.microsoft.com/office/drawing/2014/main" id="{589BE793-8427-DCBB-2694-8FBB1FCF260C}"/>
                </a:ext>
              </a:extLst>
            </p:cNvPr>
            <p:cNvGrpSpPr/>
            <p:nvPr/>
          </p:nvGrpSpPr>
          <p:grpSpPr>
            <a:xfrm>
              <a:off x="6590924" y="3681524"/>
              <a:ext cx="1518432" cy="2525881"/>
              <a:chOff x="6590924" y="3681524"/>
              <a:chExt cx="1518432" cy="2525881"/>
            </a:xfrm>
          </p:grpSpPr>
          <p:sp>
            <p:nvSpPr>
              <p:cNvPr id="1036" name="任意形状 1035">
                <a:extLst>
                  <a:ext uri="{FF2B5EF4-FFF2-40B4-BE49-F238E27FC236}">
                    <a16:creationId xmlns:a16="http://schemas.microsoft.com/office/drawing/2014/main" id="{C7D680AE-0594-B2EE-1834-8D9696E0068A}"/>
                  </a:ext>
                </a:extLst>
              </p:cNvPr>
              <p:cNvSpPr/>
              <p:nvPr/>
            </p:nvSpPr>
            <p:spPr>
              <a:xfrm>
                <a:off x="6596211" y="3686926"/>
                <a:ext cx="1508102" cy="2520479"/>
              </a:xfrm>
              <a:custGeom>
                <a:avLst/>
                <a:gdLst>
                  <a:gd name="connsiteX0" fmla="*/ 0 w 1508102"/>
                  <a:gd name="connsiteY0" fmla="*/ 0 h 2520479"/>
                  <a:gd name="connsiteX1" fmla="*/ 1508103 w 1508102"/>
                  <a:gd name="connsiteY1" fmla="*/ 0 h 2520479"/>
                  <a:gd name="connsiteX2" fmla="*/ 1508103 w 1508102"/>
                  <a:gd name="connsiteY2" fmla="*/ 2520480 h 2520479"/>
                  <a:gd name="connsiteX3" fmla="*/ 0 w 1508102"/>
                  <a:gd name="connsiteY3" fmla="*/ 2520480 h 252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8102" h="2520479">
                    <a:moveTo>
                      <a:pt x="0" y="0"/>
                    </a:moveTo>
                    <a:lnTo>
                      <a:pt x="1508103" y="0"/>
                    </a:lnTo>
                    <a:lnTo>
                      <a:pt x="1508103" y="2520480"/>
                    </a:lnTo>
                    <a:lnTo>
                      <a:pt x="0" y="2520480"/>
                    </a:lnTo>
                    <a:close/>
                  </a:path>
                </a:pathLst>
              </a:custGeom>
              <a:solidFill>
                <a:srgbClr val="FFFFFF"/>
              </a:solidFill>
              <a:ln w="10452" cap="flat">
                <a:solidFill>
                  <a:srgbClr val="EDEDE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任意形状 1036">
                <a:extLst>
                  <a:ext uri="{FF2B5EF4-FFF2-40B4-BE49-F238E27FC236}">
                    <a16:creationId xmlns:a16="http://schemas.microsoft.com/office/drawing/2014/main" id="{8FB7954B-816E-8CFE-A54B-C804082FF58B}"/>
                  </a:ext>
                </a:extLst>
              </p:cNvPr>
              <p:cNvSpPr/>
              <p:nvPr/>
            </p:nvSpPr>
            <p:spPr>
              <a:xfrm>
                <a:off x="6590924" y="3681524"/>
                <a:ext cx="1518432" cy="21610"/>
              </a:xfrm>
              <a:custGeom>
                <a:avLst/>
                <a:gdLst>
                  <a:gd name="connsiteX0" fmla="*/ 0 w 1518432"/>
                  <a:gd name="connsiteY0" fmla="*/ 0 h 21610"/>
                  <a:gd name="connsiteX1" fmla="*/ 1518432 w 1518432"/>
                  <a:gd name="connsiteY1" fmla="*/ 0 h 21610"/>
                  <a:gd name="connsiteX2" fmla="*/ 1518432 w 1518432"/>
                  <a:gd name="connsiteY2" fmla="*/ 21611 h 21610"/>
                  <a:gd name="connsiteX3" fmla="*/ 0 w 1518432"/>
                  <a:gd name="connsiteY3" fmla="*/ 21611 h 2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8432" h="21610">
                    <a:moveTo>
                      <a:pt x="0" y="0"/>
                    </a:moveTo>
                    <a:lnTo>
                      <a:pt x="1518432" y="0"/>
                    </a:lnTo>
                    <a:lnTo>
                      <a:pt x="1518432" y="21611"/>
                    </a:lnTo>
                    <a:lnTo>
                      <a:pt x="0" y="21611"/>
                    </a:lnTo>
                    <a:close/>
                  </a:path>
                </a:pathLst>
              </a:custGeom>
              <a:solidFill>
                <a:srgbClr val="19C475"/>
              </a:solidFill>
              <a:ln w="122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文本框 1037">
                <a:extLst>
                  <a:ext uri="{FF2B5EF4-FFF2-40B4-BE49-F238E27FC236}">
                    <a16:creationId xmlns:a16="http://schemas.microsoft.com/office/drawing/2014/main" id="{F952EDA7-EC1A-7013-3078-9372391BD92D}"/>
                  </a:ext>
                </a:extLst>
              </p:cNvPr>
              <p:cNvSpPr txBox="1"/>
              <p:nvPr/>
            </p:nvSpPr>
            <p:spPr>
              <a:xfrm>
                <a:off x="6638808" y="3791868"/>
                <a:ext cx="8226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/>
                    <a:solidFill>
                      <a:srgbClr val="07000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d.run 软件</a:t>
                </a:r>
              </a:p>
            </p:txBody>
          </p:sp>
          <p:sp>
            <p:nvSpPr>
              <p:cNvPr id="1039" name="文本框 1038">
                <a:extLst>
                  <a:ext uri="{FF2B5EF4-FFF2-40B4-BE49-F238E27FC236}">
                    <a16:creationId xmlns:a16="http://schemas.microsoft.com/office/drawing/2014/main" id="{FB241D8F-3C9B-A0E1-1CFC-4288A5E46605}"/>
                  </a:ext>
                </a:extLst>
              </p:cNvPr>
              <p:cNvSpPr txBox="1"/>
              <p:nvPr/>
            </p:nvSpPr>
            <p:spPr>
              <a:xfrm>
                <a:off x="6638808" y="3988084"/>
                <a:ext cx="8258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/>
                    <a:solidFill>
                      <a:srgbClr val="07000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私有化部署</a:t>
                </a:r>
              </a:p>
            </p:txBody>
          </p:sp>
          <p:sp>
            <p:nvSpPr>
              <p:cNvPr id="1040" name="文本框 1039">
                <a:extLst>
                  <a:ext uri="{FF2B5EF4-FFF2-40B4-BE49-F238E27FC236}">
                    <a16:creationId xmlns:a16="http://schemas.microsoft.com/office/drawing/2014/main" id="{B3964F35-FFC6-BF17-A476-D906D804A8F2}"/>
                  </a:ext>
                </a:extLst>
              </p:cNvPr>
              <p:cNvSpPr txBox="1"/>
              <p:nvPr/>
            </p:nvSpPr>
            <p:spPr>
              <a:xfrm>
                <a:off x="6638809" y="4689573"/>
                <a:ext cx="1402250" cy="1204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altLang="zh-CN" sz="700" b="0" i="0" u="none" strike="noStrike" kern="1200" cap="none" spc="0" normalizeH="0" baseline="0" noProof="0" dirty="0" err="1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d.run</a:t>
                </a: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支持企业构建私有化的 </a:t>
                </a: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AI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算力平台，高性能调度引擎深度融合一站式机器学习平台和高效的模型服务，满足企业 </a:t>
                </a: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AI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长期发展战略需求的同时，严格保障核心数据的隐私和安全性。</a:t>
                </a:r>
              </a:p>
            </p:txBody>
          </p:sp>
        </p:grpSp>
        <p:grpSp>
          <p:nvGrpSpPr>
            <p:cNvPr id="1047" name="图形 1032">
              <a:extLst>
                <a:ext uri="{FF2B5EF4-FFF2-40B4-BE49-F238E27FC236}">
                  <a16:creationId xmlns:a16="http://schemas.microsoft.com/office/drawing/2014/main" id="{06E33EB2-0667-C0A4-53C3-95BF402C31C8}"/>
                </a:ext>
              </a:extLst>
            </p:cNvPr>
            <p:cNvGrpSpPr/>
            <p:nvPr/>
          </p:nvGrpSpPr>
          <p:grpSpPr>
            <a:xfrm>
              <a:off x="8162602" y="3684225"/>
              <a:ext cx="1518432" cy="2525882"/>
              <a:chOff x="8162602" y="3684225"/>
              <a:chExt cx="1518432" cy="2525882"/>
            </a:xfrm>
          </p:grpSpPr>
          <p:sp>
            <p:nvSpPr>
              <p:cNvPr id="1048" name="任意形状 1047">
                <a:extLst>
                  <a:ext uri="{FF2B5EF4-FFF2-40B4-BE49-F238E27FC236}">
                    <a16:creationId xmlns:a16="http://schemas.microsoft.com/office/drawing/2014/main" id="{4637F391-17DB-AD8A-0EA3-E1894C762EC5}"/>
                  </a:ext>
                </a:extLst>
              </p:cNvPr>
              <p:cNvSpPr/>
              <p:nvPr/>
            </p:nvSpPr>
            <p:spPr>
              <a:xfrm>
                <a:off x="8167766" y="3689628"/>
                <a:ext cx="1508102" cy="2520479"/>
              </a:xfrm>
              <a:custGeom>
                <a:avLst/>
                <a:gdLst>
                  <a:gd name="connsiteX0" fmla="*/ 0 w 1508102"/>
                  <a:gd name="connsiteY0" fmla="*/ 0 h 2520479"/>
                  <a:gd name="connsiteX1" fmla="*/ 1508103 w 1508102"/>
                  <a:gd name="connsiteY1" fmla="*/ 0 h 2520479"/>
                  <a:gd name="connsiteX2" fmla="*/ 1508103 w 1508102"/>
                  <a:gd name="connsiteY2" fmla="*/ 2520479 h 2520479"/>
                  <a:gd name="connsiteX3" fmla="*/ 0 w 1508102"/>
                  <a:gd name="connsiteY3" fmla="*/ 2520479 h 252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8102" h="2520479">
                    <a:moveTo>
                      <a:pt x="0" y="0"/>
                    </a:moveTo>
                    <a:lnTo>
                      <a:pt x="1508103" y="0"/>
                    </a:lnTo>
                    <a:lnTo>
                      <a:pt x="1508103" y="2520479"/>
                    </a:lnTo>
                    <a:lnTo>
                      <a:pt x="0" y="2520479"/>
                    </a:lnTo>
                    <a:close/>
                  </a:path>
                </a:pathLst>
              </a:custGeom>
              <a:solidFill>
                <a:srgbClr val="FFFFFF"/>
              </a:solidFill>
              <a:ln w="10452" cap="flat">
                <a:solidFill>
                  <a:srgbClr val="EDEDE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任意形状 1048">
                <a:extLst>
                  <a:ext uri="{FF2B5EF4-FFF2-40B4-BE49-F238E27FC236}">
                    <a16:creationId xmlns:a16="http://schemas.microsoft.com/office/drawing/2014/main" id="{2C4BCF4F-4165-FE28-5F00-EB17DD133066}"/>
                  </a:ext>
                </a:extLst>
              </p:cNvPr>
              <p:cNvSpPr/>
              <p:nvPr/>
            </p:nvSpPr>
            <p:spPr>
              <a:xfrm>
                <a:off x="8162602" y="3684225"/>
                <a:ext cx="1518432" cy="21610"/>
              </a:xfrm>
              <a:custGeom>
                <a:avLst/>
                <a:gdLst>
                  <a:gd name="connsiteX0" fmla="*/ 0 w 1518432"/>
                  <a:gd name="connsiteY0" fmla="*/ 0 h 21610"/>
                  <a:gd name="connsiteX1" fmla="*/ 1518432 w 1518432"/>
                  <a:gd name="connsiteY1" fmla="*/ 0 h 21610"/>
                  <a:gd name="connsiteX2" fmla="*/ 1518432 w 1518432"/>
                  <a:gd name="connsiteY2" fmla="*/ 21611 h 21610"/>
                  <a:gd name="connsiteX3" fmla="*/ 0 w 1518432"/>
                  <a:gd name="connsiteY3" fmla="*/ 21611 h 2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8432" h="21610">
                    <a:moveTo>
                      <a:pt x="0" y="0"/>
                    </a:moveTo>
                    <a:lnTo>
                      <a:pt x="1518432" y="0"/>
                    </a:lnTo>
                    <a:lnTo>
                      <a:pt x="1518432" y="21611"/>
                    </a:lnTo>
                    <a:lnTo>
                      <a:pt x="0" y="21611"/>
                    </a:lnTo>
                    <a:close/>
                  </a:path>
                </a:pathLst>
              </a:custGeom>
              <a:solidFill>
                <a:srgbClr val="19C475"/>
              </a:solidFill>
              <a:ln w="122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文本框 1049">
                <a:extLst>
                  <a:ext uri="{FF2B5EF4-FFF2-40B4-BE49-F238E27FC236}">
                    <a16:creationId xmlns:a16="http://schemas.microsoft.com/office/drawing/2014/main" id="{887D9502-2F56-445D-475B-B18F5000A2B4}"/>
                  </a:ext>
                </a:extLst>
              </p:cNvPr>
              <p:cNvSpPr txBox="1"/>
              <p:nvPr/>
            </p:nvSpPr>
            <p:spPr>
              <a:xfrm>
                <a:off x="8210610" y="3902500"/>
                <a:ext cx="7473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/>
                    <a:solidFill>
                      <a:srgbClr val="07000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AI 一体机</a:t>
                </a:r>
              </a:p>
            </p:txBody>
          </p:sp>
          <p:sp>
            <p:nvSpPr>
              <p:cNvPr id="1051" name="文本框 1050">
                <a:extLst>
                  <a:ext uri="{FF2B5EF4-FFF2-40B4-BE49-F238E27FC236}">
                    <a16:creationId xmlns:a16="http://schemas.microsoft.com/office/drawing/2014/main" id="{C66D4213-EB68-9C0A-4AD4-80FC023869D4}"/>
                  </a:ext>
                </a:extLst>
              </p:cNvPr>
              <p:cNvSpPr txBox="1"/>
              <p:nvPr/>
            </p:nvSpPr>
            <p:spPr>
              <a:xfrm>
                <a:off x="8210365" y="4692275"/>
                <a:ext cx="1392412" cy="719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AI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一体机，软硬件一体化调优，前沿模型开箱即用，最快 </a:t>
                </a:r>
                <a:r>
                  <a:rPr kumimoji="0" lang="en-US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0.5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天完成服务上线，支持多种算力卡配置及多版本模型选择。</a:t>
                </a:r>
              </a:p>
            </p:txBody>
          </p:sp>
        </p:grpSp>
        <p:grpSp>
          <p:nvGrpSpPr>
            <p:cNvPr id="1056" name="图形 1032">
              <a:extLst>
                <a:ext uri="{FF2B5EF4-FFF2-40B4-BE49-F238E27FC236}">
                  <a16:creationId xmlns:a16="http://schemas.microsoft.com/office/drawing/2014/main" id="{EB2D0444-D574-7CD3-2F43-15524ED8ECD1}"/>
                </a:ext>
              </a:extLst>
            </p:cNvPr>
            <p:cNvGrpSpPr/>
            <p:nvPr/>
          </p:nvGrpSpPr>
          <p:grpSpPr>
            <a:xfrm>
              <a:off x="9724319" y="3684225"/>
              <a:ext cx="1518432" cy="2525882"/>
              <a:chOff x="9724319" y="3684225"/>
              <a:chExt cx="1518432" cy="2525882"/>
            </a:xfrm>
          </p:grpSpPr>
          <p:sp>
            <p:nvSpPr>
              <p:cNvPr id="1057" name="任意形状 1056">
                <a:extLst>
                  <a:ext uri="{FF2B5EF4-FFF2-40B4-BE49-F238E27FC236}">
                    <a16:creationId xmlns:a16="http://schemas.microsoft.com/office/drawing/2014/main" id="{98CFB7B9-592B-B703-F319-082B3B76EA9E}"/>
                  </a:ext>
                </a:extLst>
              </p:cNvPr>
              <p:cNvSpPr/>
              <p:nvPr/>
            </p:nvSpPr>
            <p:spPr>
              <a:xfrm>
                <a:off x="9729484" y="3689628"/>
                <a:ext cx="1508102" cy="2520479"/>
              </a:xfrm>
              <a:custGeom>
                <a:avLst/>
                <a:gdLst>
                  <a:gd name="connsiteX0" fmla="*/ 0 w 1508102"/>
                  <a:gd name="connsiteY0" fmla="*/ 0 h 2520479"/>
                  <a:gd name="connsiteX1" fmla="*/ 1508103 w 1508102"/>
                  <a:gd name="connsiteY1" fmla="*/ 0 h 2520479"/>
                  <a:gd name="connsiteX2" fmla="*/ 1508103 w 1508102"/>
                  <a:gd name="connsiteY2" fmla="*/ 2520479 h 2520479"/>
                  <a:gd name="connsiteX3" fmla="*/ 0 w 1508102"/>
                  <a:gd name="connsiteY3" fmla="*/ 2520479 h 252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8102" h="2520479">
                    <a:moveTo>
                      <a:pt x="0" y="0"/>
                    </a:moveTo>
                    <a:lnTo>
                      <a:pt x="1508103" y="0"/>
                    </a:lnTo>
                    <a:lnTo>
                      <a:pt x="1508103" y="2520479"/>
                    </a:lnTo>
                    <a:lnTo>
                      <a:pt x="0" y="2520479"/>
                    </a:lnTo>
                    <a:close/>
                  </a:path>
                </a:pathLst>
              </a:custGeom>
              <a:solidFill>
                <a:srgbClr val="FFFFFF"/>
              </a:solidFill>
              <a:ln w="10452" cap="flat">
                <a:solidFill>
                  <a:srgbClr val="EDEDE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任意形状 1057">
                <a:extLst>
                  <a:ext uri="{FF2B5EF4-FFF2-40B4-BE49-F238E27FC236}">
                    <a16:creationId xmlns:a16="http://schemas.microsoft.com/office/drawing/2014/main" id="{4DB61E93-2D62-0BB5-238B-B2A662C6B045}"/>
                  </a:ext>
                </a:extLst>
              </p:cNvPr>
              <p:cNvSpPr/>
              <p:nvPr/>
            </p:nvSpPr>
            <p:spPr>
              <a:xfrm>
                <a:off x="9724319" y="3684225"/>
                <a:ext cx="1518432" cy="21610"/>
              </a:xfrm>
              <a:custGeom>
                <a:avLst/>
                <a:gdLst>
                  <a:gd name="connsiteX0" fmla="*/ 0 w 1518432"/>
                  <a:gd name="connsiteY0" fmla="*/ 0 h 21610"/>
                  <a:gd name="connsiteX1" fmla="*/ 1518432 w 1518432"/>
                  <a:gd name="connsiteY1" fmla="*/ 0 h 21610"/>
                  <a:gd name="connsiteX2" fmla="*/ 1518432 w 1518432"/>
                  <a:gd name="connsiteY2" fmla="*/ 21611 h 21610"/>
                  <a:gd name="connsiteX3" fmla="*/ 0 w 1518432"/>
                  <a:gd name="connsiteY3" fmla="*/ 21611 h 2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8432" h="21610">
                    <a:moveTo>
                      <a:pt x="0" y="0"/>
                    </a:moveTo>
                    <a:lnTo>
                      <a:pt x="1518432" y="0"/>
                    </a:lnTo>
                    <a:lnTo>
                      <a:pt x="1518432" y="21611"/>
                    </a:lnTo>
                    <a:lnTo>
                      <a:pt x="0" y="21611"/>
                    </a:lnTo>
                    <a:close/>
                  </a:path>
                </a:pathLst>
              </a:custGeom>
              <a:solidFill>
                <a:srgbClr val="19C475"/>
              </a:solidFill>
              <a:ln w="122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9" name="文本框 1058">
                <a:extLst>
                  <a:ext uri="{FF2B5EF4-FFF2-40B4-BE49-F238E27FC236}">
                    <a16:creationId xmlns:a16="http://schemas.microsoft.com/office/drawing/2014/main" id="{FCA2845A-EC54-859C-18BA-35529856F4B4}"/>
                  </a:ext>
                </a:extLst>
              </p:cNvPr>
              <p:cNvSpPr txBox="1"/>
              <p:nvPr/>
            </p:nvSpPr>
            <p:spPr>
              <a:xfrm>
                <a:off x="9772081" y="3794569"/>
                <a:ext cx="74411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/>
                    <a:solidFill>
                      <a:srgbClr val="07000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d.run AI </a:t>
                </a:r>
              </a:p>
            </p:txBody>
          </p:sp>
          <p:sp>
            <p:nvSpPr>
              <p:cNvPr id="1060" name="文本框 1059">
                <a:extLst>
                  <a:ext uri="{FF2B5EF4-FFF2-40B4-BE49-F238E27FC236}">
                    <a16:creationId xmlns:a16="http://schemas.microsoft.com/office/drawing/2014/main" id="{03C19019-5A83-ABC6-7B60-10CE0D36EEF6}"/>
                  </a:ext>
                </a:extLst>
              </p:cNvPr>
              <p:cNvSpPr txBox="1"/>
              <p:nvPr/>
            </p:nvSpPr>
            <p:spPr>
              <a:xfrm>
                <a:off x="9772081" y="3990785"/>
                <a:ext cx="8258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/>
                    <a:solidFill>
                      <a:srgbClr val="07000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算力云服务</a:t>
                </a:r>
              </a:p>
            </p:txBody>
          </p:sp>
          <p:sp>
            <p:nvSpPr>
              <p:cNvPr id="1061" name="文本框 1060">
                <a:extLst>
                  <a:ext uri="{FF2B5EF4-FFF2-40B4-BE49-F238E27FC236}">
                    <a16:creationId xmlns:a16="http://schemas.microsoft.com/office/drawing/2014/main" id="{64E6EA6F-E518-F8C9-C94B-6873C6487ED9}"/>
                  </a:ext>
                </a:extLst>
              </p:cNvPr>
              <p:cNvSpPr txBox="1"/>
              <p:nvPr/>
            </p:nvSpPr>
            <p:spPr>
              <a:xfrm>
                <a:off x="9772082" y="4692276"/>
                <a:ext cx="1373714" cy="881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altLang="zh-CN" sz="700" b="0" i="0" u="none" strike="noStrike" kern="1200" cap="none" spc="0" normalizeH="0" baseline="0" noProof="0" dirty="0" err="1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d.run</a:t>
                </a: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面向企业及开发者提供云端 </a:t>
                </a: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Al 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算力服务，用户按需获取算力、部署或调用模型，无需环境配置，快速构建</a:t>
                </a:r>
                <a:r>
                  <a:rPr kumimoji="0" lang="en" altLang="zh-CN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AI</a:t>
                </a:r>
                <a:r>
                  <a:rPr kumimoji="0" lang="zh-CN" altLang="en-US" sz="700" b="0" i="0" u="none" strike="noStrike" kern="1200" cap="none" spc="0" normalizeH="0" baseline="0" noProof="0" dirty="0">
                    <a:ln/>
                    <a:solidFill>
                      <a:srgbClr val="231815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Noto Sans SC"/>
                    <a:rtl val="0"/>
                  </a:rPr>
                  <a:t>应用。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1F87-E2DF-AB7D-16F9-69628DD5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8826F-1AEA-207B-13D5-FDA27458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42" y="3106713"/>
            <a:ext cx="7753158" cy="644573"/>
          </a:xfrm>
        </p:spPr>
        <p:txBody>
          <a:bodyPr/>
          <a:lstStyle/>
          <a:p>
            <a:r>
              <a:rPr kumimoji="1" lang="en-US" sz="4800" b="1" dirty="0">
                <a:solidFill>
                  <a:srgbClr val="FFFF00"/>
                </a:solidFill>
                <a:latin typeface="Monaco" charset="0"/>
                <a:ea typeface="冬青黑体简体中文" panose="020B0300000000000000" charset="-122"/>
                <a:cs typeface="+mj-ea"/>
              </a:rPr>
              <a:t>You define the next</a:t>
            </a:r>
            <a:endParaRPr kumimoji="1" sz="4800" b="1" dirty="0">
              <a:solidFill>
                <a:srgbClr val="FFFF00"/>
              </a:solidFill>
              <a:latin typeface="Monaco" charset="0"/>
              <a:ea typeface="冬青黑体简体中文" panose="020B0300000000000000" charset="-122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1215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228" y="274320"/>
            <a:ext cx="33970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78"/>
                </a:solidFill>
              </a:defRPr>
            </a:pPr>
            <a:r>
              <a:rPr lang="zh-CN" altLang="zh-CN" sz="2800" b="1" dirty="0"/>
              <a:t>AI在重新定义"软件"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549" y="914401"/>
            <a:ext cx="431560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sz="2200" dirty="0"/>
              <a:t>• Software 1.0：Code（写代码）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548" y="1600201"/>
            <a:ext cx="46923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sz="2200"/>
              <a:t>• Software 2.0：Model（训练模型）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549" y="2286001"/>
            <a:ext cx="52245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sz="2200"/>
              <a:t>• Software 3.0：Agent（设计智能系统）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549" y="2971801"/>
            <a:ext cx="70200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sz="2200"/>
              <a:t>• 未来软件 = Code + Model + Agent + Data + 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33D21-D21A-DF3B-8AE7-A6AF448B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4BDC86"/>
                </a:solidFill>
              </a:rPr>
              <a:t>AI </a:t>
            </a:r>
            <a:r>
              <a:rPr lang="zh-CN" altLang="en-US" dirty="0">
                <a:solidFill>
                  <a:srgbClr val="4BDC86"/>
                </a:solidFill>
              </a:rPr>
              <a:t>也</a:t>
            </a:r>
            <a:r>
              <a:rPr lang="zh-CN" altLang="zh-CN" dirty="0">
                <a:solidFill>
                  <a:srgbClr val="4BDC86"/>
                </a:solidFill>
              </a:rPr>
              <a:t>重新定义软件工程师的</a:t>
            </a:r>
            <a:r>
              <a:rPr lang="zh-CN" altLang="zh-CN" dirty="0">
                <a:solidFill>
                  <a:srgbClr val="FFFF00"/>
                </a:solidFill>
              </a:rPr>
              <a:t>核心竞争力</a:t>
            </a:r>
            <a:endParaRPr kumimoji="1" lang="zh-CN" altLang="en-US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D44DDD-59AB-BB58-82B7-BB059063B293}"/>
              </a:ext>
            </a:extLst>
          </p:cNvPr>
          <p:cNvSpPr txBox="1"/>
          <p:nvPr/>
        </p:nvSpPr>
        <p:spPr>
          <a:xfrm>
            <a:off x="1961211" y="1864026"/>
            <a:ext cx="6252358" cy="22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zh-CN" altLang="zh-CN" dirty="0"/>
              <a:t>① System Thinking（系统设计）</a:t>
            </a:r>
          </a:p>
          <a:p>
            <a:pPr>
              <a:lnSpc>
                <a:spcPct val="200000"/>
              </a:lnSpc>
              <a:buNone/>
            </a:pPr>
            <a:r>
              <a:rPr lang="zh-CN" altLang="zh-CN" dirty="0"/>
              <a:t>② AI Collaboration（与AI协作）</a:t>
            </a:r>
          </a:p>
          <a:p>
            <a:pPr>
              <a:lnSpc>
                <a:spcPct val="200000"/>
              </a:lnSpc>
              <a:buNone/>
            </a:pPr>
            <a:r>
              <a:rPr lang="zh-CN" altLang="zh-CN" dirty="0"/>
              <a:t>③ Engineering（工程化能力）</a:t>
            </a:r>
          </a:p>
          <a:p>
            <a:pPr>
              <a:lnSpc>
                <a:spcPct val="200000"/>
              </a:lnSpc>
              <a:buNone/>
            </a:pPr>
            <a:r>
              <a:rPr lang="zh-CN" altLang="zh-CN" dirty="0"/>
              <a:t>④ Continuous Learning（持续学习）</a:t>
            </a:r>
          </a:p>
        </p:txBody>
      </p:sp>
    </p:spTree>
    <p:extLst>
      <p:ext uri="{BB962C8B-B14F-4D97-AF65-F5344CB8AC3E}">
        <p14:creationId xmlns:p14="http://schemas.microsoft.com/office/powerpoint/2010/main" val="124649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032BC-12C4-360B-4C97-90DB6964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320" y="2255520"/>
            <a:ext cx="7995920" cy="885600"/>
          </a:xfrm>
        </p:spPr>
        <p:txBody>
          <a:bodyPr/>
          <a:lstStyle/>
          <a:p>
            <a:r>
              <a:rPr kumimoji="1" lang="zh-CN" altLang="en-US" sz="4800" dirty="0">
                <a:solidFill>
                  <a:srgbClr val="4BDC86"/>
                </a:solidFill>
              </a:rPr>
              <a:t>保持好奇心和动手能力</a:t>
            </a:r>
          </a:p>
        </p:txBody>
      </p:sp>
    </p:spTree>
    <p:extLst>
      <p:ext uri="{BB962C8B-B14F-4D97-AF65-F5344CB8AC3E}">
        <p14:creationId xmlns:p14="http://schemas.microsoft.com/office/powerpoint/2010/main" val="389568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FB643E7A-F839-5DB6-9089-47FB5A5D2F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谢谢！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6543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3f3e0f00-c2ec-49b9-8b3e-8f2bdc042e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87.2409448818897,&quot;width&quot;:887.0396959000815}"/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880,&quot;width&quot;:90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46,&quot;width&quot;:2779}"/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46,&quot;width&quot;:2779}"/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Dark_default">
  <a:themeElements>
    <a:clrScheme name="DC_Color">
      <a:dk1>
        <a:srgbClr val="000000"/>
      </a:dk1>
      <a:lt1>
        <a:srgbClr val="FFFFFF"/>
      </a:lt1>
      <a:dk2>
        <a:srgbClr val="000000"/>
      </a:dk2>
      <a:lt2>
        <a:srgbClr val="BBBBBB"/>
      </a:lt2>
      <a:accent1>
        <a:srgbClr val="0FD05D"/>
      </a:accent1>
      <a:accent2>
        <a:srgbClr val="168DC1"/>
      </a:accent2>
      <a:accent3>
        <a:srgbClr val="548857"/>
      </a:accent3>
      <a:accent4>
        <a:srgbClr val="FFD858"/>
      </a:accent4>
      <a:accent5>
        <a:srgbClr val="FFA358"/>
      </a:accent5>
      <a:accent6>
        <a:srgbClr val="FF5858"/>
      </a:accent6>
      <a:hlink>
        <a:srgbClr val="0FD05D"/>
      </a:hlink>
      <a:folHlink>
        <a:srgbClr val="087033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1_Light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D05C"/>
      </a:accent1>
      <a:accent2>
        <a:srgbClr val="12AF4E"/>
      </a:accent2>
      <a:accent3>
        <a:srgbClr val="338EFE"/>
      </a:accent3>
      <a:accent4>
        <a:srgbClr val="4E4E4E"/>
      </a:accent4>
      <a:accent5>
        <a:srgbClr val="83D895"/>
      </a:accent5>
      <a:accent6>
        <a:srgbClr val="97B1FD"/>
      </a:accent6>
      <a:hlink>
        <a:srgbClr val="11D05C"/>
      </a:hlink>
      <a:folHlink>
        <a:srgbClr val="BFBFBF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ark_default">
  <a:themeElements>
    <a:clrScheme name="DC_Color">
      <a:dk1>
        <a:srgbClr val="000000"/>
      </a:dk1>
      <a:lt1>
        <a:srgbClr val="FFFFFF"/>
      </a:lt1>
      <a:dk2>
        <a:srgbClr val="000000"/>
      </a:dk2>
      <a:lt2>
        <a:srgbClr val="BBBBBB"/>
      </a:lt2>
      <a:accent1>
        <a:srgbClr val="0FD05D"/>
      </a:accent1>
      <a:accent2>
        <a:srgbClr val="168DC1"/>
      </a:accent2>
      <a:accent3>
        <a:srgbClr val="548857"/>
      </a:accent3>
      <a:accent4>
        <a:srgbClr val="FFD858"/>
      </a:accent4>
      <a:accent5>
        <a:srgbClr val="FFA358"/>
      </a:accent5>
      <a:accent6>
        <a:srgbClr val="FF5858"/>
      </a:accent6>
      <a:hlink>
        <a:srgbClr val="0FD05D"/>
      </a:hlink>
      <a:folHlink>
        <a:srgbClr val="087033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Light">
  <a:themeElements>
    <a:clrScheme name="DC_Color">
      <a:dk1>
        <a:srgbClr val="000000"/>
      </a:dk1>
      <a:lt1>
        <a:srgbClr val="FFFFFF"/>
      </a:lt1>
      <a:dk2>
        <a:srgbClr val="000000"/>
      </a:dk2>
      <a:lt2>
        <a:srgbClr val="BBBBBB"/>
      </a:lt2>
      <a:accent1>
        <a:srgbClr val="0FD05D"/>
      </a:accent1>
      <a:accent2>
        <a:srgbClr val="168DC1"/>
      </a:accent2>
      <a:accent3>
        <a:srgbClr val="548857"/>
      </a:accent3>
      <a:accent4>
        <a:srgbClr val="FFD858"/>
      </a:accent4>
      <a:accent5>
        <a:srgbClr val="FFA358"/>
      </a:accent5>
      <a:accent6>
        <a:srgbClr val="FF5858"/>
      </a:accent6>
      <a:hlink>
        <a:srgbClr val="0FD05D"/>
      </a:hlink>
      <a:folHlink>
        <a:srgbClr val="087033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934b4b-eba6-486d-bfc1-4b8e3fe39092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5" ma:contentTypeDescription="Create a new document." ma:contentTypeScope="" ma:versionID="93a012c9a81027335424ba9f7b4858de">
  <xsd:schema xmlns:xsd="http://www.w3.org/2001/XMLSchema" xmlns:xs="http://www.w3.org/2001/XMLSchema" xmlns:p="http://schemas.microsoft.com/office/2006/metadata/properties" xmlns:ns2="0a5c0dea-e5d7-4228-9256-3793bb42faa5" xmlns:ns3="97934b4b-eba6-486d-bfc1-4b8e3fe39092" targetNamespace="http://schemas.microsoft.com/office/2006/metadata/properties" ma:root="true" ma:fieldsID="9a709ec72f4fcd18515a248f36769751" ns2:_="" ns3:_=""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982EC3-A18D-414E-8354-23ECFA715EF3}">
  <ds:schemaRefs>
    <ds:schemaRef ds:uri="0a5c0dea-e5d7-4228-9256-3793bb42faa5"/>
    <ds:schemaRef ds:uri="97934b4b-eba6-486d-bfc1-4b8e3fe3909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FD02C7-79D6-4D4A-A21F-2D06C1A7B947}">
  <ds:schemaRefs>
    <ds:schemaRef ds:uri="0a5c0dea-e5d7-4228-9256-3793bb42faa5"/>
    <ds:schemaRef ds:uri="97934b4b-eba6-486d-bfc1-4b8e3fe390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95CEE16-194D-4816-A17B-B0DBA9F186A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33</TotalTime>
  <Words>1418</Words>
  <Application>Microsoft Macintosh PowerPoint</Application>
  <PresentationFormat>宽屏</PresentationFormat>
  <Paragraphs>279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黑体</vt:lpstr>
      <vt:lpstr>苹方-简</vt:lpstr>
      <vt:lpstr>宋体</vt:lpstr>
      <vt:lpstr>Noto Sans SC</vt:lpstr>
      <vt:lpstr>微软雅黑</vt:lpstr>
      <vt:lpstr>微软雅黑</vt:lpstr>
      <vt:lpstr>微软雅黑</vt:lpstr>
      <vt:lpstr>Arial</vt:lpstr>
      <vt:lpstr>Arial Bold</vt:lpstr>
      <vt:lpstr>Arial Rounded MT Bold</vt:lpstr>
      <vt:lpstr>Calibri</vt:lpstr>
      <vt:lpstr>Monaco</vt:lpstr>
      <vt:lpstr>Roboto</vt:lpstr>
      <vt:lpstr>Dark_default</vt:lpstr>
      <vt:lpstr>1_Light</vt:lpstr>
      <vt:lpstr>1_Dark_default</vt:lpstr>
      <vt:lpstr>Office 主题​​</vt:lpstr>
      <vt:lpstr>2_Light</vt:lpstr>
      <vt:lpstr>从云原生到AI原生</vt:lpstr>
      <vt:lpstr>产业发展</vt:lpstr>
      <vt:lpstr>PowerPoint 演示文稿</vt:lpstr>
      <vt:lpstr>DaoCloud介绍</vt:lpstr>
      <vt:lpstr>Open Source --  is our DNA</vt:lpstr>
      <vt:lpstr>开源和上游，流淌在研发人员血液中</vt:lpstr>
      <vt:lpstr>WHY?     开源软件：巨大的价值与潜力</vt:lpstr>
      <vt:lpstr>开源商业化</vt:lpstr>
      <vt:lpstr>DaoCloud产品</vt:lpstr>
      <vt:lpstr>DaoCloud 承“算力”启“智能”，开源驱动 AI 生态创新</vt:lpstr>
      <vt:lpstr>PowerPoint 演示文稿</vt:lpstr>
      <vt:lpstr>You define the next</vt:lpstr>
      <vt:lpstr>PowerPoint 演示文稿</vt:lpstr>
      <vt:lpstr>AI 也重新定义软件工程师的核心竞争力</vt:lpstr>
      <vt:lpstr>保持好奇心和动手能力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iSlide</dc:creator>
  <cp:lastModifiedBy>彼得 潘</cp:lastModifiedBy>
  <cp:revision>33</cp:revision>
  <cp:lastPrinted>2022-06-19T16:00:00Z</cp:lastPrinted>
  <dcterms:created xsi:type="dcterms:W3CDTF">2022-06-19T16:00:00Z</dcterms:created>
  <dcterms:modified xsi:type="dcterms:W3CDTF">2026-07-13T04:01:48Z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3f3e0f00-c2ec-49b9-8b3e-8f2bdc042e41</vt:lpwstr>
  </property>
  <property fmtid="{D5CDD505-2E9C-101B-9397-08002B2CF9AE}" pid="3" name="ContentTypeId">
    <vt:lpwstr>0x010100D1443A8EF62DE444B1FF07917E22EF72</vt:lpwstr>
  </property>
</Properties>
</file>